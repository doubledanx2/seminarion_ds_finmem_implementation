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364" r:id="rId6"/>
    <p:sldId id="257" r:id="rId7"/>
    <p:sldId id="258" r:id="rId8"/>
    <p:sldId id="260" r:id="rId9"/>
    <p:sldId id="261" r:id="rId10"/>
    <p:sldId id="277" r:id="rId11"/>
    <p:sldId id="262" r:id="rId12"/>
    <p:sldId id="278" r:id="rId13"/>
    <p:sldId id="267" r:id="rId14"/>
    <p:sldId id="269" r:id="rId15"/>
    <p:sldId id="270" r:id="rId16"/>
    <p:sldId id="272" r:id="rId17"/>
    <p:sldId id="282" r:id="rId18"/>
    <p:sldId id="283" r:id="rId19"/>
    <p:sldId id="268" r:id="rId20"/>
    <p:sldId id="281" r:id="rId21"/>
    <p:sldId id="284" r:id="rId22"/>
    <p:sldId id="273" r:id="rId23"/>
    <p:sldId id="365" r:id="rId24"/>
    <p:sldId id="280" r:id="rId25"/>
    <p:sldId id="263" r:id="rId26"/>
    <p:sldId id="285" r:id="rId27"/>
    <p:sldId id="275" r:id="rId28"/>
    <p:sldId id="276" r:id="rId29"/>
    <p:sldId id="259" r:id="rId30"/>
    <p:sldId id="264" r:id="rId31"/>
    <p:sldId id="279" r:id="rId32"/>
    <p:sldId id="271" r:id="rId33"/>
    <p:sldId id="274" r:id="rId34"/>
    <p:sldId id="26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D443E0-08AC-4575-84CF-4191CC35A924}" v="327" dt="2026-06-13T17:13:09.694"/>
    <p1510:client id="{AFEBBC3A-A071-46EF-8209-9AF32B8AD60E}" v="2075" dt="2026-06-13T17:12:02.7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7" d="100"/>
          <a:sy n="117" d="100"/>
        </p:scale>
        <p:origin x="318" y="11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25880"/>
            <a:ext cx="10698480" cy="252377"/>
          </a:xfrm>
          <a:prstGeom prst="rect">
            <a:avLst/>
          </a:prstGeom>
          <a:noFill/>
        </p:spPr>
        <p:txBody>
          <a:bodyPr wrap="square" lIns="45720" tIns="18288" rIns="45720" bIns="18288" anchor="t">
            <a:spAutoFit/>
          </a:bodyPr>
          <a:lstStyle/>
          <a:p>
            <a:pPr algn="l">
              <a:spcAft>
                <a:spcPts val="400"/>
              </a:spcAft>
            </a:pPr>
            <a:r>
              <a:rPr sz="1400" b="1" i="0" dirty="0">
                <a:solidFill>
                  <a:srgbClr val="02C39A"/>
                </a:solidFill>
                <a:latin typeface="Calibri"/>
              </a:rPr>
              <a:t>IMPLEMENTATION PRESENTATION</a:t>
            </a:r>
          </a:p>
        </p:txBody>
      </p:sp>
      <p:sp>
        <p:nvSpPr>
          <p:cNvPr id="4" name="TextBox 3"/>
          <p:cNvSpPr txBox="1"/>
          <p:nvPr/>
        </p:nvSpPr>
        <p:spPr>
          <a:xfrm>
            <a:off x="731520" y="1783080"/>
            <a:ext cx="10698480" cy="1883593"/>
          </a:xfrm>
          <a:prstGeom prst="rect">
            <a:avLst/>
          </a:prstGeom>
          <a:noFill/>
        </p:spPr>
        <p:txBody>
          <a:bodyPr wrap="square" lIns="45720" tIns="18288" rIns="45720" bIns="18288" anchor="t">
            <a:spAutoFit/>
          </a:bodyPr>
          <a:lstStyle/>
          <a:p>
            <a:r>
              <a:rPr lang="en-US" sz="4000" b="1" dirty="0" err="1">
                <a:solidFill>
                  <a:srgbClr val="FFFFFF"/>
                </a:solidFill>
              </a:rPr>
              <a:t>FinMem</a:t>
            </a:r>
            <a:r>
              <a:rPr lang="en-US" sz="4000" b="1" dirty="0">
                <a:solidFill>
                  <a:srgbClr val="FFFFFF"/>
                </a:solidFill>
              </a:rPr>
              <a:t>: A Performance-Enhanced</a:t>
            </a:r>
          </a:p>
          <a:p>
            <a:r>
              <a:rPr lang="en-US" sz="4000" b="1" dirty="0">
                <a:solidFill>
                  <a:srgbClr val="FFFFFF"/>
                </a:solidFill>
              </a:rPr>
              <a:t>LLM Trading Agent With Layered Memory and Character Design</a:t>
            </a:r>
            <a:r>
              <a:rPr lang="en-US" sz="4000" b="1">
                <a:solidFill>
                  <a:srgbClr val="FFFFFF"/>
                </a:solidFill>
              </a:rPr>
              <a:t> </a:t>
            </a:r>
            <a:r>
              <a:rPr kumimoji="0" lang="en-US" sz="2000" b="0" i="1" u="none" strike="noStrike" kern="1200" cap="none" spc="0" normalizeH="0" baseline="0" noProof="0">
                <a:ln>
                  <a:noFill/>
                </a:ln>
                <a:solidFill>
                  <a:srgbClr val="FFFFFF"/>
                </a:solidFill>
                <a:effectLst/>
                <a:uLnTx/>
                <a:uFillTx/>
                <a:latin typeface="Calibri"/>
                <a:ea typeface="+mn-ea"/>
                <a:cs typeface="+mn-cs"/>
              </a:rPr>
              <a:t>Yu et al. (2023)</a:t>
            </a:r>
            <a:endParaRPr lang="en-US" sz="4000" b="1" dirty="0">
              <a:solidFill>
                <a:srgbClr val="FFFFFF"/>
              </a:solidFill>
            </a:endParaRPr>
          </a:p>
        </p:txBody>
      </p:sp>
      <p:sp>
        <p:nvSpPr>
          <p:cNvPr id="5" name="TextBox 4"/>
          <p:cNvSpPr txBox="1"/>
          <p:nvPr/>
        </p:nvSpPr>
        <p:spPr>
          <a:xfrm>
            <a:off x="731520" y="3611880"/>
            <a:ext cx="10698480" cy="314317"/>
          </a:xfrm>
          <a:prstGeom prst="rect">
            <a:avLst/>
          </a:prstGeom>
          <a:noFill/>
        </p:spPr>
        <p:txBody>
          <a:bodyPr wrap="square" lIns="45720" tIns="18288" rIns="45720" bIns="18288" anchor="t">
            <a:spAutoFit/>
          </a:bodyPr>
          <a:lstStyle/>
          <a:p>
            <a:pPr algn="l">
              <a:lnSpc>
                <a:spcPct val="112000"/>
              </a:lnSpc>
              <a:spcAft>
                <a:spcPts val="400"/>
              </a:spcAft>
            </a:pPr>
            <a:r>
              <a:rPr sz="1700" b="0" i="0" dirty="0">
                <a:solidFill>
                  <a:srgbClr val="CADCFC"/>
                </a:solidFill>
                <a:latin typeface="Calibri"/>
              </a:rPr>
              <a:t>A leakage-free reproduction </a:t>
            </a:r>
            <a:r>
              <a:rPr lang="en-US" sz="1700" dirty="0">
                <a:solidFill>
                  <a:srgbClr val="CADCFC"/>
                </a:solidFill>
                <a:latin typeface="Calibri"/>
              </a:rPr>
              <a:t>and paper fidelity test </a:t>
            </a:r>
            <a:endParaRPr sz="1700" b="0" i="1" dirty="0">
              <a:solidFill>
                <a:srgbClr val="FFFFFF"/>
              </a:solidFill>
              <a:latin typeface="Calibri"/>
            </a:endParaRPr>
          </a:p>
        </p:txBody>
      </p:sp>
      <p:sp>
        <p:nvSpPr>
          <p:cNvPr id="6" name="TextBox 5"/>
          <p:cNvSpPr txBox="1"/>
          <p:nvPr/>
        </p:nvSpPr>
        <p:spPr>
          <a:xfrm>
            <a:off x="731520" y="4983480"/>
            <a:ext cx="10698480" cy="457200"/>
          </a:xfrm>
          <a:prstGeom prst="rect">
            <a:avLst/>
          </a:prstGeom>
          <a:noFill/>
        </p:spPr>
        <p:txBody>
          <a:bodyPr wrap="square" lIns="45720" tIns="18288" rIns="45720" bIns="18288" anchor="t">
            <a:spAutoFit/>
          </a:bodyPr>
          <a:lstStyle/>
          <a:p>
            <a:pPr algn="l">
              <a:spcAft>
                <a:spcPts val="400"/>
              </a:spcAft>
            </a:pPr>
            <a:r>
              <a:rPr sz="1800" b="1" i="0">
                <a:solidFill>
                  <a:srgbClr val="FFFFFF"/>
                </a:solidFill>
                <a:latin typeface="Calibri"/>
              </a:rPr>
              <a:t>Dan Shoshan   -   Nimrod Sagi</a:t>
            </a:r>
          </a:p>
        </p:txBody>
      </p:sp>
      <p:sp>
        <p:nvSpPr>
          <p:cNvPr id="7" name="TextBox 6"/>
          <p:cNvSpPr txBox="1"/>
          <p:nvPr/>
        </p:nvSpPr>
        <p:spPr>
          <a:xfrm>
            <a:off x="731520" y="5440680"/>
            <a:ext cx="10698480" cy="365760"/>
          </a:xfrm>
          <a:prstGeom prst="rect">
            <a:avLst/>
          </a:prstGeom>
          <a:noFill/>
        </p:spPr>
        <p:txBody>
          <a:bodyPr wrap="square" lIns="45720" tIns="18288" rIns="45720" bIns="18288" anchor="t">
            <a:spAutoFit/>
          </a:bodyPr>
          <a:lstStyle/>
          <a:p>
            <a:pPr algn="l">
              <a:spcAft>
                <a:spcPts val="400"/>
              </a:spcAft>
            </a:pPr>
            <a:r>
              <a:rPr sz="1300" b="0" i="0">
                <a:solidFill>
                  <a:srgbClr val="CADCFC"/>
                </a:solidFill>
                <a:latin typeface="Calibri"/>
              </a:rPr>
              <a:t>MBA Data-Science Seminar   -   backbone gpt-4.1-mini   -   test window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1EE8E4-DC2D-974C-71B9-ACE8F1F1241C}"/>
              </a:ext>
            </a:extLst>
          </p:cNvPr>
          <p:cNvPicPr>
            <a:picLocks noChangeAspect="1"/>
          </p:cNvPicPr>
          <p:nvPr/>
        </p:nvPicPr>
        <p:blipFill>
          <a:blip r:embed="rId2"/>
          <a:stretch>
            <a:fillRect/>
          </a:stretch>
        </p:blipFill>
        <p:spPr>
          <a:xfrm>
            <a:off x="3239" y="11952"/>
            <a:ext cx="12185522" cy="6858000"/>
          </a:xfrm>
          <a:prstGeom prst="rect">
            <a:avLst/>
          </a:prstGeom>
        </p:spPr>
      </p:pic>
      <p:sp>
        <p:nvSpPr>
          <p:cNvPr id="8" name="מלבן 7">
            <a:extLst>
              <a:ext uri="{FF2B5EF4-FFF2-40B4-BE49-F238E27FC236}">
                <a16:creationId xmlns:a16="http://schemas.microsoft.com/office/drawing/2014/main" id="{02250676-6EE1-CA01-0391-A8F3C5F87DDE}"/>
              </a:ext>
            </a:extLst>
          </p:cNvPr>
          <p:cNvSpPr/>
          <p:nvPr/>
        </p:nvSpPr>
        <p:spPr>
          <a:xfrm>
            <a:off x="7105135" y="0"/>
            <a:ext cx="3015049" cy="667265"/>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b="1">
              <a:solidFill>
                <a:srgbClr val="000512"/>
              </a:solidFill>
            </a:endParaRPr>
          </a:p>
        </p:txBody>
      </p:sp>
      <p:sp>
        <p:nvSpPr>
          <p:cNvPr id="9" name="תיבת טקסט 8">
            <a:extLst>
              <a:ext uri="{FF2B5EF4-FFF2-40B4-BE49-F238E27FC236}">
                <a16:creationId xmlns:a16="http://schemas.microsoft.com/office/drawing/2014/main" id="{65288E66-08D3-4301-6797-7B594A18E972}"/>
              </a:ext>
            </a:extLst>
          </p:cNvPr>
          <p:cNvSpPr txBox="1"/>
          <p:nvPr/>
        </p:nvSpPr>
        <p:spPr>
          <a:xfrm>
            <a:off x="7080421" y="-37070"/>
            <a:ext cx="1705233" cy="769441"/>
          </a:xfrm>
          <a:prstGeom prst="rect">
            <a:avLst/>
          </a:prstGeom>
          <a:noFill/>
        </p:spPr>
        <p:txBody>
          <a:bodyPr wrap="square" rtlCol="1">
            <a:spAutoFit/>
          </a:bodyPr>
          <a:lstStyle/>
          <a:p>
            <a:r>
              <a:rPr lang="en-US" sz="4400" b="1">
                <a:solidFill>
                  <a:srgbClr val="000512"/>
                </a:solidFill>
              </a:rPr>
              <a:t>Flow</a:t>
            </a:r>
            <a:endParaRPr lang="he-IL" sz="4400" b="1">
              <a:solidFill>
                <a:srgbClr val="000512"/>
              </a:solidFill>
            </a:endParaRPr>
          </a:p>
        </p:txBody>
      </p:sp>
      <p:sp>
        <p:nvSpPr>
          <p:cNvPr id="10" name="TextBox 9"/>
          <p:cNvSpPr txBox="1"/>
          <p:nvPr/>
        </p:nvSpPr>
        <p:spPr>
          <a:xfrm>
            <a:off x="10972800" y="6473952"/>
            <a:ext cx="731520" cy="274320"/>
          </a:xfrm>
          <a:prstGeom prst="rect">
            <a:avLst/>
          </a:prstGeom>
          <a:noFill/>
        </p:spPr>
        <p:txBody>
          <a:bodyPr wrap="none">
            <a:spAutoFit/>
          </a:bodyPr>
          <a:lstStyle/>
          <a:p>
            <a:pPr algn="r"/>
            <a:r>
              <a:rPr sz="900" b="0">
                <a:solidFill>
                  <a:srgbClr val="64748B"/>
                </a:solidFill>
                <a:latin typeface="Calibri"/>
              </a:rPr>
              <a:t>1</a:t>
            </a:r>
          </a:p>
        </p:txBody>
      </p:sp>
    </p:spTree>
    <p:extLst>
      <p:ext uri="{BB962C8B-B14F-4D97-AF65-F5344CB8AC3E}">
        <p14:creationId xmlns:p14="http://schemas.microsoft.com/office/powerpoint/2010/main" val="182695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976"/>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74320"/>
          </a:xfrm>
          <a:prstGeom prst="rect">
            <a:avLst/>
          </a:prstGeom>
          <a:noFill/>
        </p:spPr>
        <p:txBody>
          <a:bodyPr wrap="square" lIns="45720" tIns="18288" rIns="45720" bIns="18288" anchor="t">
            <a:spAutoFit/>
          </a:bodyPr>
          <a:lstStyle/>
          <a:p>
            <a:pPr algn="l">
              <a:spcAft>
                <a:spcPts val="400"/>
              </a:spcAft>
            </a:pPr>
            <a:r>
              <a:rPr sz="1200" b="1" i="0">
                <a:solidFill>
                  <a:srgbClr val="1C7293"/>
                </a:solidFill>
                <a:latin typeface="Calibri"/>
              </a:rPr>
              <a:t>OBJECTIVE</a:t>
            </a:r>
          </a:p>
        </p:txBody>
      </p:sp>
      <p:sp>
        <p:nvSpPr>
          <p:cNvPr id="4" name="TextBox 3"/>
          <p:cNvSpPr txBox="1"/>
          <p:nvPr/>
        </p:nvSpPr>
        <p:spPr>
          <a:xfrm>
            <a:off x="548640" y="548640"/>
            <a:ext cx="11064240" cy="777240"/>
          </a:xfrm>
          <a:prstGeom prst="rect">
            <a:avLst/>
          </a:prstGeom>
          <a:noFill/>
        </p:spPr>
        <p:txBody>
          <a:bodyPr wrap="square" lIns="45720" tIns="18288" rIns="45720" bIns="18288" anchor="t">
            <a:spAutoFit/>
          </a:bodyPr>
          <a:lstStyle/>
          <a:p>
            <a:pPr algn="l">
              <a:spcAft>
                <a:spcPts val="400"/>
              </a:spcAft>
            </a:pPr>
            <a:r>
              <a:rPr sz="2900" b="1" i="0">
                <a:solidFill>
                  <a:srgbClr val="21295C"/>
                </a:solidFill>
                <a:latin typeface="Cambria"/>
              </a:rPr>
              <a:t>What we set out to test</a:t>
            </a:r>
          </a:p>
        </p:txBody>
      </p:sp>
      <p:sp>
        <p:nvSpPr>
          <p:cNvPr id="5" name="TextBox 4"/>
          <p:cNvSpPr txBox="1"/>
          <p:nvPr/>
        </p:nvSpPr>
        <p:spPr>
          <a:xfrm>
            <a:off x="548640" y="1325880"/>
            <a:ext cx="11064240" cy="621004"/>
          </a:xfrm>
          <a:prstGeom prst="rect">
            <a:avLst/>
          </a:prstGeom>
          <a:noFill/>
        </p:spPr>
        <p:txBody>
          <a:bodyPr wrap="square" lIns="45720" tIns="18288" rIns="45720" bIns="18288" anchor="t">
            <a:spAutoFit/>
          </a:bodyPr>
          <a:lstStyle/>
          <a:p>
            <a:pPr algn="l">
              <a:lnSpc>
                <a:spcPct val="115000"/>
              </a:lnSpc>
              <a:spcAft>
                <a:spcPts val="400"/>
              </a:spcAft>
            </a:pPr>
            <a:r>
              <a:rPr sz="1700" b="0" i="0" dirty="0">
                <a:solidFill>
                  <a:srgbClr val="1E293B"/>
                </a:solidFill>
                <a:latin typeface="Calibri"/>
              </a:rPr>
              <a:t>In our paper talk we charged </a:t>
            </a:r>
            <a:r>
              <a:rPr lang="en-US" sz="1700" b="0" i="0" err="1">
                <a:solidFill>
                  <a:srgbClr val="1E293B"/>
                </a:solidFill>
                <a:latin typeface="Calibri"/>
              </a:rPr>
              <a:t>FinMem</a:t>
            </a:r>
            <a:r>
              <a:rPr sz="1700" b="0" i="0" dirty="0">
                <a:solidFill>
                  <a:srgbClr val="1E293B"/>
                </a:solidFill>
                <a:latin typeface="Calibri"/>
              </a:rPr>
              <a:t> with three </a:t>
            </a:r>
            <a:r>
              <a:rPr sz="1700" b="1" i="0" dirty="0">
                <a:solidFill>
                  <a:srgbClr val="E24B4A"/>
                </a:solidFill>
                <a:latin typeface="Calibri"/>
              </a:rPr>
              <a:t>“crimes”</a:t>
            </a:r>
            <a:r>
              <a:rPr sz="1700" b="0" i="0" dirty="0">
                <a:solidFill>
                  <a:srgbClr val="1E293B"/>
                </a:solidFill>
                <a:latin typeface="Calibri"/>
              </a:rPr>
              <a:t> that make its headline Sharpe of 2.67 untrustworthy. The implementation asks one question:</a:t>
            </a:r>
          </a:p>
        </p:txBody>
      </p:sp>
      <p:sp>
        <p:nvSpPr>
          <p:cNvPr id="6" name="TextBox 5"/>
          <p:cNvSpPr txBox="1"/>
          <p:nvPr/>
        </p:nvSpPr>
        <p:spPr>
          <a:xfrm>
            <a:off x="548640" y="2194560"/>
            <a:ext cx="11064240" cy="457200"/>
          </a:xfrm>
          <a:prstGeom prst="rect">
            <a:avLst/>
          </a:prstGeom>
          <a:noFill/>
        </p:spPr>
        <p:txBody>
          <a:bodyPr wrap="square" lIns="45720" tIns="18288" rIns="45720" bIns="18288" anchor="t">
            <a:spAutoFit/>
          </a:bodyPr>
          <a:lstStyle/>
          <a:p>
            <a:pPr algn="l">
              <a:spcAft>
                <a:spcPts val="400"/>
              </a:spcAft>
            </a:pPr>
            <a:r>
              <a:rPr sz="1900" b="1" i="0">
                <a:solidFill>
                  <a:srgbClr val="21295C"/>
                </a:solidFill>
                <a:latin typeface="Cambria"/>
              </a:rPr>
              <a:t>Is </a:t>
            </a:r>
            <a:r>
              <a:rPr sz="1900" b="1" i="0" err="1">
                <a:solidFill>
                  <a:srgbClr val="21295C"/>
                </a:solidFill>
                <a:latin typeface="Cambria"/>
              </a:rPr>
              <a:t>FinMem</a:t>
            </a:r>
            <a:r>
              <a:rPr sz="1900" b="1" i="0">
                <a:solidFill>
                  <a:srgbClr val="21295C"/>
                </a:solidFill>
                <a:latin typeface="Cambria"/>
              </a:rPr>
              <a:t> worth anything once the crimes are removed and it is built as the paper actually describes?</a:t>
            </a:r>
          </a:p>
        </p:txBody>
      </p:sp>
      <p:sp>
        <p:nvSpPr>
          <p:cNvPr id="7" name="Rounded Rectangle 6"/>
          <p:cNvSpPr/>
          <p:nvPr/>
        </p:nvSpPr>
        <p:spPr>
          <a:xfrm>
            <a:off x="411183" y="2971800"/>
            <a:ext cx="3723039" cy="182880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3576" y="2935646"/>
            <a:ext cx="1097280" cy="640080"/>
          </a:xfrm>
          <a:prstGeom prst="rect">
            <a:avLst/>
          </a:prstGeom>
          <a:noFill/>
        </p:spPr>
        <p:txBody>
          <a:bodyPr wrap="square" lIns="45720" tIns="18288" rIns="45720" bIns="18288" anchor="t">
            <a:spAutoFit/>
          </a:bodyPr>
          <a:lstStyle/>
          <a:p>
            <a:pPr algn="l">
              <a:spcAft>
                <a:spcPts val="400"/>
              </a:spcAft>
            </a:pPr>
            <a:r>
              <a:rPr sz="4000" b="1" i="0">
                <a:solidFill>
                  <a:srgbClr val="E24B4A"/>
                </a:solidFill>
                <a:latin typeface="Cambria"/>
              </a:rPr>
              <a:t>01</a:t>
            </a:r>
          </a:p>
        </p:txBody>
      </p:sp>
      <p:sp>
        <p:nvSpPr>
          <p:cNvPr id="9" name="TextBox 8"/>
          <p:cNvSpPr txBox="1"/>
          <p:nvPr/>
        </p:nvSpPr>
        <p:spPr>
          <a:xfrm>
            <a:off x="472451" y="3581701"/>
            <a:ext cx="3723040" cy="329321"/>
          </a:xfrm>
          <a:prstGeom prst="rect">
            <a:avLst/>
          </a:prstGeom>
          <a:noFill/>
        </p:spPr>
        <p:txBody>
          <a:bodyPr wrap="square" lIns="45720" tIns="18288" rIns="45720" bIns="18288" anchor="t">
            <a:spAutoFit/>
          </a:bodyPr>
          <a:lstStyle/>
          <a:p>
            <a:pPr algn="l">
              <a:lnSpc>
                <a:spcPct val="95000"/>
              </a:lnSpc>
              <a:spcAft>
                <a:spcPts val="400"/>
              </a:spcAft>
            </a:pPr>
            <a:r>
              <a:rPr sz="2000" b="1" i="0">
                <a:solidFill>
                  <a:srgbClr val="21295C"/>
                </a:solidFill>
                <a:latin typeface="Calibri"/>
              </a:rPr>
              <a:t>Look-ahead / pre-training leakage</a:t>
            </a:r>
          </a:p>
        </p:txBody>
      </p:sp>
      <p:sp>
        <p:nvSpPr>
          <p:cNvPr id="10" name="TextBox 9"/>
          <p:cNvSpPr txBox="1"/>
          <p:nvPr/>
        </p:nvSpPr>
        <p:spPr>
          <a:xfrm>
            <a:off x="562092" y="4003405"/>
            <a:ext cx="3362546" cy="781752"/>
          </a:xfrm>
          <a:prstGeom prst="rect">
            <a:avLst/>
          </a:prstGeom>
          <a:noFill/>
        </p:spPr>
        <p:txBody>
          <a:bodyPr wrap="square" lIns="45720" tIns="18288" rIns="45720" bIns="18288" anchor="t">
            <a:spAutoFit/>
          </a:bodyPr>
          <a:lstStyle/>
          <a:p>
            <a:pPr algn="l">
              <a:lnSpc>
                <a:spcPct val="102000"/>
              </a:lnSpc>
              <a:spcAft>
                <a:spcPts val="400"/>
              </a:spcAft>
            </a:pPr>
            <a:r>
              <a:rPr sz="1600" b="0" i="0">
                <a:solidFill>
                  <a:srgbClr val="64748B"/>
                </a:solidFill>
                <a:latin typeface="Calibri"/>
              </a:rPr>
              <a:t>The paper's test window sits inside GPT-4's training data - the model already knows the outcome.</a:t>
            </a:r>
          </a:p>
        </p:txBody>
      </p:sp>
      <p:sp>
        <p:nvSpPr>
          <p:cNvPr id="11" name="Rounded Rectangle 10"/>
          <p:cNvSpPr/>
          <p:nvPr/>
        </p:nvSpPr>
        <p:spPr>
          <a:xfrm>
            <a:off x="4315967" y="2971800"/>
            <a:ext cx="3723039" cy="182880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14688" y="2935646"/>
            <a:ext cx="1097280" cy="640080"/>
          </a:xfrm>
          <a:prstGeom prst="rect">
            <a:avLst/>
          </a:prstGeom>
          <a:noFill/>
        </p:spPr>
        <p:txBody>
          <a:bodyPr wrap="square" lIns="45720" tIns="18288" rIns="45720" bIns="18288" anchor="t">
            <a:spAutoFit/>
          </a:bodyPr>
          <a:lstStyle/>
          <a:p>
            <a:pPr algn="l">
              <a:spcAft>
                <a:spcPts val="400"/>
              </a:spcAft>
            </a:pPr>
            <a:r>
              <a:rPr sz="4000" b="1" i="0">
                <a:solidFill>
                  <a:srgbClr val="EF9F27"/>
                </a:solidFill>
                <a:latin typeface="Cambria"/>
              </a:rPr>
              <a:t>02</a:t>
            </a:r>
          </a:p>
        </p:txBody>
      </p:sp>
      <p:sp>
        <p:nvSpPr>
          <p:cNvPr id="13" name="TextBox 12"/>
          <p:cNvSpPr txBox="1"/>
          <p:nvPr/>
        </p:nvSpPr>
        <p:spPr>
          <a:xfrm>
            <a:off x="4514688" y="3575725"/>
            <a:ext cx="3154680" cy="329321"/>
          </a:xfrm>
          <a:prstGeom prst="rect">
            <a:avLst/>
          </a:prstGeom>
          <a:noFill/>
        </p:spPr>
        <p:txBody>
          <a:bodyPr wrap="square" lIns="45720" tIns="18288" rIns="45720" bIns="18288" anchor="t">
            <a:spAutoFit/>
          </a:bodyPr>
          <a:lstStyle/>
          <a:p>
            <a:pPr algn="l">
              <a:lnSpc>
                <a:spcPct val="95000"/>
              </a:lnSpc>
              <a:spcAft>
                <a:spcPts val="400"/>
              </a:spcAft>
            </a:pPr>
            <a:r>
              <a:rPr sz="2000" b="1" i="0">
                <a:solidFill>
                  <a:srgbClr val="21295C"/>
                </a:solidFill>
                <a:latin typeface="Calibri"/>
              </a:rPr>
              <a:t>Zero transaction frictions</a:t>
            </a:r>
          </a:p>
        </p:txBody>
      </p:sp>
      <p:sp>
        <p:nvSpPr>
          <p:cNvPr id="14" name="TextBox 13"/>
          <p:cNvSpPr txBox="1"/>
          <p:nvPr/>
        </p:nvSpPr>
        <p:spPr>
          <a:xfrm>
            <a:off x="4514688" y="4051214"/>
            <a:ext cx="3154680" cy="530594"/>
          </a:xfrm>
          <a:prstGeom prst="rect">
            <a:avLst/>
          </a:prstGeom>
          <a:noFill/>
        </p:spPr>
        <p:txBody>
          <a:bodyPr wrap="square" lIns="45720" tIns="18288" rIns="45720" bIns="18288" anchor="t">
            <a:spAutoFit/>
          </a:bodyPr>
          <a:lstStyle/>
          <a:p>
            <a:pPr algn="l">
              <a:lnSpc>
                <a:spcPct val="102000"/>
              </a:lnSpc>
              <a:spcAft>
                <a:spcPts val="400"/>
              </a:spcAft>
            </a:pPr>
            <a:r>
              <a:rPr sz="1600" b="0" i="0">
                <a:solidFill>
                  <a:srgbClr val="64748B"/>
                </a:solidFill>
                <a:latin typeface="Calibri"/>
              </a:rPr>
              <a:t>Returns reported with no commission, spread, or slippage.</a:t>
            </a:r>
          </a:p>
        </p:txBody>
      </p:sp>
      <p:sp>
        <p:nvSpPr>
          <p:cNvPr id="15" name="Rounded Rectangle 14"/>
          <p:cNvSpPr/>
          <p:nvPr/>
        </p:nvSpPr>
        <p:spPr>
          <a:xfrm>
            <a:off x="8212322" y="2967083"/>
            <a:ext cx="3723039" cy="182880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3491" y="2935646"/>
            <a:ext cx="1097280" cy="640080"/>
          </a:xfrm>
          <a:prstGeom prst="rect">
            <a:avLst/>
          </a:prstGeom>
          <a:noFill/>
        </p:spPr>
        <p:txBody>
          <a:bodyPr wrap="square" lIns="45720" tIns="18288" rIns="45720" bIns="18288" anchor="t">
            <a:spAutoFit/>
          </a:bodyPr>
          <a:lstStyle/>
          <a:p>
            <a:pPr algn="l">
              <a:spcAft>
                <a:spcPts val="400"/>
              </a:spcAft>
            </a:pPr>
            <a:r>
              <a:rPr sz="4000" b="1" i="0">
                <a:solidFill>
                  <a:srgbClr val="1C7293"/>
                </a:solidFill>
                <a:latin typeface="Cambria"/>
              </a:rPr>
              <a:t>03</a:t>
            </a:r>
          </a:p>
        </p:txBody>
      </p:sp>
      <p:sp>
        <p:nvSpPr>
          <p:cNvPr id="17" name="TextBox 16"/>
          <p:cNvSpPr txBox="1"/>
          <p:nvPr/>
        </p:nvSpPr>
        <p:spPr>
          <a:xfrm>
            <a:off x="8323847" y="3575725"/>
            <a:ext cx="3491631" cy="329321"/>
          </a:xfrm>
          <a:prstGeom prst="rect">
            <a:avLst/>
          </a:prstGeom>
          <a:noFill/>
        </p:spPr>
        <p:txBody>
          <a:bodyPr wrap="square" lIns="45720" tIns="18288" rIns="45720" bIns="18288" anchor="t">
            <a:spAutoFit/>
          </a:bodyPr>
          <a:lstStyle/>
          <a:p>
            <a:pPr algn="l">
              <a:lnSpc>
                <a:spcPct val="95000"/>
              </a:lnSpc>
              <a:spcAft>
                <a:spcPts val="400"/>
              </a:spcAft>
            </a:pPr>
            <a:r>
              <a:rPr sz="2000" b="1" i="0">
                <a:solidFill>
                  <a:srgbClr val="21295C"/>
                </a:solidFill>
                <a:latin typeface="Calibri"/>
              </a:rPr>
              <a:t>Test-set hyperparameter tuning</a:t>
            </a:r>
          </a:p>
        </p:txBody>
      </p:sp>
      <p:sp>
        <p:nvSpPr>
          <p:cNvPr id="18" name="TextBox 17"/>
          <p:cNvSpPr txBox="1"/>
          <p:nvPr/>
        </p:nvSpPr>
        <p:spPr>
          <a:xfrm>
            <a:off x="8413491" y="3974340"/>
            <a:ext cx="3154680" cy="781752"/>
          </a:xfrm>
          <a:prstGeom prst="rect">
            <a:avLst/>
          </a:prstGeom>
          <a:noFill/>
        </p:spPr>
        <p:txBody>
          <a:bodyPr wrap="square" lIns="45720" tIns="18288" rIns="45720" bIns="18288" anchor="t">
            <a:spAutoFit/>
          </a:bodyPr>
          <a:lstStyle/>
          <a:p>
            <a:pPr algn="l">
              <a:lnSpc>
                <a:spcPct val="102000"/>
              </a:lnSpc>
              <a:spcAft>
                <a:spcPts val="400"/>
              </a:spcAft>
            </a:pPr>
            <a:r>
              <a:rPr sz="1600" b="0" i="0">
                <a:solidFill>
                  <a:srgbClr val="64748B"/>
                </a:solidFill>
                <a:latin typeface="Calibri"/>
              </a:rPr>
              <a:t>“The setting that achieved the highest return” was chosen after seeing the test set.</a:t>
            </a:r>
          </a:p>
        </p:txBody>
      </p:sp>
      <p:sp>
        <p:nvSpPr>
          <p:cNvPr id="19" name="TextBox 18"/>
          <p:cNvSpPr txBox="1"/>
          <p:nvPr/>
        </p:nvSpPr>
        <p:spPr>
          <a:xfrm>
            <a:off x="548640" y="5074920"/>
            <a:ext cx="11064240" cy="1077987"/>
          </a:xfrm>
          <a:prstGeom prst="rect">
            <a:avLst/>
          </a:prstGeom>
          <a:noFill/>
        </p:spPr>
        <p:txBody>
          <a:bodyPr wrap="square" lIns="45720" tIns="18288" rIns="45720" bIns="18288" anchor="t">
            <a:spAutoFit/>
          </a:bodyPr>
          <a:lstStyle/>
          <a:p>
            <a:pPr algn="l">
              <a:lnSpc>
                <a:spcPct val="115000"/>
              </a:lnSpc>
              <a:spcAft>
                <a:spcPts val="400"/>
              </a:spcAft>
            </a:pPr>
            <a:r>
              <a:rPr lang="en-US" sz="2000" b="1" i="0">
                <a:solidFill>
                  <a:srgbClr val="1E293B"/>
                </a:solidFill>
                <a:latin typeface="Calibri"/>
              </a:rPr>
              <a:t>TASK</a:t>
            </a:r>
            <a:r>
              <a:rPr lang="he-IL" sz="2000" b="1" i="0">
                <a:solidFill>
                  <a:srgbClr val="1E293B"/>
                </a:solidFill>
                <a:latin typeface="Calibri"/>
              </a:rPr>
              <a:t>:</a:t>
            </a:r>
            <a:br>
              <a:rPr lang="en-US" sz="2000" b="1" i="0">
                <a:solidFill>
                  <a:srgbClr val="1E293B"/>
                </a:solidFill>
                <a:latin typeface="Calibri"/>
              </a:rPr>
            </a:br>
            <a:r>
              <a:rPr sz="2000" b="0" i="0">
                <a:solidFill>
                  <a:srgbClr val="1E293B"/>
                </a:solidFill>
                <a:latin typeface="Calibri"/>
              </a:rPr>
              <a:t>build the paper's architecture honestly, run it on data the model has never seen, charge real costs, freeze every parameter in advance - then measure.</a:t>
            </a:r>
          </a:p>
        </p:txBody>
      </p:sp>
      <p:sp>
        <p:nvSpPr>
          <p:cNvPr id="20" name="TextBox 19"/>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21" name="TextBox 20"/>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r>
              <a:rPr sz="900" b="0" i="0">
                <a:solidFill>
                  <a:srgbClr val="64748B"/>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SCOPE</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Reproduced, adapted, and added</a:t>
            </a:r>
          </a:p>
        </p:txBody>
      </p:sp>
      <p:sp>
        <p:nvSpPr>
          <p:cNvPr id="5" name="Rounded Rectangle 4"/>
          <p:cNvSpPr/>
          <p:nvPr/>
        </p:nvSpPr>
        <p:spPr>
          <a:xfrm>
            <a:off x="209023" y="1655232"/>
            <a:ext cx="3782308" cy="430305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ounded Rectangle 5"/>
          <p:cNvSpPr/>
          <p:nvPr/>
        </p:nvSpPr>
        <p:spPr>
          <a:xfrm>
            <a:off x="209023" y="1655232"/>
            <a:ext cx="3782308" cy="459550"/>
          </a:xfrm>
          <a:prstGeom prst="round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209023" y="1697009"/>
            <a:ext cx="3782308" cy="314983"/>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REPRODUCED</a:t>
            </a:r>
          </a:p>
        </p:txBody>
      </p:sp>
      <p:sp>
        <p:nvSpPr>
          <p:cNvPr id="8" name="TextBox 7"/>
          <p:cNvSpPr txBox="1"/>
          <p:nvPr/>
        </p:nvSpPr>
        <p:spPr>
          <a:xfrm>
            <a:off x="287940" y="2368197"/>
            <a:ext cx="3624474" cy="3055965"/>
          </a:xfrm>
          <a:prstGeom prst="rect">
            <a:avLst/>
          </a:prstGeom>
          <a:noFill/>
        </p:spPr>
        <p:txBody>
          <a:bodyPr wrap="square" lIns="45720" tIns="18288" rIns="45720" bIns="18288" anchor="t">
            <a:spAutoFit/>
          </a:bodyPr>
          <a:lstStyle/>
          <a:p>
            <a:pPr marL="285750" indent="-285750" algn="l">
              <a:lnSpc>
                <a:spcPct val="150000"/>
              </a:lnSpc>
              <a:spcAft>
                <a:spcPts val="800"/>
              </a:spcAft>
              <a:buFont typeface="Wingdings" panose="05000000000000000000" pitchFamily="2" charset="2"/>
              <a:buChar char="Ø"/>
            </a:pPr>
            <a:r>
              <a:rPr sz="1600" b="0">
                <a:solidFill>
                  <a:srgbClr val="1E293B"/>
                </a:solidFill>
                <a:latin typeface="Calibri"/>
              </a:rPr>
              <a:t>Authors' code as the skeleton (</a:t>
            </a:r>
            <a:r>
              <a:rPr lang="en-US" sz="1600" b="0" err="1">
                <a:solidFill>
                  <a:srgbClr val="1E293B"/>
                </a:solidFill>
                <a:latin typeface="Calibri"/>
              </a:rPr>
              <a:t>Github</a:t>
            </a:r>
            <a:r>
              <a:rPr sz="1600" b="0">
                <a:solidFill>
                  <a:srgbClr val="1E293B"/>
                </a:solidFill>
                <a:latin typeface="Calibri"/>
              </a:rPr>
              <a:t>)</a:t>
            </a:r>
          </a:p>
          <a:p>
            <a:pPr marL="285750" indent="-285750">
              <a:lnSpc>
                <a:spcPct val="150000"/>
              </a:lnSpc>
              <a:buFont typeface="Wingdings" panose="05000000000000000000" pitchFamily="2" charset="2"/>
              <a:buChar char="Ø"/>
            </a:pPr>
            <a:r>
              <a:rPr sz="1600" b="0">
                <a:solidFill>
                  <a:srgbClr val="1E293B"/>
                </a:solidFill>
                <a:latin typeface="Calibri"/>
              </a:rPr>
              <a:t>5 tickers: TSLA NFLX AMZN MSFT COIN</a:t>
            </a:r>
          </a:p>
          <a:p>
            <a:pPr marL="285750" indent="-285750">
              <a:lnSpc>
                <a:spcPct val="150000"/>
              </a:lnSpc>
              <a:buFont typeface="Wingdings" panose="05000000000000000000" pitchFamily="2" charset="2"/>
              <a:buChar char="Ø"/>
            </a:pPr>
            <a:r>
              <a:rPr sz="1600" b="0">
                <a:solidFill>
                  <a:srgbClr val="1E293B"/>
                </a:solidFill>
                <a:latin typeface="Calibri"/>
              </a:rPr>
              <a:t>Layered memory: shallow/mid/deep + reflection</a:t>
            </a:r>
            <a:r>
              <a:rPr lang="en-US" sz="1600" b="0">
                <a:solidFill>
                  <a:srgbClr val="1E293B"/>
                </a:solidFill>
                <a:latin typeface="Calibri"/>
              </a:rPr>
              <a:t>s</a:t>
            </a:r>
            <a:endParaRPr sz="1600" b="0">
              <a:solidFill>
                <a:srgbClr val="1E293B"/>
              </a:solidFill>
              <a:latin typeface="Calibri"/>
            </a:endParaRPr>
          </a:p>
          <a:p>
            <a:pPr marL="285750" indent="-285750">
              <a:lnSpc>
                <a:spcPct val="150000"/>
              </a:lnSpc>
              <a:buFont typeface="Wingdings" panose="05000000000000000000" pitchFamily="2" charset="2"/>
              <a:buChar char="Ø"/>
            </a:pPr>
            <a:r>
              <a:rPr sz="1600" b="0">
                <a:solidFill>
                  <a:srgbClr val="1E293B"/>
                </a:solidFill>
                <a:latin typeface="Calibri"/>
              </a:rPr>
              <a:t>FAISS vector store, top-K retrieval</a:t>
            </a:r>
          </a:p>
          <a:p>
            <a:pPr marL="285750" indent="-285750">
              <a:lnSpc>
                <a:spcPct val="150000"/>
              </a:lnSpc>
              <a:buFont typeface="Wingdings" panose="05000000000000000000" pitchFamily="2" charset="2"/>
              <a:buChar char="Ø"/>
            </a:pPr>
            <a:r>
              <a:rPr sz="1600" b="0" err="1">
                <a:solidFill>
                  <a:srgbClr val="1E293B"/>
                </a:solidFill>
                <a:latin typeface="Calibri"/>
              </a:rPr>
              <a:t>FinBERT</a:t>
            </a:r>
            <a:r>
              <a:rPr sz="1600" b="0">
                <a:solidFill>
                  <a:srgbClr val="1E293B"/>
                </a:solidFill>
                <a:latin typeface="Calibri"/>
              </a:rPr>
              <a:t> sentiment, persona prompts</a:t>
            </a:r>
          </a:p>
          <a:p>
            <a:pPr marL="285750" indent="-285750">
              <a:lnSpc>
                <a:spcPct val="150000"/>
              </a:lnSpc>
              <a:buFont typeface="Wingdings" panose="05000000000000000000" pitchFamily="2" charset="2"/>
              <a:buChar char="Ø"/>
            </a:pPr>
            <a:r>
              <a:rPr sz="1600" b="0">
                <a:solidFill>
                  <a:srgbClr val="1E293B"/>
                </a:solidFill>
                <a:latin typeface="Calibri"/>
              </a:rPr>
              <a:t>ada-002 embeddings (paper spec)</a:t>
            </a:r>
          </a:p>
          <a:p>
            <a:pPr marL="285750" indent="-285750">
              <a:lnSpc>
                <a:spcPct val="150000"/>
              </a:lnSpc>
              <a:buFont typeface="Wingdings" panose="05000000000000000000" pitchFamily="2" charset="2"/>
              <a:buChar char="Ø"/>
            </a:pPr>
            <a:r>
              <a:rPr sz="1600" b="0">
                <a:solidFill>
                  <a:srgbClr val="1E293B"/>
                </a:solidFill>
                <a:latin typeface="Calibri"/>
              </a:rPr>
              <a:t>Train -&gt; test protocol</a:t>
            </a:r>
          </a:p>
        </p:txBody>
      </p:sp>
      <p:sp>
        <p:nvSpPr>
          <p:cNvPr id="9" name="Rounded Rectangle 8"/>
          <p:cNvSpPr/>
          <p:nvPr/>
        </p:nvSpPr>
        <p:spPr>
          <a:xfrm>
            <a:off x="4204692" y="1655232"/>
            <a:ext cx="3782308" cy="430305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ounded Rectangle 9"/>
          <p:cNvSpPr/>
          <p:nvPr/>
        </p:nvSpPr>
        <p:spPr>
          <a:xfrm>
            <a:off x="4204692" y="1655232"/>
            <a:ext cx="3782308" cy="45955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4204692" y="1697009"/>
            <a:ext cx="3782308" cy="314983"/>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ADAPTED</a:t>
            </a:r>
          </a:p>
        </p:txBody>
      </p:sp>
      <p:sp>
        <p:nvSpPr>
          <p:cNvPr id="12" name="TextBox 11"/>
          <p:cNvSpPr txBox="1"/>
          <p:nvPr/>
        </p:nvSpPr>
        <p:spPr>
          <a:xfrm>
            <a:off x="4315668" y="2210234"/>
            <a:ext cx="3559249" cy="3217291"/>
          </a:xfrm>
          <a:prstGeom prst="rect">
            <a:avLst/>
          </a:prstGeom>
          <a:noFill/>
        </p:spPr>
        <p:txBody>
          <a:bodyPr wrap="square" lIns="45720" tIns="18288" rIns="45720" bIns="18288" anchor="t">
            <a:spAutoFit/>
          </a:bodyPr>
          <a:lstStyle>
            <a:defPPr>
              <a:defRPr lang="en-US"/>
            </a:defPPr>
            <a:lvl1pPr marL="285750" indent="-285750">
              <a:lnSpc>
                <a:spcPct val="150000"/>
              </a:lnSpc>
              <a:spcAft>
                <a:spcPts val="800"/>
              </a:spcAft>
              <a:buFont typeface="Wingdings" panose="05000000000000000000" pitchFamily="2" charset="2"/>
              <a:buChar char="Ø"/>
              <a:defRPr sz="1600" b="0">
                <a:solidFill>
                  <a:srgbClr val="1E293B"/>
                </a:solidFill>
                <a:latin typeface="Calibri"/>
              </a:defRPr>
            </a:lvl1pPr>
          </a:lstStyle>
          <a:p>
            <a:pPr>
              <a:lnSpc>
                <a:spcPct val="100000"/>
              </a:lnSpc>
            </a:pPr>
            <a:r>
              <a:t>Post-cutoff window 2025-26 (no leakage)</a:t>
            </a:r>
          </a:p>
          <a:p>
            <a:pPr>
              <a:lnSpc>
                <a:spcPct val="100000"/>
              </a:lnSpc>
            </a:pPr>
            <a:r>
              <a:t>gpt-4.1-mini backbone </a:t>
            </a:r>
            <a:endParaRPr lang="he-IL"/>
          </a:p>
          <a:p>
            <a:pPr>
              <a:lnSpc>
                <a:spcPct val="100000"/>
              </a:lnSpc>
            </a:pPr>
            <a:r>
              <a:t>Gemini 3 Flash-Lite </a:t>
            </a:r>
            <a:r>
              <a:rPr err="1"/>
              <a:t>summariser</a:t>
            </a:r>
            <a:endParaRPr/>
          </a:p>
          <a:p>
            <a:pPr>
              <a:lnSpc>
                <a:spcPct val="100000"/>
              </a:lnSpc>
            </a:pPr>
            <a:r>
              <a:t>guardrails contract re-implemented for </a:t>
            </a:r>
            <a:r>
              <a:rPr lang="en-US"/>
              <a:t>modern Python version</a:t>
            </a:r>
            <a:endParaRPr/>
          </a:p>
          <a:p>
            <a:pPr>
              <a:lnSpc>
                <a:spcPct val="100000"/>
              </a:lnSpc>
            </a:pPr>
            <a:r>
              <a:t>Self-adaptive persona switch </a:t>
            </a:r>
            <a:endParaRPr lang="he-IL"/>
          </a:p>
          <a:p>
            <a:pPr>
              <a:lnSpc>
                <a:spcPct val="100000"/>
              </a:lnSpc>
            </a:pPr>
            <a:r>
              <a:t>7-day momentum observation</a:t>
            </a:r>
          </a:p>
          <a:p>
            <a:pPr>
              <a:lnSpc>
                <a:spcPct val="100000"/>
              </a:lnSpc>
            </a:pPr>
            <a:r>
              <a:t>Long-only unit position</a:t>
            </a:r>
            <a:endParaRPr lang="he-IL"/>
          </a:p>
          <a:p>
            <a:pPr>
              <a:lnSpc>
                <a:spcPct val="100000"/>
              </a:lnSpc>
            </a:pPr>
            <a:r>
              <a:rPr lang="en-US"/>
              <a:t>R</a:t>
            </a:r>
            <a:r>
              <a:t>eal cost sweeps</a:t>
            </a:r>
          </a:p>
        </p:txBody>
      </p:sp>
      <p:sp>
        <p:nvSpPr>
          <p:cNvPr id="13" name="Rounded Rectangle 12"/>
          <p:cNvSpPr/>
          <p:nvPr/>
        </p:nvSpPr>
        <p:spPr>
          <a:xfrm>
            <a:off x="8200362" y="1655232"/>
            <a:ext cx="3782308" cy="430305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ounded Rectangle 13"/>
          <p:cNvSpPr/>
          <p:nvPr/>
        </p:nvSpPr>
        <p:spPr>
          <a:xfrm>
            <a:off x="8200362" y="1655232"/>
            <a:ext cx="3782308" cy="459550"/>
          </a:xfrm>
          <a:prstGeom prst="round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200362" y="1697009"/>
            <a:ext cx="3782308" cy="314983"/>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ADDED</a:t>
            </a:r>
          </a:p>
        </p:txBody>
      </p:sp>
      <p:sp>
        <p:nvSpPr>
          <p:cNvPr id="16" name="TextBox 15"/>
          <p:cNvSpPr txBox="1"/>
          <p:nvPr/>
        </p:nvSpPr>
        <p:spPr>
          <a:xfrm>
            <a:off x="8442817" y="2240114"/>
            <a:ext cx="3345888" cy="3097002"/>
          </a:xfrm>
          <a:prstGeom prst="rect">
            <a:avLst/>
          </a:prstGeom>
          <a:noFill/>
        </p:spPr>
        <p:txBody>
          <a:bodyPr wrap="square" lIns="45720" tIns="18288" rIns="45720" bIns="18288" anchor="t">
            <a:spAutoFit/>
          </a:bodyPr>
          <a:lstStyle>
            <a:defPPr>
              <a:defRPr lang="en-US"/>
            </a:defPPr>
            <a:lvl1pPr marL="285750" indent="-285750">
              <a:lnSpc>
                <a:spcPct val="150000"/>
              </a:lnSpc>
              <a:spcAft>
                <a:spcPts val="800"/>
              </a:spcAft>
              <a:buFont typeface="Wingdings" panose="05000000000000000000" pitchFamily="2" charset="2"/>
              <a:buChar char="Ø"/>
              <a:defRPr sz="1600" b="0">
                <a:solidFill>
                  <a:srgbClr val="1E293B"/>
                </a:solidFill>
                <a:latin typeface="Calibri"/>
              </a:defRPr>
            </a:lvl1pPr>
          </a:lstStyle>
          <a:p>
            <a:r>
              <a:t>Portfolio layer </a:t>
            </a:r>
            <a:endParaRPr lang="he-IL"/>
          </a:p>
          <a:p>
            <a:r>
              <a:t>No-memory ablation</a:t>
            </a:r>
          </a:p>
          <a:p>
            <a:r>
              <a:t>LC-Trader long-context baseline </a:t>
            </a:r>
            <a:br>
              <a:rPr lang="en-US"/>
            </a:br>
            <a:r>
              <a:t>(no </a:t>
            </a:r>
            <a:r>
              <a:rPr err="1"/>
              <a:t>FinMe</a:t>
            </a:r>
            <a:r>
              <a:rPr lang="en-US" err="1"/>
              <a:t>m</a:t>
            </a:r>
            <a:r>
              <a:rPr lang="en-US"/>
              <a:t> scaffold)</a:t>
            </a:r>
            <a:endParaRPr/>
          </a:p>
          <a:p>
            <a:r>
              <a:t>Leakage test suite</a:t>
            </a:r>
          </a:p>
          <a:p>
            <a:r>
              <a:t>Deep-layer retention fix </a:t>
            </a:r>
            <a:endParaRPr lang="en-US"/>
          </a:p>
          <a:p>
            <a:r>
              <a:rPr lang="en-US"/>
              <a:t>Filing</a:t>
            </a:r>
            <a:r>
              <a:t> seeding</a:t>
            </a:r>
          </a:p>
        </p:txBody>
      </p:sp>
      <p:sp>
        <p:nvSpPr>
          <p:cNvPr id="17" name="TextBox 16"/>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18" name="TextBox 17"/>
          <p:cNvSpPr txBox="1"/>
          <p:nvPr/>
        </p:nvSpPr>
        <p:spPr>
          <a:xfrm>
            <a:off x="10972800" y="6473952"/>
            <a:ext cx="731520" cy="198516"/>
          </a:xfrm>
          <a:prstGeom prst="rect">
            <a:avLst/>
          </a:prstGeom>
          <a:noFill/>
        </p:spPr>
        <p:txBody>
          <a:bodyPr wrap="square" lIns="45720" tIns="18288" rIns="45720" bIns="18288" anchor="t">
            <a:spAutoFit/>
          </a:bodyPr>
          <a:lstStyle/>
          <a:p>
            <a:pPr algn="r">
              <a:spcAft>
                <a:spcPts val="400"/>
              </a:spcAft>
            </a:pPr>
            <a:r>
              <a:rPr sz="1050" b="0" i="0">
                <a:solidFill>
                  <a:srgbClr val="64748B"/>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TextBox 2"/>
          <p:cNvSpPr txBox="1"/>
          <p:nvPr/>
        </p:nvSpPr>
        <p:spPr>
          <a:xfrm>
            <a:off x="548640" y="292608"/>
            <a:ext cx="11064240" cy="252377"/>
          </a:xfrm>
          <a:prstGeom prst="rect">
            <a:avLst/>
          </a:prstGeom>
          <a:noFill/>
        </p:spPr>
        <p:txBody>
          <a:bodyPr wrap="square" lIns="45720" tIns="18288" rIns="45720" bIns="18288" anchor="t">
            <a:spAutoFit/>
          </a:bodyPr>
          <a:lstStyle/>
          <a:p>
            <a:pPr algn="l">
              <a:spcAft>
                <a:spcPts val="400"/>
              </a:spcAft>
            </a:pPr>
            <a:r>
              <a:rPr sz="1400" b="1" i="0">
                <a:solidFill>
                  <a:srgbClr val="1C7293"/>
                </a:solidFill>
                <a:latin typeface="Calibri"/>
              </a:rPr>
              <a:t>ENGINEERING</a:t>
            </a:r>
          </a:p>
        </p:txBody>
      </p:sp>
      <p:sp>
        <p:nvSpPr>
          <p:cNvPr id="4" name="TextBox 3"/>
          <p:cNvSpPr txBox="1"/>
          <p:nvPr/>
        </p:nvSpPr>
        <p:spPr>
          <a:xfrm>
            <a:off x="548640" y="548640"/>
            <a:ext cx="11064240" cy="529376"/>
          </a:xfrm>
          <a:prstGeom prst="rect">
            <a:avLst/>
          </a:prstGeom>
          <a:noFill/>
        </p:spPr>
        <p:txBody>
          <a:bodyPr wrap="square" lIns="45720" tIns="18288" rIns="45720" bIns="18288" anchor="t">
            <a:spAutoFit/>
          </a:bodyPr>
          <a:lstStyle/>
          <a:p>
            <a:pPr algn="l">
              <a:spcAft>
                <a:spcPts val="400"/>
              </a:spcAft>
            </a:pPr>
            <a:r>
              <a:rPr sz="3200" b="1" i="0">
                <a:solidFill>
                  <a:srgbClr val="21295C"/>
                </a:solidFill>
                <a:latin typeface="Cambria"/>
              </a:rPr>
              <a:t>What we built to reach the paper's architecture</a:t>
            </a:r>
          </a:p>
        </p:txBody>
      </p:sp>
      <p:sp>
        <p:nvSpPr>
          <p:cNvPr id="5" name="Rounded Rectangle 4"/>
          <p:cNvSpPr/>
          <p:nvPr/>
        </p:nvSpPr>
        <p:spPr>
          <a:xfrm>
            <a:off x="548640" y="14173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ectangle 5"/>
          <p:cNvSpPr/>
          <p:nvPr/>
        </p:nvSpPr>
        <p:spPr>
          <a:xfrm>
            <a:off x="749808" y="16733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1005840" y="16002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dirty="0">
                <a:solidFill>
                  <a:srgbClr val="21295C"/>
                </a:solidFill>
                <a:latin typeface="Calibri"/>
              </a:rPr>
              <a:t>Local </a:t>
            </a:r>
            <a:r>
              <a:rPr lang="en-US" sz="1600" b="1" i="0" err="1">
                <a:solidFill>
                  <a:srgbClr val="21295C"/>
                </a:solidFill>
                <a:latin typeface="Calibri"/>
              </a:rPr>
              <a:t>FinBERT</a:t>
            </a:r>
            <a:r>
              <a:rPr sz="1600" b="1" i="0" dirty="0">
                <a:solidFill>
                  <a:srgbClr val="21295C"/>
                </a:solidFill>
                <a:latin typeface="Calibri"/>
              </a:rPr>
              <a:t> (</a:t>
            </a:r>
            <a:r>
              <a:rPr lang="en-US" sz="1600" b="1" i="0" err="1">
                <a:solidFill>
                  <a:srgbClr val="21295C"/>
                </a:solidFill>
                <a:latin typeface="Calibri"/>
              </a:rPr>
              <a:t>finbert</a:t>
            </a:r>
            <a:r>
              <a:rPr sz="1600" b="1" i="0" dirty="0">
                <a:solidFill>
                  <a:srgbClr val="21295C"/>
                </a:solidFill>
                <a:latin typeface="Calibri"/>
              </a:rPr>
              <a:t>-tone)</a:t>
            </a:r>
          </a:p>
        </p:txBody>
      </p:sp>
      <p:sp>
        <p:nvSpPr>
          <p:cNvPr id="8" name="TextBox 7"/>
          <p:cNvSpPr txBox="1"/>
          <p:nvPr/>
        </p:nvSpPr>
        <p:spPr>
          <a:xfrm>
            <a:off x="1005840" y="2148840"/>
            <a:ext cx="2971800" cy="252377"/>
          </a:xfrm>
          <a:prstGeom prst="rect">
            <a:avLst/>
          </a:prstGeom>
          <a:noFill/>
        </p:spPr>
        <p:txBody>
          <a:bodyPr wrap="square" lIns="45720" tIns="18288" rIns="45720" bIns="18288" anchor="t">
            <a:spAutoFit/>
          </a:bodyPr>
          <a:lstStyle/>
          <a:p>
            <a:pPr algn="l">
              <a:lnSpc>
                <a:spcPct val="100000"/>
              </a:lnSpc>
              <a:spcAft>
                <a:spcPts val="400"/>
              </a:spcAft>
            </a:pPr>
            <a:r>
              <a:rPr sz="1400" b="0" i="0" dirty="0">
                <a:solidFill>
                  <a:srgbClr val="64748B"/>
                </a:solidFill>
                <a:latin typeface="Calibri"/>
              </a:rPr>
              <a:t>ran on RTX 3090</a:t>
            </a:r>
          </a:p>
        </p:txBody>
      </p:sp>
      <p:sp>
        <p:nvSpPr>
          <p:cNvPr id="9" name="Rounded Rectangle 8"/>
          <p:cNvSpPr/>
          <p:nvPr/>
        </p:nvSpPr>
        <p:spPr>
          <a:xfrm>
            <a:off x="4315968" y="14173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ectangle 9"/>
          <p:cNvSpPr/>
          <p:nvPr/>
        </p:nvSpPr>
        <p:spPr>
          <a:xfrm>
            <a:off x="4517136" y="16733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4773168" y="16002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a:solidFill>
                  <a:srgbClr val="21295C"/>
                </a:solidFill>
                <a:latin typeface="Calibri"/>
              </a:rPr>
              <a:t>Embeddings</a:t>
            </a:r>
          </a:p>
        </p:txBody>
      </p:sp>
      <p:sp>
        <p:nvSpPr>
          <p:cNvPr id="12" name="TextBox 11"/>
          <p:cNvSpPr txBox="1"/>
          <p:nvPr/>
        </p:nvSpPr>
        <p:spPr>
          <a:xfrm>
            <a:off x="4773168" y="2148840"/>
            <a:ext cx="2971800" cy="252377"/>
          </a:xfrm>
          <a:prstGeom prst="rect">
            <a:avLst/>
          </a:prstGeom>
          <a:noFill/>
        </p:spPr>
        <p:txBody>
          <a:bodyPr wrap="square" lIns="45720" tIns="18288" rIns="45720" bIns="18288" anchor="t">
            <a:spAutoFit/>
          </a:bodyPr>
          <a:lstStyle/>
          <a:p>
            <a:pPr algn="l">
              <a:lnSpc>
                <a:spcPct val="100000"/>
              </a:lnSpc>
              <a:spcAft>
                <a:spcPts val="400"/>
              </a:spcAft>
            </a:pPr>
            <a:r>
              <a:rPr sz="1400" b="0" i="0">
                <a:solidFill>
                  <a:srgbClr val="64748B"/>
                </a:solidFill>
                <a:latin typeface="Calibri"/>
              </a:rPr>
              <a:t>ada-002 (paper spec) via API</a:t>
            </a:r>
          </a:p>
        </p:txBody>
      </p:sp>
      <p:sp>
        <p:nvSpPr>
          <p:cNvPr id="13" name="Rounded Rectangle 12"/>
          <p:cNvSpPr/>
          <p:nvPr/>
        </p:nvSpPr>
        <p:spPr>
          <a:xfrm>
            <a:off x="8083296" y="14173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ectangle 13"/>
          <p:cNvSpPr/>
          <p:nvPr/>
        </p:nvSpPr>
        <p:spPr>
          <a:xfrm>
            <a:off x="8284464" y="16733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540496" y="16002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dirty="0">
                <a:solidFill>
                  <a:srgbClr val="21295C"/>
                </a:solidFill>
                <a:latin typeface="Calibri"/>
              </a:rPr>
              <a:t>FAISS per-layer indices</a:t>
            </a:r>
          </a:p>
        </p:txBody>
      </p:sp>
      <p:sp>
        <p:nvSpPr>
          <p:cNvPr id="16" name="TextBox 15"/>
          <p:cNvSpPr txBox="1"/>
          <p:nvPr/>
        </p:nvSpPr>
        <p:spPr>
          <a:xfrm>
            <a:off x="8540496" y="2148840"/>
            <a:ext cx="2971800" cy="467820"/>
          </a:xfrm>
          <a:prstGeom prst="rect">
            <a:avLst/>
          </a:prstGeom>
          <a:noFill/>
        </p:spPr>
        <p:txBody>
          <a:bodyPr wrap="square" lIns="45720" tIns="18288" rIns="45720" bIns="18288" anchor="t">
            <a:spAutoFit/>
          </a:bodyPr>
          <a:lstStyle/>
          <a:p>
            <a:pPr algn="l">
              <a:lnSpc>
                <a:spcPct val="100000"/>
              </a:lnSpc>
              <a:spcAft>
                <a:spcPts val="400"/>
              </a:spcAft>
            </a:pPr>
            <a:r>
              <a:rPr sz="1400" b="0" i="0" dirty="0">
                <a:solidFill>
                  <a:srgbClr val="64748B"/>
                </a:solidFill>
                <a:latin typeface="Calibri"/>
              </a:rPr>
              <a:t>one vector store per layer, cosine relevance</a:t>
            </a:r>
          </a:p>
        </p:txBody>
      </p:sp>
      <p:sp>
        <p:nvSpPr>
          <p:cNvPr id="17" name="Rounded Rectangle 16"/>
          <p:cNvSpPr/>
          <p:nvPr/>
        </p:nvSpPr>
        <p:spPr>
          <a:xfrm>
            <a:off x="548640" y="30175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Rectangle 17"/>
          <p:cNvSpPr/>
          <p:nvPr/>
        </p:nvSpPr>
        <p:spPr>
          <a:xfrm>
            <a:off x="749808" y="32735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1005840" y="3200400"/>
            <a:ext cx="2971800" cy="270843"/>
          </a:xfrm>
          <a:prstGeom prst="rect">
            <a:avLst/>
          </a:prstGeom>
          <a:noFill/>
        </p:spPr>
        <p:txBody>
          <a:bodyPr wrap="square" lIns="45720" tIns="18288" rIns="45720" bIns="18288" anchor="t">
            <a:spAutoFit/>
          </a:bodyPr>
          <a:lstStyle/>
          <a:p>
            <a:pPr algn="l">
              <a:lnSpc>
                <a:spcPct val="95000"/>
              </a:lnSpc>
              <a:spcAft>
                <a:spcPts val="400"/>
              </a:spcAft>
            </a:pPr>
            <a:r>
              <a:rPr lang="en-US" sz="1600" b="1" i="0" dirty="0">
                <a:solidFill>
                  <a:srgbClr val="21295C"/>
                </a:solidFill>
                <a:latin typeface="Calibri"/>
              </a:rPr>
              <a:t>R</a:t>
            </a:r>
            <a:r>
              <a:rPr lang="en-US" sz="1600" b="1" dirty="0">
                <a:solidFill>
                  <a:srgbClr val="21295C"/>
                </a:solidFill>
                <a:latin typeface="Calibri"/>
              </a:rPr>
              <a:t>esponse safety</a:t>
            </a:r>
            <a:r>
              <a:rPr lang="en-US" sz="1600" b="1" i="0" dirty="0">
                <a:solidFill>
                  <a:srgbClr val="21295C"/>
                </a:solidFill>
                <a:latin typeface="Calibri"/>
              </a:rPr>
              <a:t> </a:t>
            </a:r>
            <a:r>
              <a:rPr sz="1600" b="1" i="0" dirty="0">
                <a:solidFill>
                  <a:srgbClr val="21295C"/>
                </a:solidFill>
                <a:latin typeface="Calibri"/>
              </a:rPr>
              <a:t>layer</a:t>
            </a:r>
          </a:p>
        </p:txBody>
      </p:sp>
      <p:sp>
        <p:nvSpPr>
          <p:cNvPr id="20" name="TextBox 19"/>
          <p:cNvSpPr txBox="1"/>
          <p:nvPr/>
        </p:nvSpPr>
        <p:spPr>
          <a:xfrm>
            <a:off x="1005840" y="3749039"/>
            <a:ext cx="2971800" cy="467820"/>
          </a:xfrm>
          <a:prstGeom prst="rect">
            <a:avLst/>
          </a:prstGeom>
          <a:noFill/>
        </p:spPr>
        <p:txBody>
          <a:bodyPr wrap="square" lIns="45720" tIns="18288" rIns="45720" bIns="18288" anchor="t">
            <a:spAutoFit/>
          </a:bodyPr>
          <a:lstStyle/>
          <a:p>
            <a:pPr algn="l">
              <a:lnSpc>
                <a:spcPct val="100000"/>
              </a:lnSpc>
              <a:spcAft>
                <a:spcPts val="400"/>
              </a:spcAft>
            </a:pPr>
            <a:r>
              <a:rPr sz="1400" b="0" i="0" dirty="0">
                <a:solidFill>
                  <a:srgbClr val="64748B"/>
                </a:solidFill>
                <a:latin typeface="Calibri"/>
              </a:rPr>
              <a:t>guardrails contract re-built for Python 3.12</a:t>
            </a:r>
          </a:p>
        </p:txBody>
      </p:sp>
      <p:sp>
        <p:nvSpPr>
          <p:cNvPr id="21" name="Rounded Rectangle 20"/>
          <p:cNvSpPr/>
          <p:nvPr/>
        </p:nvSpPr>
        <p:spPr>
          <a:xfrm>
            <a:off x="4315968" y="30175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1"/>
          <p:cNvSpPr/>
          <p:nvPr/>
        </p:nvSpPr>
        <p:spPr>
          <a:xfrm>
            <a:off x="4517136" y="32735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4773168" y="32004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dirty="0">
                <a:solidFill>
                  <a:srgbClr val="21295C"/>
                </a:solidFill>
                <a:latin typeface="Calibri"/>
              </a:rPr>
              <a:t>Self-adaptive persona</a:t>
            </a:r>
          </a:p>
        </p:txBody>
      </p:sp>
      <p:sp>
        <p:nvSpPr>
          <p:cNvPr id="24" name="TextBox 23"/>
          <p:cNvSpPr txBox="1"/>
          <p:nvPr/>
        </p:nvSpPr>
        <p:spPr>
          <a:xfrm>
            <a:off x="4773168" y="3749039"/>
            <a:ext cx="2971800" cy="252377"/>
          </a:xfrm>
          <a:prstGeom prst="rect">
            <a:avLst/>
          </a:prstGeom>
          <a:noFill/>
        </p:spPr>
        <p:txBody>
          <a:bodyPr wrap="square" lIns="45720" tIns="18288" rIns="45720" bIns="18288" anchor="t">
            <a:spAutoFit/>
          </a:bodyPr>
          <a:lstStyle/>
          <a:p>
            <a:pPr algn="l">
              <a:lnSpc>
                <a:spcPct val="100000"/>
              </a:lnSpc>
              <a:spcAft>
                <a:spcPts val="400"/>
              </a:spcAft>
            </a:pPr>
            <a:r>
              <a:rPr lang="en-US" sz="1400" b="0" i="0" dirty="0">
                <a:solidFill>
                  <a:srgbClr val="64748B"/>
                </a:solidFill>
                <a:latin typeface="Calibri"/>
              </a:rPr>
              <a:t>R</a:t>
            </a:r>
            <a:r>
              <a:rPr sz="1400" b="0" i="0" dirty="0">
                <a:solidFill>
                  <a:srgbClr val="64748B"/>
                </a:solidFill>
                <a:latin typeface="Calibri"/>
              </a:rPr>
              <a:t>isk rule the code never shipped </a:t>
            </a:r>
          </a:p>
        </p:txBody>
      </p:sp>
      <p:sp>
        <p:nvSpPr>
          <p:cNvPr id="25" name="Rounded Rectangle 24"/>
          <p:cNvSpPr/>
          <p:nvPr/>
        </p:nvSpPr>
        <p:spPr>
          <a:xfrm>
            <a:off x="8083296" y="30175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8284464" y="32735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8540496" y="32004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a:solidFill>
                  <a:srgbClr val="21295C"/>
                </a:solidFill>
                <a:latin typeface="Calibri"/>
              </a:rPr>
              <a:t>Extended reflection</a:t>
            </a:r>
          </a:p>
        </p:txBody>
      </p:sp>
      <p:sp>
        <p:nvSpPr>
          <p:cNvPr id="28" name="TextBox 27"/>
          <p:cNvSpPr txBox="1"/>
          <p:nvPr/>
        </p:nvSpPr>
        <p:spPr>
          <a:xfrm>
            <a:off x="8540496" y="3749039"/>
            <a:ext cx="2971800" cy="467820"/>
          </a:xfrm>
          <a:prstGeom prst="rect">
            <a:avLst/>
          </a:prstGeom>
          <a:noFill/>
        </p:spPr>
        <p:txBody>
          <a:bodyPr wrap="square" lIns="45720" tIns="18288" rIns="45720" bIns="18288" anchor="t">
            <a:spAutoFit/>
          </a:bodyPr>
          <a:lstStyle/>
          <a:p>
            <a:pPr algn="l">
              <a:lnSpc>
                <a:spcPct val="100000"/>
              </a:lnSpc>
              <a:spcAft>
                <a:spcPts val="400"/>
              </a:spcAft>
            </a:pPr>
            <a:r>
              <a:rPr sz="1400" b="0" i="0">
                <a:solidFill>
                  <a:srgbClr val="64748B"/>
                </a:solidFill>
                <a:latin typeface="Calibri"/>
              </a:rPr>
              <a:t>M=7-day self-review written into deep memory</a:t>
            </a:r>
          </a:p>
        </p:txBody>
      </p:sp>
      <p:sp>
        <p:nvSpPr>
          <p:cNvPr id="29" name="Rounded Rectangle 28"/>
          <p:cNvSpPr/>
          <p:nvPr/>
        </p:nvSpPr>
        <p:spPr>
          <a:xfrm>
            <a:off x="548640" y="46177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Rectangle 29"/>
          <p:cNvSpPr/>
          <p:nvPr/>
        </p:nvSpPr>
        <p:spPr>
          <a:xfrm>
            <a:off x="749808" y="48737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1005840" y="48006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a:solidFill>
                  <a:srgbClr val="21295C"/>
                </a:solidFill>
                <a:latin typeface="Calibri"/>
              </a:rPr>
              <a:t>Deep-layer retention</a:t>
            </a:r>
          </a:p>
        </p:txBody>
      </p:sp>
      <p:sp>
        <p:nvSpPr>
          <p:cNvPr id="32" name="TextBox 31"/>
          <p:cNvSpPr txBox="1"/>
          <p:nvPr/>
        </p:nvSpPr>
        <p:spPr>
          <a:xfrm>
            <a:off x="1005840" y="5349240"/>
            <a:ext cx="2971800" cy="467820"/>
          </a:xfrm>
          <a:prstGeom prst="rect">
            <a:avLst/>
          </a:prstGeom>
          <a:noFill/>
        </p:spPr>
        <p:txBody>
          <a:bodyPr wrap="square" lIns="45720" tIns="18288" rIns="45720" bIns="18288" anchor="t">
            <a:spAutoFit/>
          </a:bodyPr>
          <a:lstStyle/>
          <a:p>
            <a:pPr algn="l">
              <a:lnSpc>
                <a:spcPct val="100000"/>
              </a:lnSpc>
              <a:spcAft>
                <a:spcPts val="400"/>
              </a:spcAft>
            </a:pPr>
            <a:r>
              <a:rPr lang="en-US" sz="1400" b="0" i="0" dirty="0">
                <a:solidFill>
                  <a:srgbClr val="64748B"/>
                </a:solidFill>
                <a:latin typeface="Calibri"/>
              </a:rPr>
              <a:t>Tweaked layer decay time so deep memory persists</a:t>
            </a:r>
            <a:endParaRPr sz="1400" b="0" i="0" dirty="0">
              <a:solidFill>
                <a:srgbClr val="64748B"/>
              </a:solidFill>
              <a:latin typeface="Calibri"/>
            </a:endParaRPr>
          </a:p>
        </p:txBody>
      </p:sp>
      <p:sp>
        <p:nvSpPr>
          <p:cNvPr id="33" name="Rounded Rectangle 32"/>
          <p:cNvSpPr/>
          <p:nvPr/>
        </p:nvSpPr>
        <p:spPr>
          <a:xfrm>
            <a:off x="4315968" y="46177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Rectangle 33"/>
          <p:cNvSpPr/>
          <p:nvPr/>
        </p:nvSpPr>
        <p:spPr>
          <a:xfrm>
            <a:off x="4517136" y="48737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4773168" y="48006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dirty="0">
                <a:solidFill>
                  <a:srgbClr val="21295C"/>
                </a:solidFill>
                <a:latin typeface="Calibri"/>
              </a:rPr>
              <a:t>Filing seeding</a:t>
            </a:r>
          </a:p>
        </p:txBody>
      </p:sp>
      <p:sp>
        <p:nvSpPr>
          <p:cNvPr id="36" name="TextBox 35"/>
          <p:cNvSpPr txBox="1"/>
          <p:nvPr/>
        </p:nvSpPr>
        <p:spPr>
          <a:xfrm>
            <a:off x="4773168" y="5349240"/>
            <a:ext cx="2971800" cy="467820"/>
          </a:xfrm>
          <a:prstGeom prst="rect">
            <a:avLst/>
          </a:prstGeom>
          <a:noFill/>
        </p:spPr>
        <p:txBody>
          <a:bodyPr wrap="square" lIns="45720" tIns="18288" rIns="45720" bIns="18288" anchor="t">
            <a:spAutoFit/>
          </a:bodyPr>
          <a:lstStyle/>
          <a:p>
            <a:pPr algn="l">
              <a:lnSpc>
                <a:spcPct val="100000"/>
              </a:lnSpc>
              <a:spcAft>
                <a:spcPts val="400"/>
              </a:spcAft>
            </a:pPr>
            <a:r>
              <a:rPr sz="1400" b="0" i="0" dirty="0">
                <a:solidFill>
                  <a:srgbClr val="64748B"/>
                </a:solidFill>
                <a:latin typeface="Calibri"/>
              </a:rPr>
              <a:t>inject latest 10-K/10-Q at sim start, true filed date</a:t>
            </a:r>
          </a:p>
        </p:txBody>
      </p:sp>
      <p:sp>
        <p:nvSpPr>
          <p:cNvPr id="37" name="Rounded Rectangle 36"/>
          <p:cNvSpPr/>
          <p:nvPr/>
        </p:nvSpPr>
        <p:spPr>
          <a:xfrm>
            <a:off x="8083296" y="4617720"/>
            <a:ext cx="356616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Rectangle 37"/>
          <p:cNvSpPr/>
          <p:nvPr/>
        </p:nvSpPr>
        <p:spPr>
          <a:xfrm>
            <a:off x="8284464" y="4873752"/>
            <a:ext cx="128016" cy="9509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8540496" y="4800600"/>
            <a:ext cx="2971800" cy="270843"/>
          </a:xfrm>
          <a:prstGeom prst="rect">
            <a:avLst/>
          </a:prstGeom>
          <a:noFill/>
        </p:spPr>
        <p:txBody>
          <a:bodyPr wrap="square" lIns="45720" tIns="18288" rIns="45720" bIns="18288" anchor="t">
            <a:spAutoFit/>
          </a:bodyPr>
          <a:lstStyle/>
          <a:p>
            <a:pPr algn="l">
              <a:lnSpc>
                <a:spcPct val="95000"/>
              </a:lnSpc>
              <a:spcAft>
                <a:spcPts val="400"/>
              </a:spcAft>
            </a:pPr>
            <a:r>
              <a:rPr sz="1600" b="1" i="0" dirty="0">
                <a:solidFill>
                  <a:srgbClr val="21295C"/>
                </a:solidFill>
                <a:latin typeface="Calibri"/>
              </a:rPr>
              <a:t>Leakage suite </a:t>
            </a:r>
            <a:r>
              <a:rPr lang="en-US" sz="1600" b="1" i="0" dirty="0">
                <a:solidFill>
                  <a:srgbClr val="21295C"/>
                </a:solidFill>
                <a:latin typeface="Calibri"/>
              </a:rPr>
              <a:t>T</a:t>
            </a:r>
            <a:r>
              <a:rPr lang="en-US" sz="1600" b="1" dirty="0">
                <a:solidFill>
                  <a:srgbClr val="21295C"/>
                </a:solidFill>
                <a:latin typeface="Calibri"/>
              </a:rPr>
              <a:t>ests</a:t>
            </a:r>
            <a:endParaRPr sz="1600" b="1" i="0" dirty="0">
              <a:solidFill>
                <a:srgbClr val="21295C"/>
              </a:solidFill>
              <a:latin typeface="Calibri"/>
            </a:endParaRPr>
          </a:p>
        </p:txBody>
      </p:sp>
      <p:sp>
        <p:nvSpPr>
          <p:cNvPr id="40" name="TextBox 39"/>
          <p:cNvSpPr txBox="1"/>
          <p:nvPr/>
        </p:nvSpPr>
        <p:spPr>
          <a:xfrm>
            <a:off x="8540496" y="5349240"/>
            <a:ext cx="2971800" cy="467820"/>
          </a:xfrm>
          <a:prstGeom prst="rect">
            <a:avLst/>
          </a:prstGeom>
          <a:noFill/>
        </p:spPr>
        <p:txBody>
          <a:bodyPr wrap="square" lIns="45720" tIns="18288" rIns="45720" bIns="18288" anchor="t">
            <a:spAutoFit/>
          </a:bodyPr>
          <a:lstStyle/>
          <a:p>
            <a:pPr algn="l">
              <a:lnSpc>
                <a:spcPct val="100000"/>
              </a:lnSpc>
              <a:spcAft>
                <a:spcPts val="400"/>
              </a:spcAft>
            </a:pPr>
            <a:r>
              <a:rPr sz="1400" b="0" i="0" dirty="0">
                <a:solidFill>
                  <a:srgbClr val="64748B"/>
                </a:solidFill>
                <a:latin typeface="Calibri"/>
              </a:rPr>
              <a:t>assert no future-dated data ever reaches the agent</a:t>
            </a:r>
          </a:p>
        </p:txBody>
      </p:sp>
      <p:sp>
        <p:nvSpPr>
          <p:cNvPr id="41" name="TextBox 40"/>
          <p:cNvSpPr txBox="1"/>
          <p:nvPr/>
        </p:nvSpPr>
        <p:spPr>
          <a:xfrm>
            <a:off x="548640" y="6473952"/>
            <a:ext cx="8229600" cy="190821"/>
          </a:xfrm>
          <a:prstGeom prst="rect">
            <a:avLst/>
          </a:prstGeom>
          <a:noFill/>
        </p:spPr>
        <p:txBody>
          <a:bodyPr wrap="square" lIns="45720" tIns="18288" rIns="45720" bIns="18288" anchor="t">
            <a:spAutoFit/>
          </a:bodyPr>
          <a:lstStyle/>
          <a:p>
            <a:pPr algn="l">
              <a:spcAft>
                <a:spcPts val="400"/>
              </a:spcAft>
            </a:pPr>
            <a:r>
              <a:rPr sz="1000" b="0" i="0">
                <a:solidFill>
                  <a:srgbClr val="64748B"/>
                </a:solidFill>
                <a:latin typeface="Calibri"/>
              </a:rPr>
              <a:t>FinMem - Implementation  -  Shoshan &amp; Sagi</a:t>
            </a:r>
          </a:p>
        </p:txBody>
      </p:sp>
      <p:sp>
        <p:nvSpPr>
          <p:cNvPr id="42" name="TextBox 41"/>
          <p:cNvSpPr txBox="1"/>
          <p:nvPr/>
        </p:nvSpPr>
        <p:spPr>
          <a:xfrm>
            <a:off x="10972800" y="6473952"/>
            <a:ext cx="731520" cy="190821"/>
          </a:xfrm>
          <a:prstGeom prst="rect">
            <a:avLst/>
          </a:prstGeom>
          <a:noFill/>
        </p:spPr>
        <p:txBody>
          <a:bodyPr wrap="square" lIns="45720" tIns="18288" rIns="45720" bIns="18288" anchor="t">
            <a:spAutoFit/>
          </a:bodyPr>
          <a:lstStyle/>
          <a:p>
            <a:pPr algn="r">
              <a:spcAft>
                <a:spcPts val="400"/>
              </a:spcAft>
            </a:pPr>
            <a:r>
              <a:rPr sz="1000" b="0" i="0">
                <a:solidFill>
                  <a:srgbClr val="64748B"/>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ARCHITECTURE</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System design</a:t>
            </a:r>
          </a:p>
        </p:txBody>
      </p:sp>
      <p:sp>
        <p:nvSpPr>
          <p:cNvPr id="5" name="Rounded Rectangle 4"/>
          <p:cNvSpPr/>
          <p:nvPr/>
        </p:nvSpPr>
        <p:spPr>
          <a:xfrm>
            <a:off x="548640" y="1554480"/>
            <a:ext cx="2651760" cy="1737360"/>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685800" y="1682495"/>
            <a:ext cx="2377440" cy="344710"/>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Data pipeline</a:t>
            </a:r>
          </a:p>
        </p:txBody>
      </p:sp>
      <p:sp>
        <p:nvSpPr>
          <p:cNvPr id="7" name="TextBox 6"/>
          <p:cNvSpPr txBox="1"/>
          <p:nvPr/>
        </p:nvSpPr>
        <p:spPr>
          <a:xfrm>
            <a:off x="658368" y="2157984"/>
            <a:ext cx="2432304" cy="975652"/>
          </a:xfrm>
          <a:prstGeom prst="rect">
            <a:avLst/>
          </a:prstGeom>
          <a:noFill/>
        </p:spPr>
        <p:txBody>
          <a:bodyPr wrap="square" lIns="45720" tIns="18288" rIns="45720" bIns="18288" anchor="t">
            <a:spAutoFit/>
          </a:bodyPr>
          <a:lstStyle/>
          <a:p>
            <a:pPr algn="ctr">
              <a:lnSpc>
                <a:spcPct val="100000"/>
              </a:lnSpc>
              <a:spcAft>
                <a:spcPts val="200"/>
              </a:spcAft>
            </a:pPr>
            <a:r>
              <a:rPr sz="1400" b="0" i="0">
                <a:solidFill>
                  <a:srgbClr val="FFFFFF"/>
                </a:solidFill>
                <a:latin typeface="Calibri"/>
              </a:rPr>
              <a:t>Alpaca news + SEC 10-K/Q
+ yfinance prices
-&gt; Gemini summary
-&gt; FinBERT sentiment</a:t>
            </a:r>
          </a:p>
        </p:txBody>
      </p:sp>
      <p:sp>
        <p:nvSpPr>
          <p:cNvPr id="8" name="Rounded Rectangle 7"/>
          <p:cNvSpPr/>
          <p:nvPr/>
        </p:nvSpPr>
        <p:spPr>
          <a:xfrm>
            <a:off x="3429000" y="1554480"/>
            <a:ext cx="2743200" cy="1737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TextBox 8"/>
          <p:cNvSpPr txBox="1"/>
          <p:nvPr/>
        </p:nvSpPr>
        <p:spPr>
          <a:xfrm>
            <a:off x="3566160" y="1682495"/>
            <a:ext cx="2468880" cy="344710"/>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FinMem agent x5</a:t>
            </a:r>
          </a:p>
        </p:txBody>
      </p:sp>
      <p:sp>
        <p:nvSpPr>
          <p:cNvPr id="10" name="TextBox 9"/>
          <p:cNvSpPr txBox="1"/>
          <p:nvPr/>
        </p:nvSpPr>
        <p:spPr>
          <a:xfrm>
            <a:off x="3538728" y="2157984"/>
            <a:ext cx="2523744" cy="975652"/>
          </a:xfrm>
          <a:prstGeom prst="rect">
            <a:avLst/>
          </a:prstGeom>
          <a:noFill/>
        </p:spPr>
        <p:txBody>
          <a:bodyPr wrap="square" lIns="45720" tIns="18288" rIns="45720" bIns="18288" anchor="t">
            <a:spAutoFit/>
          </a:bodyPr>
          <a:lstStyle/>
          <a:p>
            <a:pPr algn="ctr">
              <a:lnSpc>
                <a:spcPct val="100000"/>
              </a:lnSpc>
              <a:spcAft>
                <a:spcPts val="200"/>
              </a:spcAft>
            </a:pPr>
            <a:r>
              <a:rPr sz="1400" b="0" i="0">
                <a:solidFill>
                  <a:srgbClr val="FFFFFF"/>
                </a:solidFill>
                <a:latin typeface="Calibri"/>
              </a:rPr>
              <a:t>Profiling (adaptive persona)
Layered memory (FAISS)
retrieve -&gt; reason -&gt; act
immediate + extended reflection</a:t>
            </a:r>
          </a:p>
        </p:txBody>
      </p:sp>
      <p:sp>
        <p:nvSpPr>
          <p:cNvPr id="11" name="Rounded Rectangle 10"/>
          <p:cNvSpPr/>
          <p:nvPr/>
        </p:nvSpPr>
        <p:spPr>
          <a:xfrm>
            <a:off x="6400800" y="1554480"/>
            <a:ext cx="2651760" cy="1737360"/>
          </a:xfrm>
          <a:prstGeom prst="round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6537960" y="1682495"/>
            <a:ext cx="2377440" cy="344710"/>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Portfolio layer</a:t>
            </a:r>
          </a:p>
        </p:txBody>
      </p:sp>
      <p:sp>
        <p:nvSpPr>
          <p:cNvPr id="13" name="TextBox 12"/>
          <p:cNvSpPr txBox="1"/>
          <p:nvPr/>
        </p:nvSpPr>
        <p:spPr>
          <a:xfrm>
            <a:off x="6510528" y="2157984"/>
            <a:ext cx="2432304" cy="975652"/>
          </a:xfrm>
          <a:prstGeom prst="rect">
            <a:avLst/>
          </a:prstGeom>
          <a:noFill/>
        </p:spPr>
        <p:txBody>
          <a:bodyPr wrap="square" lIns="45720" tIns="18288" rIns="45720" bIns="18288" anchor="t">
            <a:spAutoFit/>
          </a:bodyPr>
          <a:lstStyle/>
          <a:p>
            <a:pPr algn="ctr">
              <a:lnSpc>
                <a:spcPct val="100000"/>
              </a:lnSpc>
              <a:spcAft>
                <a:spcPts val="200"/>
              </a:spcAft>
            </a:pPr>
            <a:r>
              <a:rPr sz="1400" b="0" i="0">
                <a:solidFill>
                  <a:srgbClr val="FFFFFF"/>
                </a:solidFill>
                <a:latin typeface="Calibri"/>
              </a:rPr>
              <a:t>1 daily call over all 5
decisions + reasoning
-&gt; portfolio weights
(our extension)</a:t>
            </a:r>
          </a:p>
        </p:txBody>
      </p:sp>
      <p:sp>
        <p:nvSpPr>
          <p:cNvPr id="14" name="Rounded Rectangle 13"/>
          <p:cNvSpPr/>
          <p:nvPr/>
        </p:nvSpPr>
        <p:spPr>
          <a:xfrm>
            <a:off x="9281160" y="1554480"/>
            <a:ext cx="2331720" cy="1737360"/>
          </a:xfrm>
          <a:prstGeom prst="round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9418320" y="1682495"/>
            <a:ext cx="2057400" cy="344710"/>
          </a:xfrm>
          <a:prstGeom prst="rect">
            <a:avLst/>
          </a:prstGeom>
          <a:noFill/>
        </p:spPr>
        <p:txBody>
          <a:bodyPr wrap="square" lIns="45720" tIns="18288" rIns="45720" bIns="18288" anchor="t">
            <a:spAutoFit/>
          </a:bodyPr>
          <a:lstStyle/>
          <a:p>
            <a:pPr algn="ctr">
              <a:spcAft>
                <a:spcPts val="400"/>
              </a:spcAft>
            </a:pPr>
            <a:r>
              <a:rPr sz="2000" b="1" i="0">
                <a:solidFill>
                  <a:srgbClr val="FFFFFF"/>
                </a:solidFill>
                <a:latin typeface="Calibri"/>
              </a:rPr>
              <a:t>Evaluation</a:t>
            </a:r>
          </a:p>
        </p:txBody>
      </p:sp>
      <p:sp>
        <p:nvSpPr>
          <p:cNvPr id="16" name="TextBox 15"/>
          <p:cNvSpPr txBox="1"/>
          <p:nvPr/>
        </p:nvSpPr>
        <p:spPr>
          <a:xfrm>
            <a:off x="9390888" y="2157984"/>
            <a:ext cx="2112263" cy="975652"/>
          </a:xfrm>
          <a:prstGeom prst="rect">
            <a:avLst/>
          </a:prstGeom>
          <a:noFill/>
        </p:spPr>
        <p:txBody>
          <a:bodyPr wrap="square" lIns="45720" tIns="18288" rIns="45720" bIns="18288" anchor="t">
            <a:spAutoFit/>
          </a:bodyPr>
          <a:lstStyle/>
          <a:p>
            <a:pPr algn="ctr">
              <a:lnSpc>
                <a:spcPct val="100000"/>
              </a:lnSpc>
              <a:spcAft>
                <a:spcPts val="200"/>
              </a:spcAft>
            </a:pPr>
            <a:r>
              <a:rPr sz="1400" b="0" i="0" dirty="0">
                <a:solidFill>
                  <a:srgbClr val="FFFFFF"/>
                </a:solidFill>
                <a:latin typeface="Calibri"/>
              </a:rPr>
              <a:t>metrics +/- costs
</a:t>
            </a:r>
            <a:r>
              <a:rPr lang="en-US" sz="1400" dirty="0">
                <a:solidFill>
                  <a:srgbClr val="FFFFFF"/>
                </a:solidFill>
              </a:rPr>
              <a:t>Wilcoxon</a:t>
            </a:r>
            <a:r>
              <a:rPr sz="1400" b="0" i="0" dirty="0">
                <a:solidFill>
                  <a:srgbClr val="FFFFFF"/>
                </a:solidFill>
                <a:latin typeface="Calibri"/>
              </a:rPr>
              <a:t>, bootstrap
</a:t>
            </a:r>
            <a:r>
              <a:rPr lang="en-US" sz="1400" b="0" i="0" dirty="0">
                <a:solidFill>
                  <a:srgbClr val="FFFFFF"/>
                </a:solidFill>
                <a:latin typeface="Calibri"/>
              </a:rPr>
              <a:t>B&amp;H</a:t>
            </a:r>
            <a:r>
              <a:rPr sz="1400" b="0" i="0" dirty="0">
                <a:solidFill>
                  <a:srgbClr val="FFFFFF"/>
                </a:solidFill>
                <a:latin typeface="Calibri"/>
              </a:rPr>
              <a:t> + no-memory
baselines</a:t>
            </a:r>
          </a:p>
        </p:txBody>
      </p:sp>
      <p:sp>
        <p:nvSpPr>
          <p:cNvPr id="17" name="Right Arrow 16"/>
          <p:cNvSpPr/>
          <p:nvPr/>
        </p:nvSpPr>
        <p:spPr>
          <a:xfrm>
            <a:off x="3200400" y="2240280"/>
            <a:ext cx="256032" cy="36576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Right Arrow 17"/>
          <p:cNvSpPr/>
          <p:nvPr/>
        </p:nvSpPr>
        <p:spPr>
          <a:xfrm>
            <a:off x="6199632" y="2240280"/>
            <a:ext cx="256032" cy="36576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Right Arrow 18"/>
          <p:cNvSpPr/>
          <p:nvPr/>
        </p:nvSpPr>
        <p:spPr>
          <a:xfrm>
            <a:off x="9079992" y="2240280"/>
            <a:ext cx="256032" cy="36576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548640" y="3657600"/>
            <a:ext cx="11064240" cy="313932"/>
          </a:xfrm>
          <a:prstGeom prst="rect">
            <a:avLst/>
          </a:prstGeom>
          <a:noFill/>
        </p:spPr>
        <p:txBody>
          <a:bodyPr wrap="square" lIns="45720" tIns="18288" rIns="45720" bIns="18288" anchor="t">
            <a:spAutoFit/>
          </a:bodyPr>
          <a:lstStyle/>
          <a:p>
            <a:pPr algn="l">
              <a:spcAft>
                <a:spcPts val="400"/>
              </a:spcAft>
            </a:pPr>
            <a:r>
              <a:rPr b="0" i="0" dirty="0">
                <a:solidFill>
                  <a:srgbClr val="64748B"/>
                </a:solidFill>
                <a:latin typeface="Calibri"/>
              </a:rPr>
              <a:t>Frozen before any test run:  K=5 - M=7 - decay Q=14/90/365 - long-only - temperature pinned</a:t>
            </a:r>
          </a:p>
        </p:txBody>
      </p:sp>
      <p:sp>
        <p:nvSpPr>
          <p:cNvPr id="21" name="Rounded Rectangle 20"/>
          <p:cNvSpPr/>
          <p:nvPr/>
        </p:nvSpPr>
        <p:spPr>
          <a:xfrm>
            <a:off x="548640" y="4251960"/>
            <a:ext cx="11091672" cy="178308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777240" y="4389120"/>
            <a:ext cx="10607040" cy="344710"/>
          </a:xfrm>
          <a:prstGeom prst="rect">
            <a:avLst/>
          </a:prstGeom>
          <a:noFill/>
        </p:spPr>
        <p:txBody>
          <a:bodyPr wrap="square" lIns="45720" tIns="18288" rIns="45720" bIns="18288" anchor="t">
            <a:spAutoFit/>
          </a:bodyPr>
          <a:lstStyle/>
          <a:p>
            <a:pPr algn="l">
              <a:spcAft>
                <a:spcPts val="400"/>
              </a:spcAft>
            </a:pPr>
            <a:r>
              <a:rPr sz="2000" b="1" i="0">
                <a:solidFill>
                  <a:srgbClr val="21295C"/>
                </a:solidFill>
                <a:latin typeface="Calibri"/>
              </a:rPr>
              <a:t>MODELS &amp; COST  -  whole project ran for </a:t>
            </a:r>
            <a:r>
              <a:rPr lang="he-IL" sz="2000" b="1" i="0">
                <a:solidFill>
                  <a:srgbClr val="21295C"/>
                </a:solidFill>
                <a:latin typeface="Calibri"/>
              </a:rPr>
              <a:t>~</a:t>
            </a:r>
            <a:r>
              <a:rPr sz="2000" b="1" i="0">
                <a:solidFill>
                  <a:srgbClr val="21295C"/>
                </a:solidFill>
                <a:latin typeface="Calibri"/>
              </a:rPr>
              <a:t>$10</a:t>
            </a:r>
          </a:p>
        </p:txBody>
      </p:sp>
      <p:sp>
        <p:nvSpPr>
          <p:cNvPr id="23" name="TextBox 22"/>
          <p:cNvSpPr txBox="1"/>
          <p:nvPr/>
        </p:nvSpPr>
        <p:spPr>
          <a:xfrm>
            <a:off x="777240" y="4846320"/>
            <a:ext cx="2606040" cy="313932"/>
          </a:xfrm>
          <a:prstGeom prst="rect">
            <a:avLst/>
          </a:prstGeom>
          <a:noFill/>
        </p:spPr>
        <p:txBody>
          <a:bodyPr wrap="square" lIns="45720" tIns="18288" rIns="45720" bIns="18288" anchor="t">
            <a:spAutoFit/>
          </a:bodyPr>
          <a:lstStyle/>
          <a:p>
            <a:pPr algn="l">
              <a:spcAft>
                <a:spcPts val="400"/>
              </a:spcAft>
            </a:pPr>
            <a:r>
              <a:rPr b="1" i="0">
                <a:solidFill>
                  <a:srgbClr val="64748B"/>
                </a:solidFill>
                <a:latin typeface="Calibri"/>
              </a:rPr>
              <a:t>Summariser</a:t>
            </a:r>
          </a:p>
        </p:txBody>
      </p:sp>
      <p:sp>
        <p:nvSpPr>
          <p:cNvPr id="24" name="TextBox 23"/>
          <p:cNvSpPr txBox="1"/>
          <p:nvPr/>
        </p:nvSpPr>
        <p:spPr>
          <a:xfrm>
            <a:off x="777240" y="5138928"/>
            <a:ext cx="2606040" cy="313932"/>
          </a:xfrm>
          <a:prstGeom prst="rect">
            <a:avLst/>
          </a:prstGeom>
          <a:noFill/>
        </p:spPr>
        <p:txBody>
          <a:bodyPr wrap="square" lIns="45720" tIns="18288" rIns="45720" bIns="18288" anchor="t">
            <a:spAutoFit/>
          </a:bodyPr>
          <a:lstStyle/>
          <a:p>
            <a:pPr algn="l">
              <a:spcAft>
                <a:spcPts val="400"/>
              </a:spcAft>
            </a:pPr>
            <a:r>
              <a:rPr b="1" i="0">
                <a:solidFill>
                  <a:srgbClr val="21295C"/>
                </a:solidFill>
                <a:latin typeface="Calibri"/>
              </a:rPr>
              <a:t>Gemini 3 Flash-Lite</a:t>
            </a:r>
          </a:p>
        </p:txBody>
      </p:sp>
      <p:sp>
        <p:nvSpPr>
          <p:cNvPr id="25" name="TextBox 24"/>
          <p:cNvSpPr txBox="1"/>
          <p:nvPr/>
        </p:nvSpPr>
        <p:spPr>
          <a:xfrm>
            <a:off x="777240" y="5486400"/>
            <a:ext cx="2606040" cy="283154"/>
          </a:xfrm>
          <a:prstGeom prst="rect">
            <a:avLst/>
          </a:prstGeom>
          <a:noFill/>
        </p:spPr>
        <p:txBody>
          <a:bodyPr wrap="square" lIns="45720" tIns="18288" rIns="45720" bIns="18288" anchor="t">
            <a:spAutoFit/>
          </a:bodyPr>
          <a:lstStyle/>
          <a:p>
            <a:pPr algn="l">
              <a:spcAft>
                <a:spcPts val="400"/>
              </a:spcAft>
            </a:pPr>
            <a:r>
              <a:rPr sz="1600" b="0" i="0">
                <a:solidFill>
                  <a:srgbClr val="1C7293"/>
                </a:solidFill>
                <a:latin typeface="Calibri"/>
              </a:rPr>
              <a:t>cutoff Jan 2025 </a:t>
            </a:r>
            <a:r>
              <a:rPr lang="he-IL" sz="1600">
                <a:solidFill>
                  <a:srgbClr val="1C7293"/>
                </a:solidFill>
                <a:latin typeface="Calibri"/>
              </a:rPr>
              <a:t> </a:t>
            </a:r>
            <a:r>
              <a:rPr sz="1600" b="0" i="0">
                <a:solidFill>
                  <a:srgbClr val="1C7293"/>
                </a:solidFill>
                <a:latin typeface="Calibri"/>
              </a:rPr>
              <a:t>$6.95</a:t>
            </a:r>
          </a:p>
        </p:txBody>
      </p:sp>
      <p:sp>
        <p:nvSpPr>
          <p:cNvPr id="26" name="TextBox 25"/>
          <p:cNvSpPr txBox="1"/>
          <p:nvPr/>
        </p:nvSpPr>
        <p:spPr>
          <a:xfrm>
            <a:off x="3493008" y="4846320"/>
            <a:ext cx="2606040" cy="313932"/>
          </a:xfrm>
          <a:prstGeom prst="rect">
            <a:avLst/>
          </a:prstGeom>
          <a:noFill/>
        </p:spPr>
        <p:txBody>
          <a:bodyPr wrap="square" lIns="45720" tIns="18288" rIns="45720" bIns="18288" anchor="t">
            <a:spAutoFit/>
          </a:bodyPr>
          <a:lstStyle/>
          <a:p>
            <a:pPr algn="l">
              <a:spcAft>
                <a:spcPts val="400"/>
              </a:spcAft>
            </a:pPr>
            <a:r>
              <a:rPr b="1" i="0">
                <a:solidFill>
                  <a:srgbClr val="64748B"/>
                </a:solidFill>
                <a:latin typeface="Calibri"/>
              </a:rPr>
              <a:t>Decision agent</a:t>
            </a:r>
          </a:p>
        </p:txBody>
      </p:sp>
      <p:sp>
        <p:nvSpPr>
          <p:cNvPr id="27" name="TextBox 26"/>
          <p:cNvSpPr txBox="1"/>
          <p:nvPr/>
        </p:nvSpPr>
        <p:spPr>
          <a:xfrm>
            <a:off x="3493008" y="5138928"/>
            <a:ext cx="2606040" cy="313932"/>
          </a:xfrm>
          <a:prstGeom prst="rect">
            <a:avLst/>
          </a:prstGeom>
          <a:noFill/>
        </p:spPr>
        <p:txBody>
          <a:bodyPr wrap="square" lIns="45720" tIns="18288" rIns="45720" bIns="18288" anchor="t">
            <a:spAutoFit/>
          </a:bodyPr>
          <a:lstStyle/>
          <a:p>
            <a:pPr algn="l">
              <a:spcAft>
                <a:spcPts val="400"/>
              </a:spcAft>
            </a:pPr>
            <a:r>
              <a:rPr b="1" i="0">
                <a:solidFill>
                  <a:srgbClr val="21295C"/>
                </a:solidFill>
                <a:latin typeface="Calibri"/>
              </a:rPr>
              <a:t>gpt-4.1-mini</a:t>
            </a:r>
          </a:p>
        </p:txBody>
      </p:sp>
      <p:sp>
        <p:nvSpPr>
          <p:cNvPr id="28" name="TextBox 27"/>
          <p:cNvSpPr txBox="1"/>
          <p:nvPr/>
        </p:nvSpPr>
        <p:spPr>
          <a:xfrm>
            <a:off x="3493008" y="5486400"/>
            <a:ext cx="2606040" cy="283154"/>
          </a:xfrm>
          <a:prstGeom prst="rect">
            <a:avLst/>
          </a:prstGeom>
          <a:noFill/>
        </p:spPr>
        <p:txBody>
          <a:bodyPr wrap="square" lIns="45720" tIns="18288" rIns="45720" bIns="18288" anchor="t">
            <a:spAutoFit/>
          </a:bodyPr>
          <a:lstStyle/>
          <a:p>
            <a:pPr algn="l">
              <a:spcAft>
                <a:spcPts val="400"/>
              </a:spcAft>
            </a:pPr>
            <a:r>
              <a:rPr sz="1600" b="0" i="0">
                <a:solidFill>
                  <a:srgbClr val="1C7293"/>
                </a:solidFill>
                <a:latin typeface="Calibri"/>
              </a:rPr>
              <a:t>cutoff Jun 2024  $1.66</a:t>
            </a:r>
          </a:p>
        </p:txBody>
      </p:sp>
      <p:sp>
        <p:nvSpPr>
          <p:cNvPr id="29" name="TextBox 28"/>
          <p:cNvSpPr txBox="1"/>
          <p:nvPr/>
        </p:nvSpPr>
        <p:spPr>
          <a:xfrm>
            <a:off x="6208776" y="4846320"/>
            <a:ext cx="2606040" cy="313932"/>
          </a:xfrm>
          <a:prstGeom prst="rect">
            <a:avLst/>
          </a:prstGeom>
          <a:noFill/>
        </p:spPr>
        <p:txBody>
          <a:bodyPr wrap="square" lIns="45720" tIns="18288" rIns="45720" bIns="18288" anchor="t">
            <a:spAutoFit/>
          </a:bodyPr>
          <a:lstStyle/>
          <a:p>
            <a:pPr algn="l">
              <a:spcAft>
                <a:spcPts val="400"/>
              </a:spcAft>
            </a:pPr>
            <a:r>
              <a:rPr b="1" i="0">
                <a:solidFill>
                  <a:srgbClr val="64748B"/>
                </a:solidFill>
                <a:latin typeface="Calibri"/>
              </a:rPr>
              <a:t>Embeddings</a:t>
            </a:r>
          </a:p>
        </p:txBody>
      </p:sp>
      <p:sp>
        <p:nvSpPr>
          <p:cNvPr id="30" name="TextBox 29"/>
          <p:cNvSpPr txBox="1"/>
          <p:nvPr/>
        </p:nvSpPr>
        <p:spPr>
          <a:xfrm>
            <a:off x="6208776" y="5138928"/>
            <a:ext cx="2606040" cy="313932"/>
          </a:xfrm>
          <a:prstGeom prst="rect">
            <a:avLst/>
          </a:prstGeom>
          <a:noFill/>
        </p:spPr>
        <p:txBody>
          <a:bodyPr wrap="square" lIns="45720" tIns="18288" rIns="45720" bIns="18288" anchor="t">
            <a:spAutoFit/>
          </a:bodyPr>
          <a:lstStyle/>
          <a:p>
            <a:pPr algn="l">
              <a:spcAft>
                <a:spcPts val="400"/>
              </a:spcAft>
            </a:pPr>
            <a:r>
              <a:rPr b="1" i="0">
                <a:solidFill>
                  <a:srgbClr val="21295C"/>
                </a:solidFill>
                <a:latin typeface="Calibri"/>
              </a:rPr>
              <a:t>ada-002</a:t>
            </a:r>
          </a:p>
        </p:txBody>
      </p:sp>
      <p:sp>
        <p:nvSpPr>
          <p:cNvPr id="31" name="TextBox 30"/>
          <p:cNvSpPr txBox="1"/>
          <p:nvPr/>
        </p:nvSpPr>
        <p:spPr>
          <a:xfrm>
            <a:off x="6208776" y="5486400"/>
            <a:ext cx="2606040" cy="283154"/>
          </a:xfrm>
          <a:prstGeom prst="rect">
            <a:avLst/>
          </a:prstGeom>
          <a:noFill/>
        </p:spPr>
        <p:txBody>
          <a:bodyPr wrap="square" lIns="45720" tIns="18288" rIns="45720" bIns="18288" anchor="t">
            <a:spAutoFit/>
          </a:bodyPr>
          <a:lstStyle/>
          <a:p>
            <a:pPr algn="l">
              <a:spcAft>
                <a:spcPts val="400"/>
              </a:spcAft>
            </a:pPr>
            <a:r>
              <a:rPr sz="1600" b="0" i="0">
                <a:solidFill>
                  <a:srgbClr val="1C7293"/>
                </a:solidFill>
                <a:latin typeface="Calibri"/>
              </a:rPr>
              <a:t>paper spec  </a:t>
            </a:r>
            <a:r>
              <a:rPr lang="he-IL" sz="1600">
                <a:solidFill>
                  <a:srgbClr val="1C7293"/>
                </a:solidFill>
                <a:latin typeface="Calibri"/>
              </a:rPr>
              <a:t>~</a:t>
            </a:r>
            <a:r>
              <a:rPr sz="1600" b="0" i="0">
                <a:solidFill>
                  <a:srgbClr val="1C7293"/>
                </a:solidFill>
                <a:latin typeface="Calibri"/>
              </a:rPr>
              <a:t>$1.50</a:t>
            </a:r>
          </a:p>
        </p:txBody>
      </p:sp>
      <p:sp>
        <p:nvSpPr>
          <p:cNvPr id="32" name="TextBox 31"/>
          <p:cNvSpPr txBox="1"/>
          <p:nvPr/>
        </p:nvSpPr>
        <p:spPr>
          <a:xfrm>
            <a:off x="8924544" y="4846320"/>
            <a:ext cx="2606040" cy="313932"/>
          </a:xfrm>
          <a:prstGeom prst="rect">
            <a:avLst/>
          </a:prstGeom>
          <a:noFill/>
        </p:spPr>
        <p:txBody>
          <a:bodyPr wrap="square" lIns="45720" tIns="18288" rIns="45720" bIns="18288" anchor="t">
            <a:spAutoFit/>
          </a:bodyPr>
          <a:lstStyle/>
          <a:p>
            <a:pPr algn="l">
              <a:spcAft>
                <a:spcPts val="400"/>
              </a:spcAft>
            </a:pPr>
            <a:r>
              <a:rPr b="1" i="0">
                <a:solidFill>
                  <a:srgbClr val="64748B"/>
                </a:solidFill>
                <a:latin typeface="Calibri"/>
              </a:rPr>
              <a:t>Sentiment</a:t>
            </a:r>
          </a:p>
        </p:txBody>
      </p:sp>
      <p:sp>
        <p:nvSpPr>
          <p:cNvPr id="33" name="TextBox 32"/>
          <p:cNvSpPr txBox="1"/>
          <p:nvPr/>
        </p:nvSpPr>
        <p:spPr>
          <a:xfrm>
            <a:off x="8924544" y="5138928"/>
            <a:ext cx="2606040" cy="313932"/>
          </a:xfrm>
          <a:prstGeom prst="rect">
            <a:avLst/>
          </a:prstGeom>
          <a:noFill/>
        </p:spPr>
        <p:txBody>
          <a:bodyPr wrap="square" lIns="45720" tIns="18288" rIns="45720" bIns="18288" anchor="t">
            <a:spAutoFit/>
          </a:bodyPr>
          <a:lstStyle/>
          <a:p>
            <a:pPr algn="l">
              <a:spcAft>
                <a:spcPts val="400"/>
              </a:spcAft>
            </a:pPr>
            <a:r>
              <a:rPr lang="en-US" b="1" i="0" err="1">
                <a:solidFill>
                  <a:srgbClr val="21295C"/>
                </a:solidFill>
                <a:latin typeface="Calibri"/>
              </a:rPr>
              <a:t>FinBERT</a:t>
            </a:r>
            <a:endParaRPr b="1" i="0" dirty="0">
              <a:solidFill>
                <a:srgbClr val="21295C"/>
              </a:solidFill>
              <a:latin typeface="Calibri"/>
            </a:endParaRPr>
          </a:p>
        </p:txBody>
      </p:sp>
      <p:sp>
        <p:nvSpPr>
          <p:cNvPr id="34" name="TextBox 33"/>
          <p:cNvSpPr txBox="1"/>
          <p:nvPr/>
        </p:nvSpPr>
        <p:spPr>
          <a:xfrm>
            <a:off x="8924544" y="5486400"/>
            <a:ext cx="2606040" cy="283154"/>
          </a:xfrm>
          <a:prstGeom prst="rect">
            <a:avLst/>
          </a:prstGeom>
          <a:noFill/>
        </p:spPr>
        <p:txBody>
          <a:bodyPr wrap="square" lIns="45720" tIns="18288" rIns="45720" bIns="18288" anchor="t">
            <a:spAutoFit/>
          </a:bodyPr>
          <a:lstStyle/>
          <a:p>
            <a:pPr algn="l">
              <a:spcAft>
                <a:spcPts val="400"/>
              </a:spcAft>
            </a:pPr>
            <a:r>
              <a:rPr sz="1600" b="0" i="0">
                <a:solidFill>
                  <a:srgbClr val="1C7293"/>
                </a:solidFill>
                <a:latin typeface="Calibri"/>
              </a:rPr>
              <a:t>free</a:t>
            </a:r>
          </a:p>
        </p:txBody>
      </p:sp>
      <p:sp>
        <p:nvSpPr>
          <p:cNvPr id="35" name="TextBox 34"/>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36" name="TextBox 35"/>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r>
              <a:rPr sz="900" b="0" i="0">
                <a:solidFill>
                  <a:srgbClr val="64748B"/>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338554"/>
          </a:xfrm>
          <a:prstGeom prst="rect">
            <a:avLst/>
          </a:prstGeom>
          <a:noFill/>
        </p:spPr>
        <p:txBody>
          <a:bodyPr wrap="square" anchor="t">
            <a:spAutoFit/>
          </a:bodyPr>
          <a:lstStyle/>
          <a:p>
            <a:pPr algn="l">
              <a:spcBef>
                <a:spcPts val="0"/>
              </a:spcBef>
              <a:spcAft>
                <a:spcPts val="200"/>
              </a:spcAft>
            </a:pPr>
            <a:r>
              <a:rPr sz="1600" b="1">
                <a:solidFill>
                  <a:srgbClr val="1C7293"/>
                </a:solidFill>
                <a:latin typeface="Calibri"/>
              </a:rPr>
              <a:t>MODELS &amp; COST</a:t>
            </a:r>
          </a:p>
        </p:txBody>
      </p:sp>
      <p:sp>
        <p:nvSpPr>
          <p:cNvPr id="4" name="TextBox 3"/>
          <p:cNvSpPr txBox="1"/>
          <p:nvPr/>
        </p:nvSpPr>
        <p:spPr>
          <a:xfrm>
            <a:off x="548640" y="530352"/>
            <a:ext cx="11064240" cy="646331"/>
          </a:xfrm>
          <a:prstGeom prst="rect">
            <a:avLst/>
          </a:prstGeom>
          <a:noFill/>
        </p:spPr>
        <p:txBody>
          <a:bodyPr wrap="square" anchor="t">
            <a:spAutoFit/>
          </a:bodyPr>
          <a:lstStyle/>
          <a:p>
            <a:pPr algn="l">
              <a:spcBef>
                <a:spcPts val="0"/>
              </a:spcBef>
              <a:spcAft>
                <a:spcPts val="200"/>
              </a:spcAft>
            </a:pPr>
            <a:r>
              <a:rPr sz="3600" b="1">
                <a:solidFill>
                  <a:srgbClr val="21295C"/>
                </a:solidFill>
                <a:latin typeface="Cambria"/>
              </a:rPr>
              <a:t>What we compared - and why we chose</a:t>
            </a:r>
          </a:p>
        </p:txBody>
      </p:sp>
      <p:sp>
        <p:nvSpPr>
          <p:cNvPr id="5" name="TextBox 4"/>
          <p:cNvSpPr txBox="1"/>
          <p:nvPr/>
        </p:nvSpPr>
        <p:spPr>
          <a:xfrm>
            <a:off x="548640" y="1240288"/>
            <a:ext cx="10424160" cy="338554"/>
          </a:xfrm>
          <a:prstGeom prst="rect">
            <a:avLst/>
          </a:prstGeom>
          <a:noFill/>
        </p:spPr>
        <p:txBody>
          <a:bodyPr wrap="square" anchor="t">
            <a:spAutoFit/>
          </a:bodyPr>
          <a:lstStyle/>
          <a:p>
            <a:pPr algn="l">
              <a:spcBef>
                <a:spcPts val="0"/>
              </a:spcBef>
              <a:spcAft>
                <a:spcPts val="200"/>
              </a:spcAft>
            </a:pPr>
            <a:r>
              <a:rPr lang="en-US" sz="1600" b="0">
                <a:solidFill>
                  <a:srgbClr val="64748B"/>
                </a:solidFill>
                <a:latin typeface="Calibri"/>
              </a:rPr>
              <a:t>One</a:t>
            </a:r>
            <a:r>
              <a:rPr sz="1600" b="0">
                <a:solidFill>
                  <a:srgbClr val="64748B"/>
                </a:solidFill>
                <a:latin typeface="Calibri"/>
              </a:rPr>
              <a:t> hard </a:t>
            </a:r>
            <a:r>
              <a:rPr lang="en-US" sz="1600" b="0">
                <a:solidFill>
                  <a:srgbClr val="64748B"/>
                </a:solidFill>
                <a:latin typeface="Calibri"/>
              </a:rPr>
              <a:t>constraint</a:t>
            </a:r>
            <a:r>
              <a:rPr sz="1600" b="0">
                <a:solidFill>
                  <a:srgbClr val="64748B"/>
                </a:solidFill>
                <a:latin typeface="Calibri"/>
              </a:rPr>
              <a:t> drove every choice: model cutoff must PRECEDE the 2025-26 data</a:t>
            </a:r>
            <a:r>
              <a:rPr lang="en-US" sz="1600">
                <a:solidFill>
                  <a:srgbClr val="64748B"/>
                </a:solidFill>
                <a:latin typeface="Calibri"/>
              </a:rPr>
              <a:t> (no leakage).</a:t>
            </a:r>
            <a:endParaRPr sz="1600" b="0">
              <a:solidFill>
                <a:srgbClr val="64748B"/>
              </a:solidFill>
              <a:latin typeface="Calibri"/>
            </a:endParaRPr>
          </a:p>
        </p:txBody>
      </p:sp>
      <p:sp>
        <p:nvSpPr>
          <p:cNvPr id="6" name="TextBox 5"/>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7" name="TextBox 6"/>
          <p:cNvSpPr txBox="1"/>
          <p:nvPr/>
        </p:nvSpPr>
        <p:spPr>
          <a:xfrm>
            <a:off x="10972800" y="6473952"/>
            <a:ext cx="731520" cy="274320"/>
          </a:xfrm>
          <a:prstGeom prst="rect">
            <a:avLst/>
          </a:prstGeom>
          <a:noFill/>
        </p:spPr>
        <p:txBody>
          <a:bodyPr wrap="square" anchor="t">
            <a:spAutoFit/>
          </a:bodyPr>
          <a:lstStyle/>
          <a:p>
            <a:pPr algn="l">
              <a:spcBef>
                <a:spcPts val="0"/>
              </a:spcBef>
              <a:spcAft>
                <a:spcPts val="200"/>
              </a:spcAft>
            </a:pPr>
            <a:r>
              <a:rPr sz="900" b="0" dirty="0">
                <a:solidFill>
                  <a:srgbClr val="64748B"/>
                </a:solidFill>
                <a:latin typeface="Calibri"/>
              </a:rPr>
              <a:t>6</a:t>
            </a:r>
          </a:p>
        </p:txBody>
      </p:sp>
      <p:grpSp>
        <p:nvGrpSpPr>
          <p:cNvPr id="56" name="קבוצה 55">
            <a:extLst>
              <a:ext uri="{FF2B5EF4-FFF2-40B4-BE49-F238E27FC236}">
                <a16:creationId xmlns:a16="http://schemas.microsoft.com/office/drawing/2014/main" id="{C98FE338-9687-69EE-A9F8-75A1C82FB953}"/>
              </a:ext>
            </a:extLst>
          </p:cNvPr>
          <p:cNvGrpSpPr/>
          <p:nvPr/>
        </p:nvGrpSpPr>
        <p:grpSpPr>
          <a:xfrm>
            <a:off x="381896" y="1831547"/>
            <a:ext cx="11428207" cy="3974117"/>
            <a:chOff x="548640" y="1759829"/>
            <a:chExt cx="10607040" cy="3310128"/>
          </a:xfrm>
        </p:grpSpPr>
        <p:sp>
          <p:nvSpPr>
            <p:cNvPr id="8" name="Rectangle 7"/>
            <p:cNvSpPr/>
            <p:nvPr/>
          </p:nvSpPr>
          <p:spPr>
            <a:xfrm>
              <a:off x="548640" y="1759829"/>
              <a:ext cx="10607040" cy="384048"/>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640080" y="1791720"/>
              <a:ext cx="1234440" cy="338554"/>
            </a:xfrm>
            <a:prstGeom prst="rect">
              <a:avLst/>
            </a:prstGeom>
            <a:noFill/>
          </p:spPr>
          <p:txBody>
            <a:bodyPr wrap="square" anchor="ctr">
              <a:spAutoFit/>
            </a:bodyPr>
            <a:lstStyle/>
            <a:p>
              <a:pPr algn="l">
                <a:spcBef>
                  <a:spcPts val="0"/>
                </a:spcBef>
                <a:spcAft>
                  <a:spcPts val="200"/>
                </a:spcAft>
              </a:pPr>
              <a:r>
                <a:rPr sz="1600" b="1">
                  <a:solidFill>
                    <a:srgbClr val="FFFFFF"/>
                  </a:solidFill>
                  <a:latin typeface="Calibri"/>
                </a:rPr>
                <a:t>Role</a:t>
              </a:r>
            </a:p>
          </p:txBody>
        </p:sp>
        <p:sp>
          <p:nvSpPr>
            <p:cNvPr id="10" name="TextBox 9"/>
            <p:cNvSpPr txBox="1"/>
            <p:nvPr/>
          </p:nvSpPr>
          <p:spPr>
            <a:xfrm>
              <a:off x="2011680" y="1791720"/>
              <a:ext cx="2606040" cy="338554"/>
            </a:xfrm>
            <a:prstGeom prst="rect">
              <a:avLst/>
            </a:prstGeom>
            <a:noFill/>
          </p:spPr>
          <p:txBody>
            <a:bodyPr wrap="square" anchor="ctr">
              <a:spAutoFit/>
            </a:bodyPr>
            <a:lstStyle/>
            <a:p>
              <a:pPr algn="l">
                <a:spcBef>
                  <a:spcPts val="0"/>
                </a:spcBef>
                <a:spcAft>
                  <a:spcPts val="200"/>
                </a:spcAft>
              </a:pPr>
              <a:r>
                <a:rPr sz="1600" b="1">
                  <a:solidFill>
                    <a:srgbClr val="FFFFFF"/>
                  </a:solidFill>
                  <a:latin typeface="Calibri"/>
                </a:rPr>
                <a:t>Option compared</a:t>
              </a:r>
            </a:p>
          </p:txBody>
        </p:sp>
        <p:sp>
          <p:nvSpPr>
            <p:cNvPr id="11" name="TextBox 10"/>
            <p:cNvSpPr txBox="1"/>
            <p:nvPr/>
          </p:nvSpPr>
          <p:spPr>
            <a:xfrm>
              <a:off x="4754879" y="1791720"/>
              <a:ext cx="1874520" cy="338554"/>
            </a:xfrm>
            <a:prstGeom prst="rect">
              <a:avLst/>
            </a:prstGeom>
            <a:noFill/>
          </p:spPr>
          <p:txBody>
            <a:bodyPr wrap="square" anchor="ctr">
              <a:spAutoFit/>
            </a:bodyPr>
            <a:lstStyle/>
            <a:p>
              <a:pPr algn="l">
                <a:spcBef>
                  <a:spcPts val="0"/>
                </a:spcBef>
                <a:spcAft>
                  <a:spcPts val="200"/>
                </a:spcAft>
              </a:pPr>
              <a:r>
                <a:rPr sz="1600" b="1">
                  <a:solidFill>
                    <a:srgbClr val="FFFFFF"/>
                  </a:solidFill>
                  <a:latin typeface="Calibri"/>
                </a:rPr>
                <a:t>List price / 1M tok</a:t>
              </a:r>
            </a:p>
          </p:txBody>
        </p:sp>
        <p:sp>
          <p:nvSpPr>
            <p:cNvPr id="12" name="TextBox 11"/>
            <p:cNvSpPr txBox="1"/>
            <p:nvPr/>
          </p:nvSpPr>
          <p:spPr>
            <a:xfrm>
              <a:off x="6766559" y="1791720"/>
              <a:ext cx="4343400" cy="338554"/>
            </a:xfrm>
            <a:prstGeom prst="rect">
              <a:avLst/>
            </a:prstGeom>
            <a:noFill/>
          </p:spPr>
          <p:txBody>
            <a:bodyPr wrap="square" anchor="ctr">
              <a:spAutoFit/>
            </a:bodyPr>
            <a:lstStyle/>
            <a:p>
              <a:pPr algn="l">
                <a:spcBef>
                  <a:spcPts val="0"/>
                </a:spcBef>
                <a:spcAft>
                  <a:spcPts val="200"/>
                </a:spcAft>
              </a:pPr>
              <a:r>
                <a:rPr sz="1600" b="1">
                  <a:solidFill>
                    <a:srgbClr val="FFFFFF"/>
                  </a:solidFill>
                  <a:latin typeface="Calibri"/>
                </a:rPr>
                <a:t>Verdict</a:t>
              </a:r>
            </a:p>
          </p:txBody>
        </p:sp>
        <p:sp>
          <p:nvSpPr>
            <p:cNvPr id="13" name="Rectangle 12"/>
            <p:cNvSpPr/>
            <p:nvPr/>
          </p:nvSpPr>
          <p:spPr>
            <a:xfrm>
              <a:off x="548640" y="2143877"/>
              <a:ext cx="10607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640080" y="219115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Decision</a:t>
              </a:r>
            </a:p>
          </p:txBody>
        </p:sp>
        <p:sp>
          <p:nvSpPr>
            <p:cNvPr id="15" name="TextBox 14"/>
            <p:cNvSpPr txBox="1"/>
            <p:nvPr/>
          </p:nvSpPr>
          <p:spPr>
            <a:xfrm>
              <a:off x="2011680" y="219115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gpt-4.1-mini</a:t>
              </a:r>
            </a:p>
          </p:txBody>
        </p:sp>
        <p:sp>
          <p:nvSpPr>
            <p:cNvPr id="16" name="TextBox 15"/>
            <p:cNvSpPr txBox="1"/>
            <p:nvPr/>
          </p:nvSpPr>
          <p:spPr>
            <a:xfrm>
              <a:off x="4754879" y="219115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$0.40 / $1.60</a:t>
              </a:r>
            </a:p>
          </p:txBody>
        </p:sp>
        <p:sp>
          <p:nvSpPr>
            <p:cNvPr id="17" name="TextBox 16"/>
            <p:cNvSpPr txBox="1"/>
            <p:nvPr/>
          </p:nvSpPr>
          <p:spPr>
            <a:xfrm>
              <a:off x="6766559" y="2083435"/>
              <a:ext cx="4343400" cy="523220"/>
            </a:xfrm>
            <a:prstGeom prst="rect">
              <a:avLst/>
            </a:prstGeom>
            <a:noFill/>
          </p:spPr>
          <p:txBody>
            <a:bodyPr wrap="square" anchor="ctr">
              <a:spAutoFit/>
            </a:bodyPr>
            <a:lstStyle/>
            <a:p>
              <a:pPr algn="l">
                <a:spcBef>
                  <a:spcPts val="0"/>
                </a:spcBef>
                <a:spcAft>
                  <a:spcPts val="200"/>
                </a:spcAft>
              </a:pPr>
              <a:r>
                <a:rPr sz="1400" b="1">
                  <a:solidFill>
                    <a:srgbClr val="02C39A"/>
                  </a:solidFill>
                  <a:latin typeface="Calibri"/>
                </a:rPr>
                <a:t>[CHOSEN] </a:t>
              </a:r>
              <a:r>
                <a:rPr sz="1400" b="0">
                  <a:solidFill>
                    <a:srgbClr val="1E293B"/>
                  </a:solidFill>
                  <a:latin typeface="Calibri"/>
                </a:rPr>
                <a:t>cutoff Jun-2024 (pre-data), cheap, reliable JSON</a:t>
              </a:r>
            </a:p>
          </p:txBody>
        </p:sp>
        <p:sp>
          <p:nvSpPr>
            <p:cNvPr id="18" name="Rectangle 17"/>
            <p:cNvSpPr/>
            <p:nvPr/>
          </p:nvSpPr>
          <p:spPr>
            <a:xfrm>
              <a:off x="548640" y="2509637"/>
              <a:ext cx="1060704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640080" y="255691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Decision</a:t>
              </a:r>
            </a:p>
          </p:txBody>
        </p:sp>
        <p:sp>
          <p:nvSpPr>
            <p:cNvPr id="20" name="TextBox 19"/>
            <p:cNvSpPr txBox="1"/>
            <p:nvPr/>
          </p:nvSpPr>
          <p:spPr>
            <a:xfrm>
              <a:off x="2011680" y="255691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GPT-5.5</a:t>
              </a:r>
            </a:p>
          </p:txBody>
        </p:sp>
        <p:sp>
          <p:nvSpPr>
            <p:cNvPr id="21" name="TextBox 20"/>
            <p:cNvSpPr txBox="1"/>
            <p:nvPr/>
          </p:nvSpPr>
          <p:spPr>
            <a:xfrm>
              <a:off x="4754879" y="255691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$1.25 / $10.0</a:t>
              </a:r>
            </a:p>
          </p:txBody>
        </p:sp>
        <p:sp>
          <p:nvSpPr>
            <p:cNvPr id="22" name="TextBox 21"/>
            <p:cNvSpPr txBox="1"/>
            <p:nvPr/>
          </p:nvSpPr>
          <p:spPr>
            <a:xfrm>
              <a:off x="6766559" y="2582627"/>
              <a:ext cx="4343400" cy="256354"/>
            </a:xfrm>
            <a:prstGeom prst="rect">
              <a:avLst/>
            </a:prstGeom>
            <a:noFill/>
          </p:spPr>
          <p:txBody>
            <a:bodyPr wrap="square" anchor="ctr">
              <a:spAutoFit/>
            </a:bodyPr>
            <a:lstStyle/>
            <a:p>
              <a:pPr algn="l">
                <a:spcBef>
                  <a:spcPts val="0"/>
                </a:spcBef>
                <a:spcAft>
                  <a:spcPts val="200"/>
                </a:spcAft>
              </a:pPr>
              <a:r>
                <a:rPr sz="1400" b="1">
                  <a:solidFill>
                    <a:srgbClr val="E24B4A"/>
                  </a:solidFill>
                  <a:latin typeface="Calibri"/>
                </a:rPr>
                <a:t>rejected - </a:t>
              </a:r>
              <a:r>
                <a:rPr sz="1400" b="0">
                  <a:solidFill>
                    <a:srgbClr val="1E293B"/>
                  </a:solidFill>
                  <a:latin typeface="Calibri"/>
                </a:rPr>
                <a:t>cutoff too recent -&gt; leakage; </a:t>
              </a:r>
              <a:r>
                <a:rPr lang="he-IL" sz="1400" b="0">
                  <a:solidFill>
                    <a:srgbClr val="1E293B"/>
                  </a:solidFill>
                  <a:latin typeface="Calibri"/>
                </a:rPr>
                <a:t>~</a:t>
              </a:r>
              <a:r>
                <a:rPr sz="1400" b="0">
                  <a:solidFill>
                    <a:srgbClr val="1E293B"/>
                  </a:solidFill>
                  <a:latin typeface="Calibri"/>
                </a:rPr>
                <a:t>6x cost</a:t>
              </a:r>
            </a:p>
          </p:txBody>
        </p:sp>
        <p:sp>
          <p:nvSpPr>
            <p:cNvPr id="23" name="Rectangle 22"/>
            <p:cNvSpPr/>
            <p:nvPr/>
          </p:nvSpPr>
          <p:spPr>
            <a:xfrm>
              <a:off x="548640" y="2875397"/>
              <a:ext cx="10607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640080" y="292267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Decision</a:t>
              </a:r>
            </a:p>
          </p:txBody>
        </p:sp>
        <p:sp>
          <p:nvSpPr>
            <p:cNvPr id="25" name="TextBox 24"/>
            <p:cNvSpPr txBox="1"/>
            <p:nvPr/>
          </p:nvSpPr>
          <p:spPr>
            <a:xfrm>
              <a:off x="2011680" y="292267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GPT-4-Turbo (paper's)</a:t>
              </a:r>
            </a:p>
          </p:txBody>
        </p:sp>
        <p:sp>
          <p:nvSpPr>
            <p:cNvPr id="26" name="TextBox 25"/>
            <p:cNvSpPr txBox="1"/>
            <p:nvPr/>
          </p:nvSpPr>
          <p:spPr>
            <a:xfrm>
              <a:off x="4754879" y="292267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$10 / $30</a:t>
              </a:r>
            </a:p>
          </p:txBody>
        </p:sp>
        <p:sp>
          <p:nvSpPr>
            <p:cNvPr id="27" name="TextBox 26"/>
            <p:cNvSpPr txBox="1"/>
            <p:nvPr/>
          </p:nvSpPr>
          <p:spPr>
            <a:xfrm>
              <a:off x="6766559" y="2948388"/>
              <a:ext cx="4343400" cy="256354"/>
            </a:xfrm>
            <a:prstGeom prst="rect">
              <a:avLst/>
            </a:prstGeom>
            <a:noFill/>
          </p:spPr>
          <p:txBody>
            <a:bodyPr wrap="square" anchor="ctr">
              <a:spAutoFit/>
            </a:bodyPr>
            <a:lstStyle/>
            <a:p>
              <a:pPr algn="l">
                <a:spcBef>
                  <a:spcPts val="0"/>
                </a:spcBef>
                <a:spcAft>
                  <a:spcPts val="200"/>
                </a:spcAft>
              </a:pPr>
              <a:r>
                <a:rPr sz="1400" b="1">
                  <a:solidFill>
                    <a:srgbClr val="E24B4A"/>
                  </a:solidFill>
                  <a:latin typeface="Calibri"/>
                </a:rPr>
                <a:t>rejected - </a:t>
              </a:r>
              <a:r>
                <a:rPr sz="1400" b="0">
                  <a:solidFill>
                    <a:srgbClr val="1E293B"/>
                  </a:solidFill>
                  <a:latin typeface="Calibri"/>
                </a:rPr>
                <a:t>retired; </a:t>
              </a:r>
              <a:r>
                <a:rPr lang="he-IL" sz="1400" b="0">
                  <a:solidFill>
                    <a:srgbClr val="1E293B"/>
                  </a:solidFill>
                  <a:latin typeface="Calibri"/>
                </a:rPr>
                <a:t>~</a:t>
              </a:r>
              <a:r>
                <a:rPr sz="1400" b="0">
                  <a:solidFill>
                    <a:srgbClr val="1E293B"/>
                  </a:solidFill>
                  <a:latin typeface="Calibri"/>
                </a:rPr>
                <a:t>25x cost; cutoff inside paper window</a:t>
              </a:r>
            </a:p>
          </p:txBody>
        </p:sp>
        <p:sp>
          <p:nvSpPr>
            <p:cNvPr id="28" name="Rectangle 27"/>
            <p:cNvSpPr/>
            <p:nvPr/>
          </p:nvSpPr>
          <p:spPr>
            <a:xfrm>
              <a:off x="548640" y="3241157"/>
              <a:ext cx="1060704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640080" y="328843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Decision</a:t>
              </a:r>
            </a:p>
          </p:txBody>
        </p:sp>
        <p:sp>
          <p:nvSpPr>
            <p:cNvPr id="30" name="TextBox 29"/>
            <p:cNvSpPr txBox="1"/>
            <p:nvPr/>
          </p:nvSpPr>
          <p:spPr>
            <a:xfrm>
              <a:off x="2011680" y="328843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DeepSeek-V4</a:t>
              </a:r>
            </a:p>
          </p:txBody>
        </p:sp>
        <p:sp>
          <p:nvSpPr>
            <p:cNvPr id="31" name="TextBox 30"/>
            <p:cNvSpPr txBox="1"/>
            <p:nvPr/>
          </p:nvSpPr>
          <p:spPr>
            <a:xfrm>
              <a:off x="4754879" y="328843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$0.27 / $1.10</a:t>
              </a:r>
            </a:p>
          </p:txBody>
        </p:sp>
        <p:sp>
          <p:nvSpPr>
            <p:cNvPr id="32" name="TextBox 31"/>
            <p:cNvSpPr txBox="1"/>
            <p:nvPr/>
          </p:nvSpPr>
          <p:spPr>
            <a:xfrm>
              <a:off x="6766559" y="3288436"/>
              <a:ext cx="4343400" cy="307777"/>
            </a:xfrm>
            <a:prstGeom prst="rect">
              <a:avLst/>
            </a:prstGeom>
            <a:noFill/>
          </p:spPr>
          <p:txBody>
            <a:bodyPr wrap="square" anchor="ctr">
              <a:spAutoFit/>
            </a:bodyPr>
            <a:lstStyle/>
            <a:p>
              <a:pPr algn="l">
                <a:spcBef>
                  <a:spcPts val="0"/>
                </a:spcBef>
                <a:spcAft>
                  <a:spcPts val="200"/>
                </a:spcAft>
              </a:pPr>
              <a:r>
                <a:rPr sz="1400" b="1">
                  <a:solidFill>
                    <a:srgbClr val="E24B4A"/>
                  </a:solidFill>
                  <a:latin typeface="Calibri"/>
                </a:rPr>
                <a:t>rejected - </a:t>
              </a:r>
              <a:r>
                <a:rPr sz="1400" b="0">
                  <a:solidFill>
                    <a:srgbClr val="1E293B"/>
                  </a:solidFill>
                  <a:latin typeface="Calibri"/>
                </a:rPr>
                <a:t>cutoff &amp; evaluation uncertainty</a:t>
              </a:r>
            </a:p>
          </p:txBody>
        </p:sp>
        <p:sp>
          <p:nvSpPr>
            <p:cNvPr id="33" name="Rectangle 32"/>
            <p:cNvSpPr/>
            <p:nvPr/>
          </p:nvSpPr>
          <p:spPr>
            <a:xfrm>
              <a:off x="548640" y="3606917"/>
              <a:ext cx="10607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640080" y="365419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Summariser</a:t>
              </a:r>
            </a:p>
          </p:txBody>
        </p:sp>
        <p:sp>
          <p:nvSpPr>
            <p:cNvPr id="35" name="TextBox 34"/>
            <p:cNvSpPr txBox="1"/>
            <p:nvPr/>
          </p:nvSpPr>
          <p:spPr>
            <a:xfrm>
              <a:off x="2011680" y="365419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Gemini 3 Flash-Lite</a:t>
              </a:r>
            </a:p>
          </p:txBody>
        </p:sp>
        <p:sp>
          <p:nvSpPr>
            <p:cNvPr id="36" name="TextBox 35"/>
            <p:cNvSpPr txBox="1"/>
            <p:nvPr/>
          </p:nvSpPr>
          <p:spPr>
            <a:xfrm>
              <a:off x="4754879" y="365419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$0.10 / $0.40</a:t>
              </a:r>
            </a:p>
          </p:txBody>
        </p:sp>
        <p:sp>
          <p:nvSpPr>
            <p:cNvPr id="37" name="TextBox 36"/>
            <p:cNvSpPr txBox="1"/>
            <p:nvPr/>
          </p:nvSpPr>
          <p:spPr>
            <a:xfrm>
              <a:off x="6766559" y="3654196"/>
              <a:ext cx="4343400" cy="307777"/>
            </a:xfrm>
            <a:prstGeom prst="rect">
              <a:avLst/>
            </a:prstGeom>
            <a:noFill/>
          </p:spPr>
          <p:txBody>
            <a:bodyPr wrap="square" anchor="ctr">
              <a:spAutoFit/>
            </a:bodyPr>
            <a:lstStyle/>
            <a:p>
              <a:pPr algn="l">
                <a:spcBef>
                  <a:spcPts val="0"/>
                </a:spcBef>
                <a:spcAft>
                  <a:spcPts val="200"/>
                </a:spcAft>
              </a:pPr>
              <a:r>
                <a:rPr sz="1400" b="1">
                  <a:solidFill>
                    <a:srgbClr val="02C39A"/>
                  </a:solidFill>
                  <a:latin typeface="Calibri"/>
                </a:rPr>
                <a:t>[CHOSEN] </a:t>
              </a:r>
              <a:r>
                <a:rPr sz="1400" b="0">
                  <a:solidFill>
                    <a:srgbClr val="1E293B"/>
                  </a:solidFill>
                  <a:latin typeface="Calibri"/>
                </a:rPr>
                <a:t>cutoff Jan-2025, long context, high throughput</a:t>
              </a:r>
            </a:p>
          </p:txBody>
        </p:sp>
        <p:sp>
          <p:nvSpPr>
            <p:cNvPr id="38" name="Rectangle 37"/>
            <p:cNvSpPr/>
            <p:nvPr/>
          </p:nvSpPr>
          <p:spPr>
            <a:xfrm>
              <a:off x="548640" y="3972677"/>
              <a:ext cx="1060704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640080" y="401995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Embeddings</a:t>
              </a:r>
            </a:p>
          </p:txBody>
        </p:sp>
        <p:sp>
          <p:nvSpPr>
            <p:cNvPr id="40" name="TextBox 39"/>
            <p:cNvSpPr txBox="1"/>
            <p:nvPr/>
          </p:nvSpPr>
          <p:spPr>
            <a:xfrm>
              <a:off x="2011680" y="401995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ada-002</a:t>
              </a:r>
            </a:p>
          </p:txBody>
        </p:sp>
        <p:sp>
          <p:nvSpPr>
            <p:cNvPr id="41" name="TextBox 40"/>
            <p:cNvSpPr txBox="1"/>
            <p:nvPr/>
          </p:nvSpPr>
          <p:spPr>
            <a:xfrm>
              <a:off x="4754879" y="401995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$0.10</a:t>
              </a:r>
            </a:p>
          </p:txBody>
        </p:sp>
        <p:sp>
          <p:nvSpPr>
            <p:cNvPr id="42" name="TextBox 41"/>
            <p:cNvSpPr txBox="1"/>
            <p:nvPr/>
          </p:nvSpPr>
          <p:spPr>
            <a:xfrm>
              <a:off x="6766559" y="4019956"/>
              <a:ext cx="4343400" cy="307777"/>
            </a:xfrm>
            <a:prstGeom prst="rect">
              <a:avLst/>
            </a:prstGeom>
            <a:noFill/>
          </p:spPr>
          <p:txBody>
            <a:bodyPr wrap="square" anchor="ctr">
              <a:spAutoFit/>
            </a:bodyPr>
            <a:lstStyle/>
            <a:p>
              <a:pPr algn="l">
                <a:spcBef>
                  <a:spcPts val="0"/>
                </a:spcBef>
                <a:spcAft>
                  <a:spcPts val="200"/>
                </a:spcAft>
              </a:pPr>
              <a:r>
                <a:rPr sz="1400" b="1">
                  <a:solidFill>
                    <a:srgbClr val="02C39A"/>
                  </a:solidFill>
                  <a:latin typeface="Calibri"/>
                </a:rPr>
                <a:t>[CHOSEN] </a:t>
              </a:r>
              <a:r>
                <a:rPr sz="1400" b="0">
                  <a:solidFill>
                    <a:srgbClr val="1E293B"/>
                  </a:solidFill>
                  <a:latin typeface="Calibri"/>
                </a:rPr>
                <a:t>exact paper spec</a:t>
              </a:r>
            </a:p>
          </p:txBody>
        </p:sp>
        <p:sp>
          <p:nvSpPr>
            <p:cNvPr id="43" name="Rectangle 42"/>
            <p:cNvSpPr/>
            <p:nvPr/>
          </p:nvSpPr>
          <p:spPr>
            <a:xfrm>
              <a:off x="548640" y="4338437"/>
              <a:ext cx="106070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640080" y="438571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Embeddings</a:t>
              </a:r>
            </a:p>
          </p:txBody>
        </p:sp>
        <p:sp>
          <p:nvSpPr>
            <p:cNvPr id="45" name="TextBox 44"/>
            <p:cNvSpPr txBox="1"/>
            <p:nvPr/>
          </p:nvSpPr>
          <p:spPr>
            <a:xfrm>
              <a:off x="2011680" y="4385716"/>
              <a:ext cx="2606040" cy="307777"/>
            </a:xfrm>
            <a:prstGeom prst="rect">
              <a:avLst/>
            </a:prstGeom>
            <a:noFill/>
          </p:spPr>
          <p:txBody>
            <a:bodyPr wrap="square" anchor="ctr">
              <a:spAutoFit/>
            </a:bodyPr>
            <a:lstStyle/>
            <a:p>
              <a:pPr algn="l">
                <a:spcBef>
                  <a:spcPts val="0"/>
                </a:spcBef>
                <a:spcAft>
                  <a:spcPts val="200"/>
                </a:spcAft>
              </a:pPr>
              <a:r>
                <a:rPr sz="1400" b="0">
                  <a:solidFill>
                    <a:srgbClr val="1E293B"/>
                  </a:solidFill>
                  <a:latin typeface="Calibri"/>
                </a:rPr>
                <a:t>embedding-3-small</a:t>
              </a:r>
            </a:p>
          </p:txBody>
        </p:sp>
        <p:sp>
          <p:nvSpPr>
            <p:cNvPr id="46" name="TextBox 45"/>
            <p:cNvSpPr txBox="1"/>
            <p:nvPr/>
          </p:nvSpPr>
          <p:spPr>
            <a:xfrm>
              <a:off x="4754879" y="438571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$0.02</a:t>
              </a:r>
            </a:p>
          </p:txBody>
        </p:sp>
        <p:sp>
          <p:nvSpPr>
            <p:cNvPr id="47" name="TextBox 46"/>
            <p:cNvSpPr txBox="1"/>
            <p:nvPr/>
          </p:nvSpPr>
          <p:spPr>
            <a:xfrm>
              <a:off x="6766559" y="4385716"/>
              <a:ext cx="4343400" cy="307777"/>
            </a:xfrm>
            <a:prstGeom prst="rect">
              <a:avLst/>
            </a:prstGeom>
            <a:noFill/>
          </p:spPr>
          <p:txBody>
            <a:bodyPr wrap="square" anchor="ctr">
              <a:spAutoFit/>
            </a:bodyPr>
            <a:lstStyle/>
            <a:p>
              <a:pPr algn="l">
                <a:spcBef>
                  <a:spcPts val="0"/>
                </a:spcBef>
                <a:spcAft>
                  <a:spcPts val="200"/>
                </a:spcAft>
              </a:pPr>
              <a:r>
                <a:rPr sz="1400" b="1">
                  <a:solidFill>
                    <a:srgbClr val="E24B4A"/>
                  </a:solidFill>
                  <a:latin typeface="Calibri"/>
                </a:rPr>
                <a:t>rejected - </a:t>
              </a:r>
              <a:r>
                <a:rPr sz="1400" b="0">
                  <a:solidFill>
                    <a:srgbClr val="1E293B"/>
                  </a:solidFill>
                  <a:latin typeface="Calibri"/>
                </a:rPr>
                <a:t>5x cheaper but off paper spec</a:t>
              </a:r>
            </a:p>
          </p:txBody>
        </p:sp>
        <p:sp>
          <p:nvSpPr>
            <p:cNvPr id="48" name="Rectangle 47"/>
            <p:cNvSpPr/>
            <p:nvPr/>
          </p:nvSpPr>
          <p:spPr>
            <a:xfrm>
              <a:off x="548640" y="4704197"/>
              <a:ext cx="1060704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640080" y="4751476"/>
              <a:ext cx="1234440" cy="307777"/>
            </a:xfrm>
            <a:prstGeom prst="rect">
              <a:avLst/>
            </a:prstGeom>
            <a:noFill/>
          </p:spPr>
          <p:txBody>
            <a:bodyPr wrap="square" anchor="ctr">
              <a:spAutoFit/>
            </a:bodyPr>
            <a:lstStyle/>
            <a:p>
              <a:pPr algn="l">
                <a:spcBef>
                  <a:spcPts val="0"/>
                </a:spcBef>
                <a:spcAft>
                  <a:spcPts val="200"/>
                </a:spcAft>
              </a:pPr>
              <a:r>
                <a:rPr sz="1400" b="1">
                  <a:solidFill>
                    <a:srgbClr val="1E293B"/>
                  </a:solidFill>
                  <a:latin typeface="Calibri"/>
                </a:rPr>
                <a:t>Sentiment</a:t>
              </a:r>
            </a:p>
          </p:txBody>
        </p:sp>
        <p:sp>
          <p:nvSpPr>
            <p:cNvPr id="50" name="TextBox 49"/>
            <p:cNvSpPr txBox="1"/>
            <p:nvPr/>
          </p:nvSpPr>
          <p:spPr>
            <a:xfrm>
              <a:off x="2011680" y="4777188"/>
              <a:ext cx="2606040" cy="256354"/>
            </a:xfrm>
            <a:prstGeom prst="rect">
              <a:avLst/>
            </a:prstGeom>
            <a:noFill/>
          </p:spPr>
          <p:txBody>
            <a:bodyPr wrap="square" anchor="ctr">
              <a:spAutoFit/>
            </a:bodyPr>
            <a:lstStyle/>
            <a:p>
              <a:pPr algn="l">
                <a:spcBef>
                  <a:spcPts val="0"/>
                </a:spcBef>
                <a:spcAft>
                  <a:spcPts val="200"/>
                </a:spcAft>
              </a:pPr>
              <a:r>
                <a:rPr sz="1400" b="0" dirty="0" err="1">
                  <a:solidFill>
                    <a:srgbClr val="1E293B"/>
                  </a:solidFill>
                  <a:latin typeface="Calibri"/>
                </a:rPr>
                <a:t>FinBERT</a:t>
              </a:r>
              <a:endParaRPr sz="1400" b="0" dirty="0">
                <a:solidFill>
                  <a:srgbClr val="1E293B"/>
                </a:solidFill>
                <a:latin typeface="Calibri"/>
              </a:endParaRPr>
            </a:p>
          </p:txBody>
        </p:sp>
        <p:sp>
          <p:nvSpPr>
            <p:cNvPr id="51" name="TextBox 50"/>
            <p:cNvSpPr txBox="1"/>
            <p:nvPr/>
          </p:nvSpPr>
          <p:spPr>
            <a:xfrm>
              <a:off x="4754879" y="4751476"/>
              <a:ext cx="1874520" cy="307777"/>
            </a:xfrm>
            <a:prstGeom prst="rect">
              <a:avLst/>
            </a:prstGeom>
            <a:noFill/>
          </p:spPr>
          <p:txBody>
            <a:bodyPr wrap="square" anchor="ctr">
              <a:spAutoFit/>
            </a:bodyPr>
            <a:lstStyle/>
            <a:p>
              <a:pPr algn="l">
                <a:spcBef>
                  <a:spcPts val="0"/>
                </a:spcBef>
                <a:spcAft>
                  <a:spcPts val="200"/>
                </a:spcAft>
              </a:pPr>
              <a:r>
                <a:rPr sz="1400" b="1">
                  <a:solidFill>
                    <a:srgbClr val="1C7293"/>
                  </a:solidFill>
                  <a:latin typeface="Calibri"/>
                </a:rPr>
                <a:t>$0</a:t>
              </a:r>
            </a:p>
          </p:txBody>
        </p:sp>
        <p:sp>
          <p:nvSpPr>
            <p:cNvPr id="52" name="TextBox 51"/>
            <p:cNvSpPr txBox="1"/>
            <p:nvPr/>
          </p:nvSpPr>
          <p:spPr>
            <a:xfrm>
              <a:off x="6766559" y="4751476"/>
              <a:ext cx="4343400" cy="307777"/>
            </a:xfrm>
            <a:prstGeom prst="rect">
              <a:avLst/>
            </a:prstGeom>
            <a:noFill/>
          </p:spPr>
          <p:txBody>
            <a:bodyPr wrap="square" anchor="ctr">
              <a:spAutoFit/>
            </a:bodyPr>
            <a:lstStyle/>
            <a:p>
              <a:pPr algn="l">
                <a:spcBef>
                  <a:spcPts val="0"/>
                </a:spcBef>
                <a:spcAft>
                  <a:spcPts val="200"/>
                </a:spcAft>
              </a:pPr>
              <a:r>
                <a:rPr sz="1400" b="1">
                  <a:solidFill>
                    <a:srgbClr val="02C39A"/>
                  </a:solidFill>
                  <a:latin typeface="Calibri"/>
                </a:rPr>
                <a:t>[CHOSEN] </a:t>
              </a:r>
              <a:r>
                <a:rPr sz="1400" b="0">
                  <a:solidFill>
                    <a:srgbClr val="1E293B"/>
                  </a:solidFill>
                  <a:latin typeface="Calibri"/>
                </a:rPr>
                <a:t>paper spec, runs locally, free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8" y="-6216"/>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METHOD</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Experimental design &amp; how we avoided leakage</a:t>
            </a:r>
          </a:p>
        </p:txBody>
      </p:sp>
      <p:sp>
        <p:nvSpPr>
          <p:cNvPr id="5" name="Rounded Rectangle 4"/>
          <p:cNvSpPr/>
          <p:nvPr/>
        </p:nvSpPr>
        <p:spPr>
          <a:xfrm>
            <a:off x="548640" y="1395603"/>
            <a:ext cx="5486400" cy="46634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07720" y="1832145"/>
            <a:ext cx="5029200" cy="313932"/>
          </a:xfrm>
          <a:prstGeom prst="rect">
            <a:avLst/>
          </a:prstGeom>
          <a:noFill/>
        </p:spPr>
        <p:txBody>
          <a:bodyPr wrap="square" lIns="45720" tIns="18288" rIns="45720" bIns="18288" anchor="t">
            <a:spAutoFit/>
          </a:bodyPr>
          <a:lstStyle/>
          <a:p>
            <a:pPr algn="l">
              <a:spcAft>
                <a:spcPts val="400"/>
              </a:spcAft>
            </a:pPr>
            <a:r>
              <a:rPr b="1" i="0">
                <a:solidFill>
                  <a:srgbClr val="21295C"/>
                </a:solidFill>
                <a:latin typeface="Calibri"/>
              </a:rPr>
              <a:t>EVERY MODEL CUTOFF PRECEDES THE DATA</a:t>
            </a:r>
          </a:p>
        </p:txBody>
      </p:sp>
      <p:sp>
        <p:nvSpPr>
          <p:cNvPr id="7" name="TextBox 6"/>
          <p:cNvSpPr txBox="1"/>
          <p:nvPr/>
        </p:nvSpPr>
        <p:spPr>
          <a:xfrm>
            <a:off x="777240" y="2394087"/>
            <a:ext cx="2468880" cy="313932"/>
          </a:xfrm>
          <a:prstGeom prst="rect">
            <a:avLst/>
          </a:prstGeom>
          <a:noFill/>
        </p:spPr>
        <p:txBody>
          <a:bodyPr wrap="square" lIns="45720" tIns="18288" rIns="45720" bIns="18288" anchor="ctr">
            <a:spAutoFit/>
          </a:bodyPr>
          <a:lstStyle/>
          <a:p>
            <a:pPr algn="l">
              <a:spcAft>
                <a:spcPts val="400"/>
              </a:spcAft>
            </a:pPr>
            <a:r>
              <a:rPr b="0" i="0">
                <a:solidFill>
                  <a:srgbClr val="64748B"/>
                </a:solidFill>
                <a:latin typeface="Calibri"/>
              </a:rPr>
              <a:t>Train window</a:t>
            </a:r>
          </a:p>
        </p:txBody>
      </p:sp>
      <p:sp>
        <p:nvSpPr>
          <p:cNvPr id="8" name="TextBox 7"/>
          <p:cNvSpPr txBox="1"/>
          <p:nvPr/>
        </p:nvSpPr>
        <p:spPr>
          <a:xfrm>
            <a:off x="3200400" y="2394087"/>
            <a:ext cx="2651760" cy="313932"/>
          </a:xfrm>
          <a:prstGeom prst="rect">
            <a:avLst/>
          </a:prstGeom>
          <a:noFill/>
        </p:spPr>
        <p:txBody>
          <a:bodyPr wrap="square" lIns="45720" tIns="18288" rIns="45720" bIns="18288" anchor="ctr">
            <a:spAutoFit/>
          </a:bodyPr>
          <a:lstStyle/>
          <a:p>
            <a:pPr algn="l">
              <a:spcAft>
                <a:spcPts val="400"/>
              </a:spcAft>
            </a:pPr>
            <a:r>
              <a:rPr b="1" i="0">
                <a:solidFill>
                  <a:srgbClr val="21295C"/>
                </a:solidFill>
                <a:latin typeface="Calibri"/>
              </a:rPr>
              <a:t>2025-07-01 -&gt; 2025-12-31</a:t>
            </a:r>
          </a:p>
        </p:txBody>
      </p:sp>
      <p:sp>
        <p:nvSpPr>
          <p:cNvPr id="9" name="TextBox 8"/>
          <p:cNvSpPr txBox="1"/>
          <p:nvPr/>
        </p:nvSpPr>
        <p:spPr>
          <a:xfrm>
            <a:off x="777240" y="2961015"/>
            <a:ext cx="2468880" cy="313932"/>
          </a:xfrm>
          <a:prstGeom prst="rect">
            <a:avLst/>
          </a:prstGeom>
          <a:noFill/>
        </p:spPr>
        <p:txBody>
          <a:bodyPr wrap="square" lIns="45720" tIns="18288" rIns="45720" bIns="18288" anchor="ctr">
            <a:spAutoFit/>
          </a:bodyPr>
          <a:lstStyle/>
          <a:p>
            <a:pPr algn="l">
              <a:spcAft>
                <a:spcPts val="400"/>
              </a:spcAft>
            </a:pPr>
            <a:r>
              <a:rPr b="0" i="0">
                <a:solidFill>
                  <a:srgbClr val="64748B"/>
                </a:solidFill>
                <a:latin typeface="Calibri"/>
              </a:rPr>
              <a:t>Test window</a:t>
            </a:r>
          </a:p>
        </p:txBody>
      </p:sp>
      <p:sp>
        <p:nvSpPr>
          <p:cNvPr id="10" name="TextBox 9"/>
          <p:cNvSpPr txBox="1"/>
          <p:nvPr/>
        </p:nvSpPr>
        <p:spPr>
          <a:xfrm>
            <a:off x="3200400" y="2961015"/>
            <a:ext cx="2651760" cy="313932"/>
          </a:xfrm>
          <a:prstGeom prst="rect">
            <a:avLst/>
          </a:prstGeom>
          <a:noFill/>
        </p:spPr>
        <p:txBody>
          <a:bodyPr wrap="square" lIns="45720" tIns="18288" rIns="45720" bIns="18288" anchor="ctr">
            <a:spAutoFit/>
          </a:bodyPr>
          <a:lstStyle/>
          <a:p>
            <a:pPr algn="l">
              <a:spcAft>
                <a:spcPts val="400"/>
              </a:spcAft>
            </a:pPr>
            <a:r>
              <a:rPr b="1" i="0" dirty="0">
                <a:solidFill>
                  <a:srgbClr val="21295C"/>
                </a:solidFill>
                <a:latin typeface="Calibri"/>
              </a:rPr>
              <a:t>2026-01-02 -&gt; 2026-06-01</a:t>
            </a:r>
          </a:p>
        </p:txBody>
      </p:sp>
      <p:sp>
        <p:nvSpPr>
          <p:cNvPr id="11" name="TextBox 10"/>
          <p:cNvSpPr txBox="1"/>
          <p:nvPr/>
        </p:nvSpPr>
        <p:spPr>
          <a:xfrm>
            <a:off x="777240" y="3527943"/>
            <a:ext cx="2468880" cy="313932"/>
          </a:xfrm>
          <a:prstGeom prst="rect">
            <a:avLst/>
          </a:prstGeom>
          <a:noFill/>
        </p:spPr>
        <p:txBody>
          <a:bodyPr wrap="square" lIns="45720" tIns="18288" rIns="45720" bIns="18288" anchor="ctr">
            <a:spAutoFit/>
          </a:bodyPr>
          <a:lstStyle/>
          <a:p>
            <a:pPr algn="l">
              <a:spcAft>
                <a:spcPts val="400"/>
              </a:spcAft>
            </a:pPr>
            <a:r>
              <a:rPr b="0" i="0">
                <a:solidFill>
                  <a:srgbClr val="64748B"/>
                </a:solidFill>
                <a:latin typeface="Calibri"/>
              </a:rPr>
              <a:t>gpt-4.1-mini cutoff</a:t>
            </a:r>
          </a:p>
        </p:txBody>
      </p:sp>
      <p:sp>
        <p:nvSpPr>
          <p:cNvPr id="12" name="TextBox 11"/>
          <p:cNvSpPr txBox="1"/>
          <p:nvPr/>
        </p:nvSpPr>
        <p:spPr>
          <a:xfrm>
            <a:off x="3200400" y="3527943"/>
            <a:ext cx="2651760" cy="313932"/>
          </a:xfrm>
          <a:prstGeom prst="rect">
            <a:avLst/>
          </a:prstGeom>
          <a:noFill/>
        </p:spPr>
        <p:txBody>
          <a:bodyPr wrap="square" lIns="45720" tIns="18288" rIns="45720" bIns="18288" anchor="ctr">
            <a:spAutoFit/>
          </a:bodyPr>
          <a:lstStyle/>
          <a:p>
            <a:pPr algn="l">
              <a:spcAft>
                <a:spcPts val="400"/>
              </a:spcAft>
            </a:pPr>
            <a:r>
              <a:rPr b="1" i="0">
                <a:solidFill>
                  <a:srgbClr val="21295C"/>
                </a:solidFill>
                <a:latin typeface="Calibri"/>
              </a:rPr>
              <a:t>Jun 2024  - before data</a:t>
            </a:r>
          </a:p>
        </p:txBody>
      </p:sp>
      <p:sp>
        <p:nvSpPr>
          <p:cNvPr id="13" name="TextBox 12"/>
          <p:cNvSpPr txBox="1"/>
          <p:nvPr/>
        </p:nvSpPr>
        <p:spPr>
          <a:xfrm>
            <a:off x="777240" y="4094871"/>
            <a:ext cx="2468880" cy="313932"/>
          </a:xfrm>
          <a:prstGeom prst="rect">
            <a:avLst/>
          </a:prstGeom>
          <a:noFill/>
        </p:spPr>
        <p:txBody>
          <a:bodyPr wrap="square" lIns="45720" tIns="18288" rIns="45720" bIns="18288" anchor="ctr">
            <a:spAutoFit/>
          </a:bodyPr>
          <a:lstStyle/>
          <a:p>
            <a:pPr algn="l">
              <a:spcAft>
                <a:spcPts val="400"/>
              </a:spcAft>
            </a:pPr>
            <a:r>
              <a:rPr b="0" i="0">
                <a:solidFill>
                  <a:srgbClr val="64748B"/>
                </a:solidFill>
                <a:latin typeface="Calibri"/>
              </a:rPr>
              <a:t>Gemini 3 cutoff</a:t>
            </a:r>
          </a:p>
        </p:txBody>
      </p:sp>
      <p:sp>
        <p:nvSpPr>
          <p:cNvPr id="14" name="TextBox 13"/>
          <p:cNvSpPr txBox="1"/>
          <p:nvPr/>
        </p:nvSpPr>
        <p:spPr>
          <a:xfrm>
            <a:off x="3200400" y="4094871"/>
            <a:ext cx="2651760" cy="313932"/>
          </a:xfrm>
          <a:prstGeom prst="rect">
            <a:avLst/>
          </a:prstGeom>
          <a:noFill/>
        </p:spPr>
        <p:txBody>
          <a:bodyPr wrap="square" lIns="45720" tIns="18288" rIns="45720" bIns="18288" anchor="ctr">
            <a:spAutoFit/>
          </a:bodyPr>
          <a:lstStyle/>
          <a:p>
            <a:pPr algn="l">
              <a:spcAft>
                <a:spcPts val="400"/>
              </a:spcAft>
            </a:pPr>
            <a:r>
              <a:rPr b="1" i="0">
                <a:solidFill>
                  <a:srgbClr val="21295C"/>
                </a:solidFill>
                <a:latin typeface="Calibri"/>
              </a:rPr>
              <a:t>Jan 2025  - before test</a:t>
            </a:r>
          </a:p>
        </p:txBody>
      </p:sp>
      <p:sp>
        <p:nvSpPr>
          <p:cNvPr id="15" name="TextBox 14"/>
          <p:cNvSpPr txBox="1"/>
          <p:nvPr/>
        </p:nvSpPr>
        <p:spPr>
          <a:xfrm>
            <a:off x="777240" y="4661799"/>
            <a:ext cx="2468880" cy="313932"/>
          </a:xfrm>
          <a:prstGeom prst="rect">
            <a:avLst/>
          </a:prstGeom>
          <a:noFill/>
        </p:spPr>
        <p:txBody>
          <a:bodyPr wrap="square" lIns="45720" tIns="18288" rIns="45720" bIns="18288" anchor="ctr">
            <a:spAutoFit/>
          </a:bodyPr>
          <a:lstStyle/>
          <a:p>
            <a:pPr algn="l">
              <a:spcAft>
                <a:spcPts val="400"/>
              </a:spcAft>
            </a:pPr>
            <a:r>
              <a:rPr b="0" i="0">
                <a:solidFill>
                  <a:srgbClr val="64748B"/>
                </a:solidFill>
                <a:latin typeface="Calibri"/>
              </a:rPr>
              <a:t>FinBERT</a:t>
            </a:r>
          </a:p>
        </p:txBody>
      </p:sp>
      <p:sp>
        <p:nvSpPr>
          <p:cNvPr id="16" name="TextBox 15"/>
          <p:cNvSpPr txBox="1"/>
          <p:nvPr/>
        </p:nvSpPr>
        <p:spPr>
          <a:xfrm>
            <a:off x="3200400" y="4661799"/>
            <a:ext cx="2651760" cy="313932"/>
          </a:xfrm>
          <a:prstGeom prst="rect">
            <a:avLst/>
          </a:prstGeom>
          <a:noFill/>
        </p:spPr>
        <p:txBody>
          <a:bodyPr wrap="square" lIns="45720" tIns="18288" rIns="45720" bIns="18288" anchor="ctr">
            <a:spAutoFit/>
          </a:bodyPr>
          <a:lstStyle/>
          <a:p>
            <a:pPr algn="l">
              <a:spcAft>
                <a:spcPts val="400"/>
              </a:spcAft>
            </a:pPr>
            <a:r>
              <a:rPr b="1" i="0">
                <a:solidFill>
                  <a:srgbClr val="21295C"/>
                </a:solidFill>
                <a:latin typeface="Calibri"/>
              </a:rPr>
              <a:t>pre-2021</a:t>
            </a:r>
          </a:p>
        </p:txBody>
      </p:sp>
      <p:sp>
        <p:nvSpPr>
          <p:cNvPr id="18" name="Rounded Rectangle 17"/>
          <p:cNvSpPr/>
          <p:nvPr/>
        </p:nvSpPr>
        <p:spPr>
          <a:xfrm>
            <a:off x="6172200" y="1417320"/>
            <a:ext cx="5440680" cy="466344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6442632" y="1626195"/>
            <a:ext cx="5029200" cy="283154"/>
          </a:xfrm>
          <a:prstGeom prst="rect">
            <a:avLst/>
          </a:prstGeom>
          <a:noFill/>
        </p:spPr>
        <p:txBody>
          <a:bodyPr wrap="square" lIns="45720" tIns="18288" rIns="45720" bIns="18288" anchor="t">
            <a:spAutoFit/>
          </a:bodyPr>
          <a:lstStyle/>
          <a:p>
            <a:pPr algn="l">
              <a:spcAft>
                <a:spcPts val="400"/>
              </a:spcAft>
            </a:pPr>
            <a:r>
              <a:rPr sz="1600" b="1" i="0">
                <a:solidFill>
                  <a:srgbClr val="21295C"/>
                </a:solidFill>
                <a:latin typeface="Calibri"/>
              </a:rPr>
              <a:t>THREE CRIMES -&gt; THREE FIXES</a:t>
            </a:r>
          </a:p>
        </p:txBody>
      </p:sp>
      <p:sp>
        <p:nvSpPr>
          <p:cNvPr id="20" name="Rounded Rectangle 19"/>
          <p:cNvSpPr/>
          <p:nvPr/>
        </p:nvSpPr>
        <p:spPr>
          <a:xfrm>
            <a:off x="6400800" y="2057400"/>
            <a:ext cx="4983480"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6583680" y="2167128"/>
            <a:ext cx="4572000" cy="313932"/>
          </a:xfrm>
          <a:prstGeom prst="rect">
            <a:avLst/>
          </a:prstGeom>
          <a:noFill/>
        </p:spPr>
        <p:txBody>
          <a:bodyPr wrap="square" lIns="45720" tIns="18288" rIns="45720" bIns="18288" anchor="t">
            <a:spAutoFit/>
          </a:bodyPr>
          <a:lstStyle/>
          <a:p>
            <a:pPr algn="l">
              <a:spcAft>
                <a:spcPts val="400"/>
              </a:spcAft>
            </a:pPr>
            <a:r>
              <a:rPr b="1" i="0">
                <a:solidFill>
                  <a:srgbClr val="1C7293"/>
                </a:solidFill>
                <a:latin typeface="Calibri"/>
              </a:rPr>
              <a:t>Leakage</a:t>
            </a:r>
          </a:p>
        </p:txBody>
      </p:sp>
      <p:sp>
        <p:nvSpPr>
          <p:cNvPr id="22" name="TextBox 21"/>
          <p:cNvSpPr txBox="1"/>
          <p:nvPr/>
        </p:nvSpPr>
        <p:spPr>
          <a:xfrm>
            <a:off x="6583680" y="2551176"/>
            <a:ext cx="4572000" cy="283154"/>
          </a:xfrm>
          <a:prstGeom prst="rect">
            <a:avLst/>
          </a:prstGeom>
          <a:noFill/>
        </p:spPr>
        <p:txBody>
          <a:bodyPr wrap="square" lIns="45720" tIns="18288" rIns="45720" bIns="18288" anchor="t">
            <a:spAutoFit/>
          </a:bodyPr>
          <a:lstStyle/>
          <a:p>
            <a:pPr algn="l">
              <a:lnSpc>
                <a:spcPct val="100000"/>
              </a:lnSpc>
              <a:spcAft>
                <a:spcPts val="400"/>
              </a:spcAft>
            </a:pPr>
            <a:r>
              <a:rPr lang="en-US" sz="1600" b="0" i="0">
                <a:solidFill>
                  <a:srgbClr val="1E293B"/>
                </a:solidFill>
                <a:latin typeface="Calibri"/>
              </a:rPr>
              <a:t>All model cutoffs before the 2025-26 data window</a:t>
            </a:r>
          </a:p>
        </p:txBody>
      </p:sp>
      <p:sp>
        <p:nvSpPr>
          <p:cNvPr id="23" name="Rounded Rectangle 22"/>
          <p:cNvSpPr/>
          <p:nvPr/>
        </p:nvSpPr>
        <p:spPr>
          <a:xfrm>
            <a:off x="6400800" y="3291840"/>
            <a:ext cx="4983480"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6583680" y="3401568"/>
            <a:ext cx="4572000" cy="313932"/>
          </a:xfrm>
          <a:prstGeom prst="rect">
            <a:avLst/>
          </a:prstGeom>
          <a:noFill/>
        </p:spPr>
        <p:txBody>
          <a:bodyPr wrap="square" lIns="45720" tIns="18288" rIns="45720" bIns="18288" anchor="t">
            <a:spAutoFit/>
          </a:bodyPr>
          <a:lstStyle/>
          <a:p>
            <a:pPr algn="l">
              <a:spcAft>
                <a:spcPts val="400"/>
              </a:spcAft>
            </a:pPr>
            <a:r>
              <a:rPr b="1" i="0">
                <a:solidFill>
                  <a:srgbClr val="1C7293"/>
                </a:solidFill>
                <a:latin typeface="Calibri"/>
              </a:rPr>
              <a:t>Frictions</a:t>
            </a:r>
          </a:p>
        </p:txBody>
      </p:sp>
      <p:sp>
        <p:nvSpPr>
          <p:cNvPr id="25" name="TextBox 24"/>
          <p:cNvSpPr txBox="1"/>
          <p:nvPr/>
        </p:nvSpPr>
        <p:spPr>
          <a:xfrm>
            <a:off x="6583680" y="3785616"/>
            <a:ext cx="4572000" cy="529376"/>
          </a:xfrm>
          <a:prstGeom prst="rect">
            <a:avLst/>
          </a:prstGeom>
          <a:noFill/>
        </p:spPr>
        <p:txBody>
          <a:bodyPr wrap="square" lIns="45720" tIns="18288" rIns="45720" bIns="18288" anchor="t">
            <a:spAutoFit/>
          </a:bodyPr>
          <a:lstStyle/>
          <a:p>
            <a:pPr algn="l">
              <a:lnSpc>
                <a:spcPct val="100000"/>
              </a:lnSpc>
              <a:spcAft>
                <a:spcPts val="400"/>
              </a:spcAft>
            </a:pPr>
            <a:r>
              <a:rPr sz="1600" b="0" i="0">
                <a:solidFill>
                  <a:srgbClr val="1E293B"/>
                </a:solidFill>
                <a:latin typeface="Calibri"/>
              </a:rPr>
              <a:t>Every metric at 0 and 10 bps + a 0-50 bps break-even sweep</a:t>
            </a:r>
          </a:p>
        </p:txBody>
      </p:sp>
      <p:sp>
        <p:nvSpPr>
          <p:cNvPr id="26" name="Rounded Rectangle 25"/>
          <p:cNvSpPr/>
          <p:nvPr/>
        </p:nvSpPr>
        <p:spPr>
          <a:xfrm>
            <a:off x="6400800" y="4526280"/>
            <a:ext cx="4983480"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6583680" y="4636008"/>
            <a:ext cx="4572000" cy="313932"/>
          </a:xfrm>
          <a:prstGeom prst="rect">
            <a:avLst/>
          </a:prstGeom>
          <a:noFill/>
        </p:spPr>
        <p:txBody>
          <a:bodyPr wrap="square" lIns="45720" tIns="18288" rIns="45720" bIns="18288" anchor="t">
            <a:spAutoFit/>
          </a:bodyPr>
          <a:lstStyle/>
          <a:p>
            <a:pPr algn="l">
              <a:spcAft>
                <a:spcPts val="400"/>
              </a:spcAft>
            </a:pPr>
            <a:r>
              <a:rPr b="1" i="0">
                <a:solidFill>
                  <a:srgbClr val="1C7293"/>
                </a:solidFill>
                <a:latin typeface="Calibri"/>
              </a:rPr>
              <a:t>Test tuning</a:t>
            </a:r>
          </a:p>
        </p:txBody>
      </p:sp>
      <p:sp>
        <p:nvSpPr>
          <p:cNvPr id="28" name="TextBox 27"/>
          <p:cNvSpPr txBox="1"/>
          <p:nvPr/>
        </p:nvSpPr>
        <p:spPr>
          <a:xfrm>
            <a:off x="6583680" y="5020056"/>
            <a:ext cx="4572000" cy="529376"/>
          </a:xfrm>
          <a:prstGeom prst="rect">
            <a:avLst/>
          </a:prstGeom>
          <a:noFill/>
        </p:spPr>
        <p:txBody>
          <a:bodyPr wrap="square" lIns="45720" tIns="18288" rIns="45720" bIns="18288" anchor="t">
            <a:spAutoFit/>
          </a:bodyPr>
          <a:lstStyle/>
          <a:p>
            <a:pPr algn="l">
              <a:lnSpc>
                <a:spcPct val="100000"/>
              </a:lnSpc>
              <a:spcAft>
                <a:spcPts val="400"/>
              </a:spcAft>
            </a:pPr>
            <a:r>
              <a:rPr sz="1600" b="0" i="0">
                <a:solidFill>
                  <a:srgbClr val="1E293B"/>
                </a:solidFill>
                <a:latin typeface="Calibri"/>
              </a:rPr>
              <a:t>All hyperparameters frozen in a dated commit before the first test run</a:t>
            </a:r>
          </a:p>
        </p:txBody>
      </p:sp>
      <p:sp>
        <p:nvSpPr>
          <p:cNvPr id="29" name="TextBox 28"/>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30" name="TextBox 29"/>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r>
              <a:rPr sz="900" b="0" i="0">
                <a:solidFill>
                  <a:srgbClr val="64748B"/>
                </a:solidFill>
                <a:latin typeface="Calibri"/>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976"/>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274320"/>
          </a:xfrm>
          <a:prstGeom prst="rect">
            <a:avLst/>
          </a:prstGeom>
          <a:noFill/>
        </p:spPr>
        <p:txBody>
          <a:bodyPr wrap="square" anchor="t">
            <a:spAutoFit/>
          </a:bodyPr>
          <a:lstStyle/>
          <a:p>
            <a:pPr algn="l">
              <a:spcBef>
                <a:spcPts val="0"/>
              </a:spcBef>
              <a:spcAft>
                <a:spcPts val="200"/>
              </a:spcAft>
            </a:pPr>
            <a:r>
              <a:rPr sz="1200" b="1">
                <a:solidFill>
                  <a:srgbClr val="1C7293"/>
                </a:solidFill>
                <a:latin typeface="Calibri"/>
              </a:rPr>
              <a:t>INTEGRITY</a:t>
            </a:r>
          </a:p>
        </p:txBody>
      </p:sp>
      <p:sp>
        <p:nvSpPr>
          <p:cNvPr id="4" name="TextBox 3"/>
          <p:cNvSpPr txBox="1"/>
          <p:nvPr/>
        </p:nvSpPr>
        <p:spPr>
          <a:xfrm>
            <a:off x="548640" y="530352"/>
            <a:ext cx="11064240" cy="584775"/>
          </a:xfrm>
          <a:prstGeom prst="rect">
            <a:avLst/>
          </a:prstGeom>
          <a:noFill/>
        </p:spPr>
        <p:txBody>
          <a:bodyPr wrap="square" anchor="t">
            <a:spAutoFit/>
          </a:bodyPr>
          <a:lstStyle/>
          <a:p>
            <a:pPr algn="l">
              <a:spcBef>
                <a:spcPts val="0"/>
              </a:spcBef>
              <a:spcAft>
                <a:spcPts val="200"/>
              </a:spcAft>
            </a:pPr>
            <a:r>
              <a:rPr sz="3200" b="1">
                <a:solidFill>
                  <a:srgbClr val="21295C"/>
                </a:solidFill>
                <a:latin typeface="Cambria"/>
              </a:rPr>
              <a:t>Leakage suite T1-T4 - how we earn "leakage-free"</a:t>
            </a:r>
          </a:p>
        </p:txBody>
      </p:sp>
      <p:sp>
        <p:nvSpPr>
          <p:cNvPr id="5" name="TextBox 4"/>
          <p:cNvSpPr txBox="1"/>
          <p:nvPr/>
        </p:nvSpPr>
        <p:spPr>
          <a:xfrm>
            <a:off x="548640" y="1243584"/>
            <a:ext cx="11064240" cy="338554"/>
          </a:xfrm>
          <a:prstGeom prst="rect">
            <a:avLst/>
          </a:prstGeom>
          <a:noFill/>
        </p:spPr>
        <p:txBody>
          <a:bodyPr wrap="square" anchor="t">
            <a:spAutoFit/>
          </a:bodyPr>
          <a:lstStyle/>
          <a:p>
            <a:pPr algn="l">
              <a:spcBef>
                <a:spcPts val="0"/>
              </a:spcBef>
              <a:spcAft>
                <a:spcPts val="200"/>
              </a:spcAft>
            </a:pPr>
            <a:r>
              <a:rPr sz="1600" b="0">
                <a:solidFill>
                  <a:srgbClr val="64748B"/>
                </a:solidFill>
                <a:latin typeface="Calibri"/>
              </a:rPr>
              <a:t>Four asserts run on every simulated day. A single future-dated record anywhere fails the run.</a:t>
            </a:r>
          </a:p>
        </p:txBody>
      </p:sp>
      <p:sp>
        <p:nvSpPr>
          <p:cNvPr id="6" name="TextBox 5"/>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7" name="TextBox 6"/>
          <p:cNvSpPr txBox="1"/>
          <p:nvPr/>
        </p:nvSpPr>
        <p:spPr>
          <a:xfrm>
            <a:off x="10972800" y="6473952"/>
            <a:ext cx="73152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8</a:t>
            </a:r>
          </a:p>
        </p:txBody>
      </p:sp>
      <p:sp>
        <p:nvSpPr>
          <p:cNvPr id="8" name="Rounded Rectangle 7"/>
          <p:cNvSpPr/>
          <p:nvPr/>
        </p:nvSpPr>
        <p:spPr>
          <a:xfrm>
            <a:off x="548640" y="1828800"/>
            <a:ext cx="5212080" cy="2057400"/>
          </a:xfrm>
          <a:prstGeom prst="roundRect">
            <a:avLst/>
          </a:prstGeom>
          <a:solidFill>
            <a:srgbClr val="F4F7FA"/>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828800"/>
            <a:ext cx="914400" cy="2057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606040"/>
            <a:ext cx="914400" cy="548640"/>
          </a:xfrm>
          <a:prstGeom prst="rect">
            <a:avLst/>
          </a:prstGeom>
          <a:noFill/>
        </p:spPr>
        <p:txBody>
          <a:bodyPr wrap="square" anchor="ctr">
            <a:spAutoFit/>
          </a:bodyPr>
          <a:lstStyle/>
          <a:p>
            <a:pPr algn="ctr">
              <a:spcBef>
                <a:spcPts val="0"/>
              </a:spcBef>
              <a:spcAft>
                <a:spcPts val="200"/>
              </a:spcAft>
            </a:pPr>
            <a:r>
              <a:rPr sz="2400" b="1">
                <a:solidFill>
                  <a:srgbClr val="FFFFFF"/>
                </a:solidFill>
                <a:latin typeface="Cambria"/>
              </a:rPr>
              <a:t>T1</a:t>
            </a:r>
          </a:p>
        </p:txBody>
      </p:sp>
      <p:sp>
        <p:nvSpPr>
          <p:cNvPr id="11" name="TextBox 10"/>
          <p:cNvSpPr txBox="1"/>
          <p:nvPr/>
        </p:nvSpPr>
        <p:spPr>
          <a:xfrm>
            <a:off x="1600200" y="1993392"/>
            <a:ext cx="4023360" cy="369332"/>
          </a:xfrm>
          <a:prstGeom prst="rect">
            <a:avLst/>
          </a:prstGeom>
          <a:noFill/>
        </p:spPr>
        <p:txBody>
          <a:bodyPr wrap="square" anchor="t">
            <a:spAutoFit/>
          </a:bodyPr>
          <a:lstStyle/>
          <a:p>
            <a:pPr algn="l">
              <a:spcBef>
                <a:spcPts val="0"/>
              </a:spcBef>
              <a:spcAft>
                <a:spcPts val="200"/>
              </a:spcAft>
            </a:pPr>
            <a:r>
              <a:rPr b="1">
                <a:solidFill>
                  <a:srgbClr val="21295C"/>
                </a:solidFill>
                <a:latin typeface="Cambria"/>
              </a:rPr>
              <a:t>Valid dates + </a:t>
            </a:r>
            <a:r>
              <a:rPr lang="en-US" b="1">
                <a:solidFill>
                  <a:srgbClr val="21295C"/>
                </a:solidFill>
                <a:latin typeface="Cambria"/>
              </a:rPr>
              <a:t>After Market news</a:t>
            </a:r>
            <a:r>
              <a:rPr b="1">
                <a:solidFill>
                  <a:srgbClr val="21295C"/>
                </a:solidFill>
                <a:latin typeface="Cambria"/>
              </a:rPr>
              <a:t> rule</a:t>
            </a:r>
          </a:p>
        </p:txBody>
      </p:sp>
      <p:sp>
        <p:nvSpPr>
          <p:cNvPr id="12" name="TextBox 11"/>
          <p:cNvSpPr txBox="1"/>
          <p:nvPr/>
        </p:nvSpPr>
        <p:spPr>
          <a:xfrm>
            <a:off x="1600200" y="2514600"/>
            <a:ext cx="4023360" cy="1077218"/>
          </a:xfrm>
          <a:prstGeom prst="rect">
            <a:avLst/>
          </a:prstGeom>
          <a:noFill/>
        </p:spPr>
        <p:txBody>
          <a:bodyPr wrap="square" anchor="t">
            <a:spAutoFit/>
          </a:bodyPr>
          <a:lstStyle/>
          <a:p>
            <a:pPr algn="l">
              <a:spcBef>
                <a:spcPts val="0"/>
              </a:spcBef>
              <a:spcAft>
                <a:spcPts val="200"/>
              </a:spcAft>
            </a:pPr>
            <a:r>
              <a:rPr sz="1600" b="0">
                <a:solidFill>
                  <a:srgbClr val="1E293B"/>
                </a:solidFill>
                <a:latin typeface="Calibri"/>
              </a:rPr>
              <a:t>Every record carries a </a:t>
            </a:r>
            <a:r>
              <a:rPr sz="1600" b="0" err="1">
                <a:solidFill>
                  <a:srgbClr val="1E293B"/>
                </a:solidFill>
                <a:latin typeface="Calibri"/>
              </a:rPr>
              <a:t>timezone</a:t>
            </a:r>
            <a:r>
              <a:rPr sz="1600" b="0">
                <a:solidFill>
                  <a:srgbClr val="1E293B"/>
                </a:solidFill>
                <a:latin typeface="Calibri"/>
              </a:rPr>
              <a:t>-aware timestamp. News published after 16:00 ET counts only for the NEXT trading session - no same-day look-ahead.</a:t>
            </a:r>
          </a:p>
        </p:txBody>
      </p:sp>
      <p:sp>
        <p:nvSpPr>
          <p:cNvPr id="13" name="Rounded Rectangle 12"/>
          <p:cNvSpPr/>
          <p:nvPr/>
        </p:nvSpPr>
        <p:spPr>
          <a:xfrm>
            <a:off x="6035040" y="1828800"/>
            <a:ext cx="5212080" cy="2057400"/>
          </a:xfrm>
          <a:prstGeom prst="roundRect">
            <a:avLst/>
          </a:prstGeom>
          <a:solidFill>
            <a:srgbClr val="F4F7FA"/>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35040" y="1828800"/>
            <a:ext cx="914400" cy="2057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35040" y="2606040"/>
            <a:ext cx="914400" cy="548640"/>
          </a:xfrm>
          <a:prstGeom prst="rect">
            <a:avLst/>
          </a:prstGeom>
          <a:noFill/>
        </p:spPr>
        <p:txBody>
          <a:bodyPr wrap="square" anchor="ctr">
            <a:spAutoFit/>
          </a:bodyPr>
          <a:lstStyle/>
          <a:p>
            <a:pPr algn="ctr">
              <a:spcBef>
                <a:spcPts val="0"/>
              </a:spcBef>
              <a:spcAft>
                <a:spcPts val="200"/>
              </a:spcAft>
            </a:pPr>
            <a:r>
              <a:rPr sz="2400" b="1">
                <a:solidFill>
                  <a:srgbClr val="FFFFFF"/>
                </a:solidFill>
                <a:latin typeface="Cambria"/>
              </a:rPr>
              <a:t>T2</a:t>
            </a:r>
          </a:p>
        </p:txBody>
      </p:sp>
      <p:sp>
        <p:nvSpPr>
          <p:cNvPr id="16" name="TextBox 15"/>
          <p:cNvSpPr txBox="1"/>
          <p:nvPr/>
        </p:nvSpPr>
        <p:spPr>
          <a:xfrm>
            <a:off x="7086600" y="1993392"/>
            <a:ext cx="4023360" cy="369332"/>
          </a:xfrm>
          <a:prstGeom prst="rect">
            <a:avLst/>
          </a:prstGeom>
          <a:noFill/>
        </p:spPr>
        <p:txBody>
          <a:bodyPr wrap="square" anchor="t">
            <a:spAutoFit/>
          </a:bodyPr>
          <a:lstStyle/>
          <a:p>
            <a:pPr algn="l">
              <a:spcBef>
                <a:spcPts val="0"/>
              </a:spcBef>
              <a:spcAft>
                <a:spcPts val="200"/>
              </a:spcAft>
            </a:pPr>
            <a:r>
              <a:rPr b="1">
                <a:solidFill>
                  <a:srgbClr val="21295C"/>
                </a:solidFill>
                <a:latin typeface="Cambria"/>
              </a:rPr>
              <a:t>Filings keyed by filed-date</a:t>
            </a:r>
          </a:p>
        </p:txBody>
      </p:sp>
      <p:sp>
        <p:nvSpPr>
          <p:cNvPr id="17" name="TextBox 16"/>
          <p:cNvSpPr txBox="1"/>
          <p:nvPr/>
        </p:nvSpPr>
        <p:spPr>
          <a:xfrm>
            <a:off x="7086600" y="2514600"/>
            <a:ext cx="4023360" cy="1077218"/>
          </a:xfrm>
          <a:prstGeom prst="rect">
            <a:avLst/>
          </a:prstGeom>
          <a:noFill/>
        </p:spPr>
        <p:txBody>
          <a:bodyPr wrap="square" anchor="t">
            <a:spAutoFit/>
          </a:bodyPr>
          <a:lstStyle/>
          <a:p>
            <a:pPr algn="l">
              <a:spcBef>
                <a:spcPts val="0"/>
              </a:spcBef>
              <a:spcAft>
                <a:spcPts val="200"/>
              </a:spcAft>
            </a:pPr>
            <a:r>
              <a:rPr sz="1600" b="0">
                <a:solidFill>
                  <a:srgbClr val="1E293B"/>
                </a:solidFill>
                <a:latin typeface="Calibri"/>
              </a:rPr>
              <a:t>10-K/10-Q enter memory on their true SEC </a:t>
            </a:r>
            <a:r>
              <a:rPr sz="1600" b="0" err="1">
                <a:solidFill>
                  <a:srgbClr val="1E293B"/>
                </a:solidFill>
                <a:latin typeface="Calibri"/>
              </a:rPr>
              <a:t>filedAt</a:t>
            </a:r>
            <a:r>
              <a:rPr sz="1600" b="0">
                <a:solidFill>
                  <a:srgbClr val="1E293B"/>
                </a:solidFill>
                <a:latin typeface="Calibri"/>
              </a:rPr>
              <a:t>, never their period-end. Filings filed just before the window are seeded at sim start with the real filed date.</a:t>
            </a:r>
          </a:p>
        </p:txBody>
      </p:sp>
      <p:sp>
        <p:nvSpPr>
          <p:cNvPr id="18" name="Rounded Rectangle 17"/>
          <p:cNvSpPr/>
          <p:nvPr/>
        </p:nvSpPr>
        <p:spPr>
          <a:xfrm>
            <a:off x="548640" y="4206240"/>
            <a:ext cx="5212080" cy="2057400"/>
          </a:xfrm>
          <a:prstGeom prst="roundRect">
            <a:avLst/>
          </a:prstGeom>
          <a:solidFill>
            <a:srgbClr val="F4F7FA"/>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4206240"/>
            <a:ext cx="914400" cy="2057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983479"/>
            <a:ext cx="914400" cy="548640"/>
          </a:xfrm>
          <a:prstGeom prst="rect">
            <a:avLst/>
          </a:prstGeom>
          <a:noFill/>
        </p:spPr>
        <p:txBody>
          <a:bodyPr wrap="square" anchor="ctr">
            <a:spAutoFit/>
          </a:bodyPr>
          <a:lstStyle/>
          <a:p>
            <a:pPr algn="ctr">
              <a:spcBef>
                <a:spcPts val="0"/>
              </a:spcBef>
              <a:spcAft>
                <a:spcPts val="200"/>
              </a:spcAft>
            </a:pPr>
            <a:r>
              <a:rPr sz="2400" b="1">
                <a:solidFill>
                  <a:srgbClr val="FFFFFF"/>
                </a:solidFill>
                <a:latin typeface="Cambria"/>
              </a:rPr>
              <a:t>T3</a:t>
            </a:r>
          </a:p>
        </p:txBody>
      </p:sp>
      <p:sp>
        <p:nvSpPr>
          <p:cNvPr id="21" name="TextBox 20"/>
          <p:cNvSpPr txBox="1"/>
          <p:nvPr/>
        </p:nvSpPr>
        <p:spPr>
          <a:xfrm>
            <a:off x="1600200" y="4370831"/>
            <a:ext cx="4023360" cy="369332"/>
          </a:xfrm>
          <a:prstGeom prst="rect">
            <a:avLst/>
          </a:prstGeom>
          <a:noFill/>
        </p:spPr>
        <p:txBody>
          <a:bodyPr wrap="square" anchor="t">
            <a:spAutoFit/>
          </a:bodyPr>
          <a:lstStyle/>
          <a:p>
            <a:pPr algn="l">
              <a:spcBef>
                <a:spcPts val="0"/>
              </a:spcBef>
              <a:spcAft>
                <a:spcPts val="200"/>
              </a:spcAft>
            </a:pPr>
            <a:r>
              <a:rPr b="1">
                <a:solidFill>
                  <a:srgbClr val="21295C"/>
                </a:solidFill>
                <a:latin typeface="Cambria"/>
              </a:rPr>
              <a:t>Env serves only &lt;= today</a:t>
            </a:r>
          </a:p>
        </p:txBody>
      </p:sp>
      <p:sp>
        <p:nvSpPr>
          <p:cNvPr id="22" name="TextBox 21"/>
          <p:cNvSpPr txBox="1"/>
          <p:nvPr/>
        </p:nvSpPr>
        <p:spPr>
          <a:xfrm>
            <a:off x="1600200" y="4892040"/>
            <a:ext cx="4023360" cy="1077218"/>
          </a:xfrm>
          <a:prstGeom prst="rect">
            <a:avLst/>
          </a:prstGeom>
          <a:noFill/>
        </p:spPr>
        <p:txBody>
          <a:bodyPr wrap="square" anchor="t">
            <a:spAutoFit/>
          </a:bodyPr>
          <a:lstStyle/>
          <a:p>
            <a:pPr algn="l">
              <a:spcBef>
                <a:spcPts val="0"/>
              </a:spcBef>
              <a:spcAft>
                <a:spcPts val="200"/>
              </a:spcAft>
            </a:pPr>
            <a:r>
              <a:rPr sz="1600" b="0">
                <a:solidFill>
                  <a:srgbClr val="1E293B"/>
                </a:solidFill>
                <a:latin typeface="Calibri"/>
              </a:rPr>
              <a:t>On day t the market environment exposes prices/news/filings dated &lt;= t only. </a:t>
            </a:r>
            <a:br>
              <a:rPr lang="en-US" sz="1600" b="0">
                <a:solidFill>
                  <a:srgbClr val="1E293B"/>
                </a:solidFill>
                <a:latin typeface="Calibri"/>
              </a:rPr>
            </a:br>
            <a:r>
              <a:rPr sz="1600" b="0">
                <a:solidFill>
                  <a:srgbClr val="1E293B"/>
                </a:solidFill>
                <a:latin typeface="Calibri"/>
              </a:rPr>
              <a:t>Hard assert: max(context date) &lt;= </a:t>
            </a:r>
            <a:r>
              <a:rPr sz="1600" b="0" err="1">
                <a:solidFill>
                  <a:srgbClr val="1E293B"/>
                </a:solidFill>
                <a:latin typeface="Calibri"/>
              </a:rPr>
              <a:t>cur_date</a:t>
            </a:r>
            <a:r>
              <a:rPr sz="1600" b="0">
                <a:solidFill>
                  <a:srgbClr val="1E293B"/>
                </a:solidFill>
                <a:latin typeface="Calibri"/>
              </a:rPr>
              <a:t>, or the run aborts.</a:t>
            </a:r>
          </a:p>
        </p:txBody>
      </p:sp>
      <p:sp>
        <p:nvSpPr>
          <p:cNvPr id="23" name="Rounded Rectangle 22"/>
          <p:cNvSpPr/>
          <p:nvPr/>
        </p:nvSpPr>
        <p:spPr>
          <a:xfrm>
            <a:off x="6035040" y="4206240"/>
            <a:ext cx="5212080" cy="2057400"/>
          </a:xfrm>
          <a:prstGeom prst="roundRect">
            <a:avLst/>
          </a:prstGeom>
          <a:solidFill>
            <a:srgbClr val="F4F7FA"/>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035040" y="4206240"/>
            <a:ext cx="914400" cy="2057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35040" y="4983479"/>
            <a:ext cx="914400" cy="548640"/>
          </a:xfrm>
          <a:prstGeom prst="rect">
            <a:avLst/>
          </a:prstGeom>
          <a:noFill/>
        </p:spPr>
        <p:txBody>
          <a:bodyPr wrap="square" anchor="ctr">
            <a:spAutoFit/>
          </a:bodyPr>
          <a:lstStyle/>
          <a:p>
            <a:pPr algn="ctr">
              <a:spcBef>
                <a:spcPts val="0"/>
              </a:spcBef>
              <a:spcAft>
                <a:spcPts val="200"/>
              </a:spcAft>
            </a:pPr>
            <a:r>
              <a:rPr sz="2400" b="1">
                <a:solidFill>
                  <a:srgbClr val="FFFFFF"/>
                </a:solidFill>
                <a:latin typeface="Cambria"/>
              </a:rPr>
              <a:t>T4</a:t>
            </a:r>
          </a:p>
        </p:txBody>
      </p:sp>
      <p:sp>
        <p:nvSpPr>
          <p:cNvPr id="26" name="TextBox 25"/>
          <p:cNvSpPr txBox="1"/>
          <p:nvPr/>
        </p:nvSpPr>
        <p:spPr>
          <a:xfrm>
            <a:off x="7086600" y="4370831"/>
            <a:ext cx="4023360" cy="369332"/>
          </a:xfrm>
          <a:prstGeom prst="rect">
            <a:avLst/>
          </a:prstGeom>
          <a:noFill/>
        </p:spPr>
        <p:txBody>
          <a:bodyPr wrap="square" anchor="t">
            <a:spAutoFit/>
          </a:bodyPr>
          <a:lstStyle/>
          <a:p>
            <a:pPr algn="l">
              <a:spcBef>
                <a:spcPts val="0"/>
              </a:spcBef>
              <a:spcAft>
                <a:spcPts val="200"/>
              </a:spcAft>
            </a:pPr>
            <a:r>
              <a:rPr b="1">
                <a:solidFill>
                  <a:srgbClr val="21295C"/>
                </a:solidFill>
                <a:latin typeface="Cambria"/>
              </a:rPr>
              <a:t>Summaries inherit source date</a:t>
            </a:r>
          </a:p>
        </p:txBody>
      </p:sp>
      <p:sp>
        <p:nvSpPr>
          <p:cNvPr id="27" name="TextBox 26"/>
          <p:cNvSpPr txBox="1"/>
          <p:nvPr/>
        </p:nvSpPr>
        <p:spPr>
          <a:xfrm>
            <a:off x="7086600" y="4892040"/>
            <a:ext cx="4023360" cy="830997"/>
          </a:xfrm>
          <a:prstGeom prst="rect">
            <a:avLst/>
          </a:prstGeom>
          <a:noFill/>
        </p:spPr>
        <p:txBody>
          <a:bodyPr wrap="square" anchor="t">
            <a:spAutoFit/>
          </a:bodyPr>
          <a:lstStyle/>
          <a:p>
            <a:pPr algn="l">
              <a:spcBef>
                <a:spcPts val="0"/>
              </a:spcBef>
              <a:spcAft>
                <a:spcPts val="200"/>
              </a:spcAft>
            </a:pPr>
            <a:r>
              <a:rPr sz="1600" b="0">
                <a:solidFill>
                  <a:srgbClr val="1E293B"/>
                </a:solidFill>
                <a:latin typeface="Calibri"/>
              </a:rPr>
              <a:t>A Gemini summary carries the publish date of the article it </a:t>
            </a:r>
            <a:r>
              <a:rPr lang="en-US" sz="1600" b="0" err="1">
                <a:solidFill>
                  <a:srgbClr val="1E293B"/>
                </a:solidFill>
                <a:latin typeface="Calibri"/>
              </a:rPr>
              <a:t>summarises</a:t>
            </a:r>
            <a:r>
              <a:rPr sz="1600" b="0">
                <a:solidFill>
                  <a:srgbClr val="1E293B"/>
                </a:solidFill>
                <a:latin typeface="Calibri"/>
              </a:rPr>
              <a:t>, so derived text cannot smuggle a future date past T3.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lang="en-US" sz="1600" b="1" i="0">
                <a:solidFill>
                  <a:srgbClr val="02C39A"/>
                </a:solidFill>
                <a:latin typeface="Calibri"/>
              </a:rPr>
              <a:t>REALITY CHECK</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lang="en-US" sz="3600" b="1" i="0">
                <a:solidFill>
                  <a:srgbClr val="FFFFFF"/>
                </a:solidFill>
                <a:latin typeface="Cambria"/>
              </a:rPr>
              <a:t>Our Sharpe vs. the paper's reported Sharpe</a:t>
            </a:r>
          </a:p>
        </p:txBody>
      </p:sp>
      <p:sp>
        <p:nvSpPr>
          <p:cNvPr id="5" name="TextBox 4"/>
          <p:cNvSpPr txBox="1"/>
          <p:nvPr/>
        </p:nvSpPr>
        <p:spPr>
          <a:xfrm>
            <a:off x="548640" y="1325880"/>
            <a:ext cx="11064240" cy="283154"/>
          </a:xfrm>
          <a:prstGeom prst="rect">
            <a:avLst/>
          </a:prstGeom>
          <a:noFill/>
        </p:spPr>
        <p:txBody>
          <a:bodyPr wrap="square" lIns="45720" tIns="18288" rIns="45720" bIns="18288" anchor="t">
            <a:spAutoFit/>
          </a:bodyPr>
          <a:lstStyle/>
          <a:p>
            <a:pPr algn="l">
              <a:spcAft>
                <a:spcPts val="400"/>
              </a:spcAft>
            </a:pPr>
            <a:r>
              <a:rPr sz="1600" b="0" i="0">
                <a:solidFill>
                  <a:srgbClr val="CADCFC"/>
                </a:solidFill>
                <a:latin typeface="Calibri"/>
              </a:rPr>
              <a:t>The paper reports these Sharpe ratios on its leaky, frictionless, tuned 2022-23 window. Ours are leakage-free with costs:</a:t>
            </a:r>
          </a:p>
        </p:txBody>
      </p:sp>
      <p:grpSp>
        <p:nvGrpSpPr>
          <p:cNvPr id="39" name="קבוצה 38">
            <a:extLst>
              <a:ext uri="{FF2B5EF4-FFF2-40B4-BE49-F238E27FC236}">
                <a16:creationId xmlns:a16="http://schemas.microsoft.com/office/drawing/2014/main" id="{6B23D294-255D-49DD-E3C6-7E04D7411BDD}"/>
              </a:ext>
            </a:extLst>
          </p:cNvPr>
          <p:cNvGrpSpPr/>
          <p:nvPr/>
        </p:nvGrpSpPr>
        <p:grpSpPr>
          <a:xfrm>
            <a:off x="675342" y="1758875"/>
            <a:ext cx="10591501" cy="3773245"/>
            <a:chOff x="1280160" y="1920240"/>
            <a:chExt cx="10058400" cy="3520440"/>
          </a:xfrm>
        </p:grpSpPr>
        <p:sp>
          <p:nvSpPr>
            <p:cNvPr id="6" name="Rectangle 5"/>
            <p:cNvSpPr/>
            <p:nvPr/>
          </p:nvSpPr>
          <p:spPr>
            <a:xfrm>
              <a:off x="1280160" y="1920240"/>
              <a:ext cx="100584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1280160" y="2014734"/>
              <a:ext cx="2377440" cy="313932"/>
            </a:xfrm>
            <a:prstGeom prst="rect">
              <a:avLst/>
            </a:prstGeom>
            <a:noFill/>
          </p:spPr>
          <p:txBody>
            <a:bodyPr wrap="square" lIns="45720" tIns="18288" rIns="45720" bIns="18288" anchor="ctr">
              <a:spAutoFit/>
            </a:bodyPr>
            <a:lstStyle/>
            <a:p>
              <a:pPr algn="l">
                <a:spcAft>
                  <a:spcPts val="400"/>
                </a:spcAft>
              </a:pPr>
              <a:r>
                <a:rPr b="1" i="0">
                  <a:solidFill>
                    <a:srgbClr val="FFFFFF"/>
                  </a:solidFill>
                  <a:latin typeface="Calibri"/>
                </a:rPr>
                <a:t>Ticker</a:t>
              </a:r>
            </a:p>
          </p:txBody>
        </p:sp>
        <p:sp>
          <p:nvSpPr>
            <p:cNvPr id="8" name="TextBox 7"/>
            <p:cNvSpPr txBox="1"/>
            <p:nvPr/>
          </p:nvSpPr>
          <p:spPr>
            <a:xfrm>
              <a:off x="3657600" y="2014734"/>
              <a:ext cx="2926080" cy="313932"/>
            </a:xfrm>
            <a:prstGeom prst="rect">
              <a:avLst/>
            </a:prstGeom>
            <a:noFill/>
          </p:spPr>
          <p:txBody>
            <a:bodyPr wrap="square" lIns="45720" tIns="18288" rIns="45720" bIns="18288" anchor="ctr">
              <a:spAutoFit/>
            </a:bodyPr>
            <a:lstStyle/>
            <a:p>
              <a:pPr algn="ctr">
                <a:spcAft>
                  <a:spcPts val="400"/>
                </a:spcAft>
              </a:pPr>
              <a:r>
                <a:rPr b="1" i="0">
                  <a:solidFill>
                    <a:srgbClr val="FFFFFF"/>
                  </a:solidFill>
                  <a:latin typeface="Calibri"/>
                </a:rPr>
                <a:t>Paper (FinMem)</a:t>
              </a:r>
            </a:p>
          </p:txBody>
        </p:sp>
        <p:sp>
          <p:nvSpPr>
            <p:cNvPr id="9" name="TextBox 8"/>
            <p:cNvSpPr txBox="1"/>
            <p:nvPr/>
          </p:nvSpPr>
          <p:spPr>
            <a:xfrm>
              <a:off x="6583680" y="2014734"/>
              <a:ext cx="3108960" cy="313932"/>
            </a:xfrm>
            <a:prstGeom prst="rect">
              <a:avLst/>
            </a:prstGeom>
            <a:noFill/>
          </p:spPr>
          <p:txBody>
            <a:bodyPr wrap="square" lIns="45720" tIns="18288" rIns="45720" bIns="18288" anchor="ctr">
              <a:spAutoFit/>
            </a:bodyPr>
            <a:lstStyle/>
            <a:p>
              <a:pPr algn="ctr">
                <a:spcAft>
                  <a:spcPts val="400"/>
                </a:spcAft>
              </a:pPr>
              <a:r>
                <a:rPr b="1" i="0">
                  <a:solidFill>
                    <a:srgbClr val="FFFFFF"/>
                  </a:solidFill>
                  <a:latin typeface="Calibri"/>
                </a:rPr>
                <a:t>Ours (FinMem-Ours)</a:t>
              </a:r>
            </a:p>
          </p:txBody>
        </p:sp>
        <p:sp>
          <p:nvSpPr>
            <p:cNvPr id="10" name="TextBox 9"/>
            <p:cNvSpPr txBox="1"/>
            <p:nvPr/>
          </p:nvSpPr>
          <p:spPr>
            <a:xfrm>
              <a:off x="9692640" y="2014734"/>
              <a:ext cx="1645920" cy="313932"/>
            </a:xfrm>
            <a:prstGeom prst="rect">
              <a:avLst/>
            </a:prstGeom>
            <a:noFill/>
          </p:spPr>
          <p:txBody>
            <a:bodyPr wrap="square" lIns="45720" tIns="18288" rIns="45720" bIns="18288" anchor="ctr">
              <a:spAutoFit/>
            </a:bodyPr>
            <a:lstStyle/>
            <a:p>
              <a:pPr algn="ctr">
                <a:spcAft>
                  <a:spcPts val="400"/>
                </a:spcAft>
              </a:pPr>
              <a:r>
                <a:rPr b="1" i="0">
                  <a:solidFill>
                    <a:srgbClr val="FFFFFF"/>
                  </a:solidFill>
                  <a:latin typeface="Calibri"/>
                </a:rPr>
                <a:t>Delta</a:t>
              </a:r>
            </a:p>
          </p:txBody>
        </p:sp>
        <p:sp>
          <p:nvSpPr>
            <p:cNvPr id="11" name="Rectangle 10"/>
            <p:cNvSpPr/>
            <p:nvPr/>
          </p:nvSpPr>
          <p:spPr>
            <a:xfrm>
              <a:off x="1280160" y="2423160"/>
              <a:ext cx="10058400" cy="603504"/>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1280160" y="2552557"/>
              <a:ext cx="2377440" cy="344710"/>
            </a:xfrm>
            <a:prstGeom prst="rect">
              <a:avLst/>
            </a:prstGeom>
            <a:noFill/>
          </p:spPr>
          <p:txBody>
            <a:bodyPr wrap="square" lIns="45720" tIns="18288" rIns="45720" bIns="18288" anchor="ctr">
              <a:spAutoFit/>
            </a:bodyPr>
            <a:lstStyle/>
            <a:p>
              <a:pPr algn="l">
                <a:spcAft>
                  <a:spcPts val="400"/>
                </a:spcAft>
              </a:pPr>
              <a:r>
                <a:rPr sz="2000" b="1" i="0">
                  <a:solidFill>
                    <a:srgbClr val="FFFFFF"/>
                  </a:solidFill>
                  <a:latin typeface="Calibri"/>
                </a:rPr>
                <a:t>TSLA</a:t>
              </a:r>
            </a:p>
          </p:txBody>
        </p:sp>
        <p:sp>
          <p:nvSpPr>
            <p:cNvPr id="13" name="TextBox 12"/>
            <p:cNvSpPr txBox="1"/>
            <p:nvPr/>
          </p:nvSpPr>
          <p:spPr>
            <a:xfrm>
              <a:off x="3657600" y="2552557"/>
              <a:ext cx="2926080" cy="344710"/>
            </a:xfrm>
            <a:prstGeom prst="rect">
              <a:avLst/>
            </a:prstGeom>
            <a:noFill/>
          </p:spPr>
          <p:txBody>
            <a:bodyPr wrap="square" lIns="45720" tIns="18288" rIns="45720" bIns="18288" anchor="ctr">
              <a:spAutoFit/>
            </a:bodyPr>
            <a:lstStyle/>
            <a:p>
              <a:pPr algn="ctr">
                <a:spcAft>
                  <a:spcPts val="400"/>
                </a:spcAft>
              </a:pPr>
              <a:r>
                <a:rPr sz="2000" b="1" i="0">
                  <a:solidFill>
                    <a:srgbClr val="EF9F27"/>
                  </a:solidFill>
                  <a:latin typeface="Calibri"/>
                </a:rPr>
                <a:t>2.67</a:t>
              </a:r>
            </a:p>
          </p:txBody>
        </p:sp>
        <p:sp>
          <p:nvSpPr>
            <p:cNvPr id="14" name="TextBox 13"/>
            <p:cNvSpPr txBox="1"/>
            <p:nvPr/>
          </p:nvSpPr>
          <p:spPr>
            <a:xfrm>
              <a:off x="6583680" y="2552557"/>
              <a:ext cx="3108960" cy="344710"/>
            </a:xfrm>
            <a:prstGeom prst="rect">
              <a:avLst/>
            </a:prstGeom>
            <a:noFill/>
          </p:spPr>
          <p:txBody>
            <a:bodyPr wrap="square" lIns="45720" tIns="18288" rIns="45720" bIns="18288" anchor="ctr">
              <a:spAutoFit/>
            </a:bodyPr>
            <a:lstStyle/>
            <a:p>
              <a:pPr algn="ctr">
                <a:spcAft>
                  <a:spcPts val="400"/>
                </a:spcAft>
              </a:pPr>
              <a:r>
                <a:rPr sz="2000" b="1" i="0">
                  <a:solidFill>
                    <a:srgbClr val="E24B4A"/>
                  </a:solidFill>
                  <a:latin typeface="Calibri"/>
                </a:rPr>
                <a:t>-1.92</a:t>
              </a:r>
            </a:p>
          </p:txBody>
        </p:sp>
        <p:sp>
          <p:nvSpPr>
            <p:cNvPr id="15" name="TextBox 14"/>
            <p:cNvSpPr txBox="1"/>
            <p:nvPr/>
          </p:nvSpPr>
          <p:spPr>
            <a:xfrm>
              <a:off x="9692640" y="2552557"/>
              <a:ext cx="1645920" cy="344710"/>
            </a:xfrm>
            <a:prstGeom prst="rect">
              <a:avLst/>
            </a:prstGeom>
            <a:noFill/>
          </p:spPr>
          <p:txBody>
            <a:bodyPr wrap="square" lIns="45720" tIns="18288" rIns="45720" bIns="18288" anchor="ctr">
              <a:spAutoFit/>
            </a:bodyPr>
            <a:lstStyle/>
            <a:p>
              <a:pPr algn="ctr">
                <a:spcAft>
                  <a:spcPts val="400"/>
                </a:spcAft>
              </a:pPr>
              <a:r>
                <a:rPr sz="2000" b="0" i="0">
                  <a:solidFill>
                    <a:srgbClr val="E24B4A"/>
                  </a:solidFill>
                  <a:latin typeface="Calibri"/>
                </a:rPr>
                <a:t>-4.6</a:t>
              </a:r>
            </a:p>
          </p:txBody>
        </p:sp>
        <p:sp>
          <p:nvSpPr>
            <p:cNvPr id="16" name="Rectangle 15"/>
            <p:cNvSpPr/>
            <p:nvPr/>
          </p:nvSpPr>
          <p:spPr>
            <a:xfrm>
              <a:off x="1280160" y="3026664"/>
              <a:ext cx="10058400" cy="603504"/>
            </a:xfrm>
            <a:prstGeom prst="rect">
              <a:avLst/>
            </a:prstGeom>
            <a:solidFill>
              <a:srgbClr val="2B3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1280160" y="3156061"/>
              <a:ext cx="2377440" cy="344710"/>
            </a:xfrm>
            <a:prstGeom prst="rect">
              <a:avLst/>
            </a:prstGeom>
            <a:noFill/>
          </p:spPr>
          <p:txBody>
            <a:bodyPr wrap="square" lIns="45720" tIns="18288" rIns="45720" bIns="18288" anchor="ctr">
              <a:spAutoFit/>
            </a:bodyPr>
            <a:lstStyle/>
            <a:p>
              <a:pPr algn="l">
                <a:spcAft>
                  <a:spcPts val="400"/>
                </a:spcAft>
              </a:pPr>
              <a:r>
                <a:rPr sz="2000" b="1" i="0">
                  <a:solidFill>
                    <a:srgbClr val="FFFFFF"/>
                  </a:solidFill>
                  <a:latin typeface="Calibri"/>
                </a:rPr>
                <a:t>NFLX</a:t>
              </a:r>
            </a:p>
          </p:txBody>
        </p:sp>
        <p:sp>
          <p:nvSpPr>
            <p:cNvPr id="18" name="TextBox 17"/>
            <p:cNvSpPr txBox="1"/>
            <p:nvPr/>
          </p:nvSpPr>
          <p:spPr>
            <a:xfrm>
              <a:off x="3657600" y="3156061"/>
              <a:ext cx="2926080" cy="344710"/>
            </a:xfrm>
            <a:prstGeom prst="rect">
              <a:avLst/>
            </a:prstGeom>
            <a:noFill/>
          </p:spPr>
          <p:txBody>
            <a:bodyPr wrap="square" lIns="45720" tIns="18288" rIns="45720" bIns="18288" anchor="ctr">
              <a:spAutoFit/>
            </a:bodyPr>
            <a:lstStyle/>
            <a:p>
              <a:pPr algn="ctr">
                <a:spcAft>
                  <a:spcPts val="400"/>
                </a:spcAft>
              </a:pPr>
              <a:r>
                <a:rPr sz="2000" b="1" i="0">
                  <a:solidFill>
                    <a:srgbClr val="EF9F27"/>
                  </a:solidFill>
                  <a:latin typeface="Calibri"/>
                </a:rPr>
                <a:t>2.01</a:t>
              </a:r>
            </a:p>
          </p:txBody>
        </p:sp>
        <p:sp>
          <p:nvSpPr>
            <p:cNvPr id="19" name="TextBox 18"/>
            <p:cNvSpPr txBox="1"/>
            <p:nvPr/>
          </p:nvSpPr>
          <p:spPr>
            <a:xfrm>
              <a:off x="6583680" y="3156061"/>
              <a:ext cx="3108960" cy="344710"/>
            </a:xfrm>
            <a:prstGeom prst="rect">
              <a:avLst/>
            </a:prstGeom>
            <a:noFill/>
          </p:spPr>
          <p:txBody>
            <a:bodyPr wrap="square" lIns="45720" tIns="18288" rIns="45720" bIns="18288" anchor="ctr">
              <a:spAutoFit/>
            </a:bodyPr>
            <a:lstStyle/>
            <a:p>
              <a:pPr algn="ctr">
                <a:spcAft>
                  <a:spcPts val="400"/>
                </a:spcAft>
              </a:pPr>
              <a:r>
                <a:rPr sz="2000" b="1" i="0">
                  <a:solidFill>
                    <a:srgbClr val="02C39A"/>
                  </a:solidFill>
                  <a:latin typeface="Calibri"/>
                </a:rPr>
                <a:t>0.44</a:t>
              </a:r>
            </a:p>
          </p:txBody>
        </p:sp>
        <p:sp>
          <p:nvSpPr>
            <p:cNvPr id="20" name="TextBox 19"/>
            <p:cNvSpPr txBox="1"/>
            <p:nvPr/>
          </p:nvSpPr>
          <p:spPr>
            <a:xfrm>
              <a:off x="9692640" y="3156061"/>
              <a:ext cx="1645920" cy="344710"/>
            </a:xfrm>
            <a:prstGeom prst="rect">
              <a:avLst/>
            </a:prstGeom>
            <a:noFill/>
          </p:spPr>
          <p:txBody>
            <a:bodyPr wrap="square" lIns="45720" tIns="18288" rIns="45720" bIns="18288" anchor="ctr">
              <a:spAutoFit/>
            </a:bodyPr>
            <a:lstStyle/>
            <a:p>
              <a:pPr algn="ctr">
                <a:spcAft>
                  <a:spcPts val="400"/>
                </a:spcAft>
              </a:pPr>
              <a:r>
                <a:rPr sz="2000" b="0" i="0">
                  <a:solidFill>
                    <a:srgbClr val="E24B4A"/>
                  </a:solidFill>
                  <a:latin typeface="Calibri"/>
                </a:rPr>
                <a:t>-1.6</a:t>
              </a:r>
            </a:p>
          </p:txBody>
        </p:sp>
        <p:sp>
          <p:nvSpPr>
            <p:cNvPr id="21" name="Rectangle 20"/>
            <p:cNvSpPr/>
            <p:nvPr/>
          </p:nvSpPr>
          <p:spPr>
            <a:xfrm>
              <a:off x="1280160" y="3630168"/>
              <a:ext cx="10058400" cy="603504"/>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1280160" y="3759565"/>
              <a:ext cx="2377440" cy="344710"/>
            </a:xfrm>
            <a:prstGeom prst="rect">
              <a:avLst/>
            </a:prstGeom>
            <a:noFill/>
          </p:spPr>
          <p:txBody>
            <a:bodyPr wrap="square" lIns="45720" tIns="18288" rIns="45720" bIns="18288" anchor="ctr">
              <a:spAutoFit/>
            </a:bodyPr>
            <a:lstStyle/>
            <a:p>
              <a:pPr algn="l">
                <a:spcAft>
                  <a:spcPts val="400"/>
                </a:spcAft>
              </a:pPr>
              <a:r>
                <a:rPr sz="2000" b="1" i="0">
                  <a:solidFill>
                    <a:srgbClr val="FFFFFF"/>
                  </a:solidFill>
                  <a:latin typeface="Calibri"/>
                </a:rPr>
                <a:t>AMZN</a:t>
              </a:r>
            </a:p>
          </p:txBody>
        </p:sp>
        <p:sp>
          <p:nvSpPr>
            <p:cNvPr id="23" name="TextBox 22"/>
            <p:cNvSpPr txBox="1"/>
            <p:nvPr/>
          </p:nvSpPr>
          <p:spPr>
            <a:xfrm>
              <a:off x="3657600" y="3759565"/>
              <a:ext cx="2926080" cy="344710"/>
            </a:xfrm>
            <a:prstGeom prst="rect">
              <a:avLst/>
            </a:prstGeom>
            <a:noFill/>
          </p:spPr>
          <p:txBody>
            <a:bodyPr wrap="square" lIns="45720" tIns="18288" rIns="45720" bIns="18288" anchor="ctr">
              <a:spAutoFit/>
            </a:bodyPr>
            <a:lstStyle/>
            <a:p>
              <a:pPr algn="ctr">
                <a:spcAft>
                  <a:spcPts val="400"/>
                </a:spcAft>
              </a:pPr>
              <a:r>
                <a:rPr sz="2000" b="1" i="0">
                  <a:solidFill>
                    <a:srgbClr val="EF9F27"/>
                  </a:solidFill>
                  <a:latin typeface="Calibri"/>
                </a:rPr>
                <a:t>0.23</a:t>
              </a:r>
            </a:p>
          </p:txBody>
        </p:sp>
        <p:sp>
          <p:nvSpPr>
            <p:cNvPr id="24" name="TextBox 23"/>
            <p:cNvSpPr txBox="1"/>
            <p:nvPr/>
          </p:nvSpPr>
          <p:spPr>
            <a:xfrm>
              <a:off x="6583680" y="3759565"/>
              <a:ext cx="3108960" cy="344710"/>
            </a:xfrm>
            <a:prstGeom prst="rect">
              <a:avLst/>
            </a:prstGeom>
            <a:noFill/>
          </p:spPr>
          <p:txBody>
            <a:bodyPr wrap="square" lIns="45720" tIns="18288" rIns="45720" bIns="18288" anchor="ctr">
              <a:spAutoFit/>
            </a:bodyPr>
            <a:lstStyle/>
            <a:p>
              <a:pPr algn="ctr">
                <a:spcAft>
                  <a:spcPts val="400"/>
                </a:spcAft>
              </a:pPr>
              <a:r>
                <a:rPr sz="2000" b="1" i="0">
                  <a:solidFill>
                    <a:srgbClr val="02C39A"/>
                  </a:solidFill>
                  <a:latin typeface="Calibri"/>
                </a:rPr>
                <a:t>1.67</a:t>
              </a:r>
            </a:p>
          </p:txBody>
        </p:sp>
        <p:sp>
          <p:nvSpPr>
            <p:cNvPr id="25" name="TextBox 24"/>
            <p:cNvSpPr txBox="1"/>
            <p:nvPr/>
          </p:nvSpPr>
          <p:spPr>
            <a:xfrm>
              <a:off x="9692640" y="3759565"/>
              <a:ext cx="1645920" cy="344710"/>
            </a:xfrm>
            <a:prstGeom prst="rect">
              <a:avLst/>
            </a:prstGeom>
            <a:noFill/>
          </p:spPr>
          <p:txBody>
            <a:bodyPr wrap="square" lIns="45720" tIns="18288" rIns="45720" bIns="18288" anchor="ctr">
              <a:spAutoFit/>
            </a:bodyPr>
            <a:lstStyle/>
            <a:p>
              <a:pPr algn="ctr">
                <a:spcAft>
                  <a:spcPts val="400"/>
                </a:spcAft>
              </a:pPr>
              <a:r>
                <a:rPr sz="2000" b="0" i="0">
                  <a:solidFill>
                    <a:srgbClr val="02C39A"/>
                  </a:solidFill>
                  <a:latin typeface="Calibri"/>
                </a:rPr>
                <a:t>+1.4</a:t>
              </a:r>
            </a:p>
          </p:txBody>
        </p:sp>
        <p:sp>
          <p:nvSpPr>
            <p:cNvPr id="26" name="Rectangle 25"/>
            <p:cNvSpPr/>
            <p:nvPr/>
          </p:nvSpPr>
          <p:spPr>
            <a:xfrm>
              <a:off x="1280160" y="4233672"/>
              <a:ext cx="10058400" cy="603504"/>
            </a:xfrm>
            <a:prstGeom prst="rect">
              <a:avLst/>
            </a:prstGeom>
            <a:solidFill>
              <a:srgbClr val="2B3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1280160" y="4363069"/>
              <a:ext cx="2377440" cy="344710"/>
            </a:xfrm>
            <a:prstGeom prst="rect">
              <a:avLst/>
            </a:prstGeom>
            <a:noFill/>
          </p:spPr>
          <p:txBody>
            <a:bodyPr wrap="square" lIns="45720" tIns="18288" rIns="45720" bIns="18288" anchor="ctr">
              <a:spAutoFit/>
            </a:bodyPr>
            <a:lstStyle/>
            <a:p>
              <a:pPr algn="l">
                <a:spcAft>
                  <a:spcPts val="400"/>
                </a:spcAft>
              </a:pPr>
              <a:r>
                <a:rPr sz="2000" b="1" i="0">
                  <a:solidFill>
                    <a:srgbClr val="FFFFFF"/>
                  </a:solidFill>
                  <a:latin typeface="Calibri"/>
                </a:rPr>
                <a:t>MSFT</a:t>
              </a:r>
            </a:p>
          </p:txBody>
        </p:sp>
        <p:sp>
          <p:nvSpPr>
            <p:cNvPr id="28" name="TextBox 27"/>
            <p:cNvSpPr txBox="1"/>
            <p:nvPr/>
          </p:nvSpPr>
          <p:spPr>
            <a:xfrm>
              <a:off x="3657600" y="4363069"/>
              <a:ext cx="2926080" cy="344710"/>
            </a:xfrm>
            <a:prstGeom prst="rect">
              <a:avLst/>
            </a:prstGeom>
            <a:noFill/>
          </p:spPr>
          <p:txBody>
            <a:bodyPr wrap="square" lIns="45720" tIns="18288" rIns="45720" bIns="18288" anchor="ctr">
              <a:spAutoFit/>
            </a:bodyPr>
            <a:lstStyle/>
            <a:p>
              <a:pPr algn="ctr">
                <a:spcAft>
                  <a:spcPts val="400"/>
                </a:spcAft>
              </a:pPr>
              <a:r>
                <a:rPr sz="2000" b="1" i="0">
                  <a:solidFill>
                    <a:srgbClr val="EF9F27"/>
                  </a:solidFill>
                  <a:latin typeface="Calibri"/>
                </a:rPr>
                <a:t>1.84</a:t>
              </a:r>
            </a:p>
          </p:txBody>
        </p:sp>
        <p:sp>
          <p:nvSpPr>
            <p:cNvPr id="29" name="TextBox 28"/>
            <p:cNvSpPr txBox="1"/>
            <p:nvPr/>
          </p:nvSpPr>
          <p:spPr>
            <a:xfrm>
              <a:off x="6583680" y="4363069"/>
              <a:ext cx="3108960" cy="344710"/>
            </a:xfrm>
            <a:prstGeom prst="rect">
              <a:avLst/>
            </a:prstGeom>
            <a:noFill/>
          </p:spPr>
          <p:txBody>
            <a:bodyPr wrap="square" lIns="45720" tIns="18288" rIns="45720" bIns="18288" anchor="ctr">
              <a:spAutoFit/>
            </a:bodyPr>
            <a:lstStyle/>
            <a:p>
              <a:pPr algn="ctr">
                <a:spcAft>
                  <a:spcPts val="400"/>
                </a:spcAft>
              </a:pPr>
              <a:r>
                <a:rPr sz="2000" b="1" i="0">
                  <a:solidFill>
                    <a:srgbClr val="E24B4A"/>
                  </a:solidFill>
                  <a:latin typeface="Calibri"/>
                </a:rPr>
                <a:t>-0.20</a:t>
              </a:r>
            </a:p>
          </p:txBody>
        </p:sp>
        <p:sp>
          <p:nvSpPr>
            <p:cNvPr id="30" name="TextBox 29"/>
            <p:cNvSpPr txBox="1"/>
            <p:nvPr/>
          </p:nvSpPr>
          <p:spPr>
            <a:xfrm>
              <a:off x="9692640" y="4363069"/>
              <a:ext cx="1645920" cy="344710"/>
            </a:xfrm>
            <a:prstGeom prst="rect">
              <a:avLst/>
            </a:prstGeom>
            <a:noFill/>
          </p:spPr>
          <p:txBody>
            <a:bodyPr wrap="square" lIns="45720" tIns="18288" rIns="45720" bIns="18288" anchor="ctr">
              <a:spAutoFit/>
            </a:bodyPr>
            <a:lstStyle/>
            <a:p>
              <a:pPr algn="ctr">
                <a:spcAft>
                  <a:spcPts val="400"/>
                </a:spcAft>
              </a:pPr>
              <a:r>
                <a:rPr sz="2000" b="0" i="0">
                  <a:solidFill>
                    <a:srgbClr val="E24B4A"/>
                  </a:solidFill>
                  <a:latin typeface="Calibri"/>
                </a:rPr>
                <a:t>-2.0</a:t>
              </a:r>
            </a:p>
          </p:txBody>
        </p:sp>
        <p:sp>
          <p:nvSpPr>
            <p:cNvPr id="31" name="Rectangle 30"/>
            <p:cNvSpPr/>
            <p:nvPr/>
          </p:nvSpPr>
          <p:spPr>
            <a:xfrm>
              <a:off x="1280160" y="4837176"/>
              <a:ext cx="10058400" cy="603504"/>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1280160" y="4966573"/>
              <a:ext cx="2377440" cy="344710"/>
            </a:xfrm>
            <a:prstGeom prst="rect">
              <a:avLst/>
            </a:prstGeom>
            <a:noFill/>
          </p:spPr>
          <p:txBody>
            <a:bodyPr wrap="square" lIns="45720" tIns="18288" rIns="45720" bIns="18288" anchor="ctr">
              <a:spAutoFit/>
            </a:bodyPr>
            <a:lstStyle/>
            <a:p>
              <a:pPr algn="l">
                <a:spcAft>
                  <a:spcPts val="400"/>
                </a:spcAft>
              </a:pPr>
              <a:r>
                <a:rPr sz="2000" b="1" i="0">
                  <a:solidFill>
                    <a:srgbClr val="FFFFFF"/>
                  </a:solidFill>
                  <a:latin typeface="Calibri"/>
                </a:rPr>
                <a:t>COIN</a:t>
              </a:r>
            </a:p>
          </p:txBody>
        </p:sp>
        <p:sp>
          <p:nvSpPr>
            <p:cNvPr id="33" name="TextBox 32"/>
            <p:cNvSpPr txBox="1"/>
            <p:nvPr/>
          </p:nvSpPr>
          <p:spPr>
            <a:xfrm>
              <a:off x="3657600" y="4966573"/>
              <a:ext cx="2926080" cy="344710"/>
            </a:xfrm>
            <a:prstGeom prst="rect">
              <a:avLst/>
            </a:prstGeom>
            <a:noFill/>
          </p:spPr>
          <p:txBody>
            <a:bodyPr wrap="square" lIns="45720" tIns="18288" rIns="45720" bIns="18288" anchor="ctr">
              <a:spAutoFit/>
            </a:bodyPr>
            <a:lstStyle/>
            <a:p>
              <a:pPr algn="ctr">
                <a:spcAft>
                  <a:spcPts val="400"/>
                </a:spcAft>
              </a:pPr>
              <a:r>
                <a:rPr sz="2000" b="1" i="0">
                  <a:solidFill>
                    <a:srgbClr val="EF9F27"/>
                  </a:solidFill>
                  <a:latin typeface="Calibri"/>
                </a:rPr>
                <a:t>1.62</a:t>
              </a:r>
            </a:p>
          </p:txBody>
        </p:sp>
        <p:sp>
          <p:nvSpPr>
            <p:cNvPr id="34" name="TextBox 33"/>
            <p:cNvSpPr txBox="1"/>
            <p:nvPr/>
          </p:nvSpPr>
          <p:spPr>
            <a:xfrm>
              <a:off x="6583680" y="4966573"/>
              <a:ext cx="3108960" cy="344710"/>
            </a:xfrm>
            <a:prstGeom prst="rect">
              <a:avLst/>
            </a:prstGeom>
            <a:noFill/>
          </p:spPr>
          <p:txBody>
            <a:bodyPr wrap="square" lIns="45720" tIns="18288" rIns="45720" bIns="18288" anchor="ctr">
              <a:spAutoFit/>
            </a:bodyPr>
            <a:lstStyle/>
            <a:p>
              <a:pPr algn="ctr">
                <a:spcAft>
                  <a:spcPts val="400"/>
                </a:spcAft>
              </a:pPr>
              <a:r>
                <a:rPr sz="2000" b="1" i="0">
                  <a:solidFill>
                    <a:srgbClr val="E24B4A"/>
                  </a:solidFill>
                  <a:latin typeface="Calibri"/>
                </a:rPr>
                <a:t>-0.70</a:t>
              </a:r>
            </a:p>
          </p:txBody>
        </p:sp>
        <p:sp>
          <p:nvSpPr>
            <p:cNvPr id="35" name="TextBox 34"/>
            <p:cNvSpPr txBox="1"/>
            <p:nvPr/>
          </p:nvSpPr>
          <p:spPr>
            <a:xfrm>
              <a:off x="9692640" y="4966573"/>
              <a:ext cx="1645920" cy="344710"/>
            </a:xfrm>
            <a:prstGeom prst="rect">
              <a:avLst/>
            </a:prstGeom>
            <a:noFill/>
          </p:spPr>
          <p:txBody>
            <a:bodyPr wrap="square" lIns="45720" tIns="18288" rIns="45720" bIns="18288" anchor="ctr">
              <a:spAutoFit/>
            </a:bodyPr>
            <a:lstStyle/>
            <a:p>
              <a:pPr algn="ctr">
                <a:spcAft>
                  <a:spcPts val="400"/>
                </a:spcAft>
              </a:pPr>
              <a:r>
                <a:rPr sz="2000" b="0" i="0">
                  <a:solidFill>
                    <a:srgbClr val="E24B4A"/>
                  </a:solidFill>
                  <a:latin typeface="Calibri"/>
                </a:rPr>
                <a:t>-2.3</a:t>
              </a:r>
            </a:p>
          </p:txBody>
        </p:sp>
      </p:grpSp>
      <p:sp>
        <p:nvSpPr>
          <p:cNvPr id="36" name="TextBox 35"/>
          <p:cNvSpPr txBox="1"/>
          <p:nvPr/>
        </p:nvSpPr>
        <p:spPr>
          <a:xfrm>
            <a:off x="418345" y="5943600"/>
            <a:ext cx="11771854" cy="294183"/>
          </a:xfrm>
          <a:prstGeom prst="rect">
            <a:avLst/>
          </a:prstGeom>
          <a:noFill/>
        </p:spPr>
        <p:txBody>
          <a:bodyPr wrap="square" lIns="45720" tIns="18288" rIns="45720" bIns="18288" anchor="t">
            <a:spAutoFit/>
          </a:bodyPr>
          <a:lstStyle/>
          <a:p>
            <a:pPr algn="l">
              <a:lnSpc>
                <a:spcPct val="110000"/>
              </a:lnSpc>
              <a:spcAft>
                <a:spcPts val="400"/>
              </a:spcAft>
            </a:pPr>
            <a:r>
              <a:rPr sz="1600" b="0" i="0">
                <a:solidFill>
                  <a:srgbClr val="FFFFFF"/>
                </a:solidFill>
                <a:latin typeface="Calibri"/>
              </a:rPr>
              <a:t>Not one ticker reproduces the paper's Sharpe. AMZN is the only case we beat it - and even there the memory-free agent is stronger still.</a:t>
            </a:r>
          </a:p>
        </p:txBody>
      </p:sp>
      <p:sp>
        <p:nvSpPr>
          <p:cNvPr id="37" name="TextBox 36"/>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CADCFC"/>
                </a:solidFill>
                <a:latin typeface="Calibri"/>
              </a:rPr>
              <a:t>FinMem - Implementation  -  Shoshan &amp; Sagi</a:t>
            </a:r>
          </a:p>
        </p:txBody>
      </p:sp>
      <p:sp>
        <p:nvSpPr>
          <p:cNvPr id="38" name="TextBox 37"/>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r>
              <a:rPr sz="900" b="0" i="0">
                <a:solidFill>
                  <a:srgbClr val="CADCFC"/>
                </a:solidFill>
                <a:latin typeface="Calibri"/>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BEHAVIOUR</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The adaptive persona genuinely operates</a:t>
            </a:r>
          </a:p>
        </p:txBody>
      </p:sp>
      <p:pic>
        <p:nvPicPr>
          <p:cNvPr id="5" name="Picture 4" descr="persona_timeline_NFLX.png"/>
          <p:cNvPicPr>
            <a:picLocks noChangeAspect="1"/>
          </p:cNvPicPr>
          <p:nvPr/>
        </p:nvPicPr>
        <p:blipFill>
          <a:blip r:embed="rId2"/>
          <a:stretch>
            <a:fillRect/>
          </a:stretch>
        </p:blipFill>
        <p:spPr>
          <a:xfrm>
            <a:off x="188692" y="1778094"/>
            <a:ext cx="7240056" cy="3172609"/>
          </a:xfrm>
          <a:prstGeom prst="rect">
            <a:avLst/>
          </a:prstGeom>
        </p:spPr>
      </p:pic>
      <p:sp>
        <p:nvSpPr>
          <p:cNvPr id="6" name="TextBox 5"/>
          <p:cNvSpPr txBox="1"/>
          <p:nvPr/>
        </p:nvSpPr>
        <p:spPr>
          <a:xfrm>
            <a:off x="405201" y="5137238"/>
            <a:ext cx="6583680" cy="252377"/>
          </a:xfrm>
          <a:prstGeom prst="rect">
            <a:avLst/>
          </a:prstGeom>
          <a:noFill/>
        </p:spPr>
        <p:txBody>
          <a:bodyPr wrap="square" lIns="45720" tIns="18288" rIns="45720" bIns="18288" anchor="t">
            <a:spAutoFit/>
          </a:bodyPr>
          <a:lstStyle/>
          <a:p>
            <a:pPr algn="l">
              <a:spcAft>
                <a:spcPts val="400"/>
              </a:spcAft>
            </a:pPr>
            <a:r>
              <a:rPr sz="1400" b="0" i="1">
                <a:solidFill>
                  <a:srgbClr val="64748B"/>
                </a:solidFill>
                <a:latin typeface="Calibri"/>
              </a:rPr>
              <a:t>NFLX risk mode by day - 43 risk-seeking / 59 risk-averse, 21 switches.</a:t>
            </a:r>
          </a:p>
        </p:txBody>
      </p:sp>
      <p:sp>
        <p:nvSpPr>
          <p:cNvPr id="7" name="Rounded Rectangle 6"/>
          <p:cNvSpPr/>
          <p:nvPr/>
        </p:nvSpPr>
        <p:spPr>
          <a:xfrm>
            <a:off x="7518395" y="1463040"/>
            <a:ext cx="4297680" cy="457200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7701274" y="1600200"/>
            <a:ext cx="3931920" cy="313932"/>
          </a:xfrm>
          <a:prstGeom prst="rect">
            <a:avLst/>
          </a:prstGeom>
          <a:noFill/>
        </p:spPr>
        <p:txBody>
          <a:bodyPr wrap="square" lIns="45720" tIns="18288" rIns="45720" bIns="18288" anchor="t">
            <a:spAutoFit/>
          </a:bodyPr>
          <a:lstStyle/>
          <a:p>
            <a:pPr algn="l">
              <a:spcAft>
                <a:spcPts val="400"/>
              </a:spcAft>
            </a:pPr>
            <a:r>
              <a:rPr b="1" i="0">
                <a:solidFill>
                  <a:srgbClr val="21295C"/>
                </a:solidFill>
                <a:latin typeface="Calibri"/>
              </a:rPr>
              <a:t>Same engine, two stances</a:t>
            </a:r>
          </a:p>
        </p:txBody>
      </p:sp>
      <p:sp>
        <p:nvSpPr>
          <p:cNvPr id="9" name="TextBox 8"/>
          <p:cNvSpPr txBox="1"/>
          <p:nvPr/>
        </p:nvSpPr>
        <p:spPr>
          <a:xfrm>
            <a:off x="7701274" y="2092902"/>
            <a:ext cx="3931920" cy="777200"/>
          </a:xfrm>
          <a:prstGeom prst="rect">
            <a:avLst/>
          </a:prstGeom>
          <a:noFill/>
        </p:spPr>
        <p:txBody>
          <a:bodyPr wrap="square" lIns="45720" tIns="18288" rIns="45720" bIns="18288" anchor="t">
            <a:spAutoFit/>
          </a:bodyPr>
          <a:lstStyle/>
          <a:p>
            <a:pPr algn="l">
              <a:lnSpc>
                <a:spcPct val="105000"/>
              </a:lnSpc>
              <a:spcAft>
                <a:spcPts val="300"/>
              </a:spcAft>
            </a:pPr>
            <a:r>
              <a:rPr sz="1600" b="1" i="0">
                <a:solidFill>
                  <a:srgbClr val="1C7293"/>
                </a:solidFill>
                <a:latin typeface="Calibri"/>
              </a:rPr>
              <a:t>Risk-seeking - NFLX Jan 2:</a:t>
            </a:r>
          </a:p>
          <a:p>
            <a:pPr algn="l">
              <a:lnSpc>
                <a:spcPct val="105000"/>
              </a:lnSpc>
              <a:spcAft>
                <a:spcPts val="300"/>
              </a:spcAft>
            </a:pPr>
            <a:r>
              <a:rPr sz="1400" b="0" i="1">
                <a:solidFill>
                  <a:srgbClr val="1E293B"/>
                </a:solidFill>
                <a:latin typeface="Calibri"/>
              </a:rPr>
              <a:t>“...strong positive fundamentals... bullish option activity...” -&gt; BUY</a:t>
            </a:r>
          </a:p>
        </p:txBody>
      </p:sp>
      <p:sp>
        <p:nvSpPr>
          <p:cNvPr id="10" name="TextBox 9"/>
          <p:cNvSpPr txBox="1"/>
          <p:nvPr/>
        </p:nvSpPr>
        <p:spPr>
          <a:xfrm>
            <a:off x="7701274" y="3520440"/>
            <a:ext cx="3931920" cy="1596078"/>
          </a:xfrm>
          <a:prstGeom prst="rect">
            <a:avLst/>
          </a:prstGeom>
          <a:noFill/>
        </p:spPr>
        <p:txBody>
          <a:bodyPr wrap="square" lIns="45720" tIns="18288" rIns="45720" bIns="18288" anchor="t">
            <a:spAutoFit/>
          </a:bodyPr>
          <a:lstStyle/>
          <a:p>
            <a:pPr algn="l">
              <a:lnSpc>
                <a:spcPct val="105000"/>
              </a:lnSpc>
              <a:spcAft>
                <a:spcPts val="300"/>
              </a:spcAft>
            </a:pPr>
            <a:r>
              <a:rPr sz="1600" b="1" i="0">
                <a:solidFill>
                  <a:srgbClr val="E24B4A"/>
                </a:solidFill>
                <a:latin typeface="Calibri"/>
              </a:rPr>
              <a:t>Risk-averse - NFLX Jan 7:</a:t>
            </a:r>
          </a:p>
          <a:p>
            <a:pPr algn="l">
              <a:lnSpc>
                <a:spcPct val="105000"/>
              </a:lnSpc>
              <a:spcAft>
                <a:spcPts val="300"/>
              </a:spcAft>
            </a:pPr>
            <a:r>
              <a:rPr sz="1400" b="0" i="1">
                <a:solidFill>
                  <a:srgbClr val="1E293B"/>
                </a:solidFill>
                <a:latin typeface="Calibri"/>
              </a:rPr>
              <a:t>“As a risk-averse investor holding shares, the negative momentum...” -&gt; SELL</a:t>
            </a:r>
          </a:p>
          <a:p>
            <a:pPr algn="l">
              <a:lnSpc>
                <a:spcPct val="105000"/>
              </a:lnSpc>
              <a:spcAft>
                <a:spcPts val="300"/>
              </a:spcAft>
            </a:pPr>
            <a:endParaRPr sz="1400" b="0" i="1">
              <a:solidFill>
                <a:srgbClr val="1E293B"/>
              </a:solidFill>
              <a:latin typeface="Calibri"/>
            </a:endParaRPr>
          </a:p>
          <a:p>
            <a:pPr algn="l">
              <a:lnSpc>
                <a:spcPct val="105000"/>
              </a:lnSpc>
              <a:spcAft>
                <a:spcPts val="300"/>
              </a:spcAft>
            </a:pPr>
            <a:r>
              <a:rPr sz="1600" b="1" i="0">
                <a:solidFill>
                  <a:srgbClr val="21295C"/>
                </a:solidFill>
                <a:latin typeface="Calibri"/>
              </a:rPr>
              <a:t>This two-sided switch is exactly what the released code never shipped</a:t>
            </a:r>
            <a:r>
              <a:rPr lang="he-IL" sz="1600" b="1" i="0">
                <a:solidFill>
                  <a:srgbClr val="21295C"/>
                </a:solidFill>
                <a:latin typeface="Calibri"/>
              </a:rPr>
              <a:t>.</a:t>
            </a:r>
            <a:endParaRPr sz="1600" b="1" i="0">
              <a:solidFill>
                <a:srgbClr val="21295C"/>
              </a:solidFill>
              <a:latin typeface="Calibri"/>
            </a:endParaRPr>
          </a:p>
        </p:txBody>
      </p:sp>
      <p:sp>
        <p:nvSpPr>
          <p:cNvPr id="11" name="TextBox 10"/>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12" name="TextBox 11"/>
          <p:cNvSpPr txBox="1"/>
          <p:nvPr/>
        </p:nvSpPr>
        <p:spPr>
          <a:xfrm>
            <a:off x="10972800" y="6473952"/>
            <a:ext cx="731520" cy="198516"/>
          </a:xfrm>
          <a:prstGeom prst="rect">
            <a:avLst/>
          </a:prstGeom>
          <a:noFill/>
        </p:spPr>
        <p:txBody>
          <a:bodyPr wrap="square" lIns="45720" tIns="18288" rIns="45720" bIns="18288" anchor="t">
            <a:spAutoFit/>
          </a:bodyPr>
          <a:lstStyle/>
          <a:p>
            <a:pPr algn="r">
              <a:spcAft>
                <a:spcPts val="400"/>
              </a:spcAft>
            </a:pPr>
            <a:r>
              <a:rPr sz="1050" b="0" i="0">
                <a:solidFill>
                  <a:srgbClr val="64748B"/>
                </a:solidFill>
                <a:latin typeface="Calibr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MEMORY</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What the agent leaned on</a:t>
            </a:r>
          </a:p>
        </p:txBody>
      </p:sp>
      <p:pic>
        <p:nvPicPr>
          <p:cNvPr id="5" name="Picture 4" descr="citation_share.png"/>
          <p:cNvPicPr>
            <a:picLocks noChangeAspect="1"/>
          </p:cNvPicPr>
          <p:nvPr/>
        </p:nvPicPr>
        <p:blipFill>
          <a:blip r:embed="rId2"/>
          <a:stretch>
            <a:fillRect/>
          </a:stretch>
        </p:blipFill>
        <p:spPr>
          <a:xfrm>
            <a:off x="54403" y="1627632"/>
            <a:ext cx="6955981" cy="3838996"/>
          </a:xfrm>
          <a:prstGeom prst="rect">
            <a:avLst/>
          </a:prstGeom>
        </p:spPr>
      </p:pic>
      <p:sp>
        <p:nvSpPr>
          <p:cNvPr id="6" name="Rounded Rectangle 5"/>
          <p:cNvSpPr/>
          <p:nvPr/>
        </p:nvSpPr>
        <p:spPr>
          <a:xfrm>
            <a:off x="6993658" y="1319608"/>
            <a:ext cx="4846320" cy="44348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7194826" y="1627632"/>
            <a:ext cx="4480560" cy="3674404"/>
          </a:xfrm>
          <a:prstGeom prst="rect">
            <a:avLst/>
          </a:prstGeom>
          <a:noFill/>
        </p:spPr>
        <p:txBody>
          <a:bodyPr wrap="square" lIns="45720" tIns="18288" rIns="45720" bIns="18288" anchor="t">
            <a:spAutoFit/>
          </a:bodyPr>
          <a:lstStyle/>
          <a:p>
            <a:pPr algn="l">
              <a:lnSpc>
                <a:spcPct val="108000"/>
              </a:lnSpc>
              <a:spcAft>
                <a:spcPts val="400"/>
              </a:spcAft>
            </a:pPr>
            <a:r>
              <a:rPr b="1" i="0">
                <a:solidFill>
                  <a:srgbClr val="21295C"/>
                </a:solidFill>
                <a:latin typeface="Calibri"/>
              </a:rPr>
              <a:t>Balanced across layers</a:t>
            </a:r>
          </a:p>
          <a:p>
            <a:pPr algn="l">
              <a:lnSpc>
                <a:spcPct val="108000"/>
              </a:lnSpc>
              <a:spcAft>
                <a:spcPts val="400"/>
              </a:spcAft>
            </a:pPr>
            <a:r>
              <a:rPr sz="1600" b="0" i="0">
                <a:solidFill>
                  <a:srgbClr val="1E293B"/>
                </a:solidFill>
                <a:latin typeface="Calibri"/>
              </a:rPr>
              <a:t>citations split ~26/22/27/23% over short / mid / deep / reflection - every layer is used.</a:t>
            </a:r>
          </a:p>
          <a:p>
            <a:pPr algn="l">
              <a:lnSpc>
                <a:spcPct val="108000"/>
              </a:lnSpc>
              <a:spcAft>
                <a:spcPts val="400"/>
              </a:spcAft>
            </a:pPr>
            <a:endParaRPr sz="1600" b="0" i="0">
              <a:solidFill>
                <a:srgbClr val="1E293B"/>
              </a:solidFill>
              <a:latin typeface="Calibri"/>
            </a:endParaRPr>
          </a:p>
          <a:p>
            <a:pPr algn="l">
              <a:lnSpc>
                <a:spcPct val="108000"/>
              </a:lnSpc>
              <a:spcAft>
                <a:spcPts val="400"/>
              </a:spcAft>
            </a:pPr>
            <a:r>
              <a:rPr b="1" i="0">
                <a:solidFill>
                  <a:srgbClr val="21295C"/>
                </a:solidFill>
                <a:latin typeface="Calibri"/>
              </a:rPr>
              <a:t>It trusts itself</a:t>
            </a:r>
          </a:p>
          <a:p>
            <a:pPr algn="l">
              <a:lnSpc>
                <a:spcPct val="108000"/>
              </a:lnSpc>
              <a:spcAft>
                <a:spcPts val="400"/>
              </a:spcAft>
            </a:pPr>
            <a:r>
              <a:rPr sz="1600" b="0" i="0">
                <a:solidFill>
                  <a:srgbClr val="1E293B"/>
                </a:solidFill>
                <a:latin typeface="Calibri"/>
              </a:rPr>
              <a:t>NFLX's single most-cited memory is one of the agent's own extended reflections (78x).</a:t>
            </a:r>
          </a:p>
          <a:p>
            <a:pPr algn="l">
              <a:lnSpc>
                <a:spcPct val="108000"/>
              </a:lnSpc>
              <a:spcAft>
                <a:spcPts val="400"/>
              </a:spcAft>
            </a:pPr>
            <a:endParaRPr sz="1600" b="0" i="0">
              <a:solidFill>
                <a:srgbClr val="1E293B"/>
              </a:solidFill>
              <a:latin typeface="Calibri"/>
            </a:endParaRPr>
          </a:p>
          <a:p>
            <a:pPr algn="l">
              <a:lnSpc>
                <a:spcPct val="108000"/>
              </a:lnSpc>
              <a:spcAft>
                <a:spcPts val="400"/>
              </a:spcAft>
            </a:pPr>
            <a:r>
              <a:rPr b="1" i="0">
                <a:solidFill>
                  <a:srgbClr val="E24B4A"/>
                </a:solidFill>
                <a:latin typeface="Calibri"/>
              </a:rPr>
              <a:t>But retrieval can't adapt</a:t>
            </a:r>
          </a:p>
          <a:p>
            <a:pPr algn="l">
              <a:lnSpc>
                <a:spcPct val="108000"/>
              </a:lnSpc>
              <a:spcAft>
                <a:spcPts val="400"/>
              </a:spcAft>
            </a:pPr>
            <a:r>
              <a:rPr sz="1600" b="0" i="0">
                <a:solidFill>
                  <a:srgbClr val="1E293B"/>
                </a:solidFill>
                <a:latin typeface="Calibri"/>
              </a:rPr>
              <a:t>the retrieval query is the static persona - same text every day. Day-to-day overlap of cited memories is 50-68%: stable, but not situation-aware.</a:t>
            </a:r>
          </a:p>
        </p:txBody>
      </p:sp>
      <p:sp>
        <p:nvSpPr>
          <p:cNvPr id="8" name="TextBox 7"/>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9" name="TextBox 8"/>
          <p:cNvSpPr txBox="1"/>
          <p:nvPr/>
        </p:nvSpPr>
        <p:spPr>
          <a:xfrm>
            <a:off x="10972800" y="6473952"/>
            <a:ext cx="731520" cy="198516"/>
          </a:xfrm>
          <a:prstGeom prst="rect">
            <a:avLst/>
          </a:prstGeom>
          <a:noFill/>
        </p:spPr>
        <p:txBody>
          <a:bodyPr wrap="square" lIns="45720" tIns="18288" rIns="45720" bIns="18288" anchor="t">
            <a:spAutoFit/>
          </a:bodyPr>
          <a:lstStyle/>
          <a:p>
            <a:pPr algn="r">
              <a:spcAft>
                <a:spcPts val="400"/>
              </a:spcAft>
            </a:pPr>
            <a:r>
              <a:rPr sz="1050" b="0" i="0">
                <a:solidFill>
                  <a:srgbClr val="64748B"/>
                </a:solidFill>
                <a:latin typeface="Calibri"/>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000"/>
          </a:p>
        </p:txBody>
      </p:sp>
      <p:sp>
        <p:nvSpPr>
          <p:cNvPr id="3" name="TextBox 2"/>
          <p:cNvSpPr txBox="1"/>
          <p:nvPr/>
        </p:nvSpPr>
        <p:spPr>
          <a:xfrm>
            <a:off x="548640" y="292608"/>
            <a:ext cx="11064240" cy="252377"/>
          </a:xfrm>
          <a:prstGeom prst="rect">
            <a:avLst/>
          </a:prstGeom>
          <a:noFill/>
        </p:spPr>
        <p:txBody>
          <a:bodyPr wrap="square" lIns="45720" tIns="18288" rIns="45720" bIns="18288" anchor="t">
            <a:spAutoFit/>
          </a:bodyPr>
          <a:lstStyle/>
          <a:p>
            <a:pPr algn="l">
              <a:spcAft>
                <a:spcPts val="400"/>
              </a:spcAft>
            </a:pPr>
            <a:r>
              <a:rPr lang="en-US" sz="1400" b="1" i="0" dirty="0">
                <a:solidFill>
                  <a:srgbClr val="02C39A"/>
                </a:solidFill>
                <a:latin typeface="Calibri"/>
              </a:rPr>
              <a:t>MODEL IN ACTION</a:t>
            </a:r>
          </a:p>
        </p:txBody>
      </p:sp>
      <p:sp>
        <p:nvSpPr>
          <p:cNvPr id="4" name="TextBox 3"/>
          <p:cNvSpPr txBox="1"/>
          <p:nvPr/>
        </p:nvSpPr>
        <p:spPr>
          <a:xfrm>
            <a:off x="548640" y="548640"/>
            <a:ext cx="11064240" cy="529376"/>
          </a:xfrm>
          <a:prstGeom prst="rect">
            <a:avLst/>
          </a:prstGeom>
          <a:noFill/>
        </p:spPr>
        <p:txBody>
          <a:bodyPr wrap="square" lIns="45720" tIns="18288" rIns="45720" bIns="18288" anchor="t">
            <a:spAutoFit/>
          </a:bodyPr>
          <a:lstStyle/>
          <a:p>
            <a:pPr algn="l">
              <a:spcAft>
                <a:spcPts val="400"/>
              </a:spcAft>
            </a:pPr>
            <a:r>
              <a:rPr lang="en-US" sz="3200" b="1" i="0">
                <a:solidFill>
                  <a:srgbClr val="FFFFFF"/>
                </a:solidFill>
                <a:latin typeface="Cambria"/>
              </a:rPr>
              <a:t>A real prompt the agent received</a:t>
            </a:r>
          </a:p>
        </p:txBody>
      </p:sp>
      <p:sp>
        <p:nvSpPr>
          <p:cNvPr id="5" name="Rounded Rectangle 4"/>
          <p:cNvSpPr/>
          <p:nvPr/>
        </p:nvSpPr>
        <p:spPr>
          <a:xfrm>
            <a:off x="548640" y="1417320"/>
            <a:ext cx="11064240" cy="4480560"/>
          </a:xfrm>
          <a:prstGeom prst="roundRect">
            <a:avLst/>
          </a:prstGeom>
          <a:solidFill>
            <a:srgbClr val="101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000"/>
          </a:p>
        </p:txBody>
      </p:sp>
      <p:sp>
        <p:nvSpPr>
          <p:cNvPr id="6" name="TextBox 5"/>
          <p:cNvSpPr txBox="1"/>
          <p:nvPr/>
        </p:nvSpPr>
        <p:spPr>
          <a:xfrm>
            <a:off x="822960" y="1600200"/>
            <a:ext cx="10515600" cy="3332066"/>
          </a:xfrm>
          <a:prstGeom prst="rect">
            <a:avLst/>
          </a:prstGeom>
          <a:noFill/>
        </p:spPr>
        <p:txBody>
          <a:bodyPr wrap="square" lIns="45720" tIns="18288" rIns="45720" bIns="18288" anchor="t">
            <a:spAutoFit/>
          </a:bodyPr>
          <a:lstStyle/>
          <a:p>
            <a:pPr algn="l">
              <a:lnSpc>
                <a:spcPct val="125000"/>
              </a:lnSpc>
              <a:spcAft>
                <a:spcPts val="600"/>
              </a:spcAft>
            </a:pPr>
            <a:r>
              <a:rPr lang="en-US" sz="1400" b="1" i="0">
                <a:solidFill>
                  <a:srgbClr val="02C39A"/>
                </a:solidFill>
                <a:latin typeface="Courier New"/>
              </a:rPr>
              <a:t>NFLX  -  2026-01-07  -  decision = SELL</a:t>
            </a:r>
          </a:p>
          <a:p>
            <a:pPr algn="l">
              <a:lnSpc>
                <a:spcPct val="125000"/>
              </a:lnSpc>
              <a:spcAft>
                <a:spcPts val="600"/>
              </a:spcAft>
            </a:pPr>
            <a:r>
              <a:rPr lang="en-US" sz="1400" b="0" i="0">
                <a:solidFill>
                  <a:srgbClr val="CADCFC"/>
                </a:solidFill>
                <a:latin typeface="Courier New"/>
              </a:rPr>
              <a:t>PERSONA: You are an expert of NFLX (Netflix)... streaming, original content, ad tier, gaming.</a:t>
            </a:r>
          </a:p>
          <a:p>
            <a:pPr algn="l">
              <a:lnSpc>
                <a:spcPct val="125000"/>
              </a:lnSpc>
              <a:spcAft>
                <a:spcPts val="600"/>
              </a:spcAft>
            </a:pPr>
            <a:r>
              <a:rPr lang="en-US" sz="1400" b="0" i="0">
                <a:solidFill>
                  <a:srgbClr val="CADCFC"/>
                </a:solidFill>
                <a:latin typeface="Courier New"/>
              </a:rPr>
              <a:t>TASK: make an investment decision; consider short / mid / long / reflection memory + 7-day momentum.</a:t>
            </a:r>
          </a:p>
          <a:p>
            <a:pPr algn="l">
              <a:lnSpc>
                <a:spcPct val="125000"/>
              </a:lnSpc>
              <a:spcAft>
                <a:spcPts val="600"/>
              </a:spcAft>
            </a:pPr>
            <a:r>
              <a:rPr lang="en-US" sz="1400" b="0" i="0">
                <a:solidFill>
                  <a:srgbClr val="FFFFFF"/>
                </a:solidFill>
                <a:latin typeface="Courier New"/>
              </a:rPr>
              <a:t>... When cumulative return is negative, you are a RISK-AVERSE investor; negative information</a:t>
            </a:r>
          </a:p>
          <a:p>
            <a:pPr algn="l">
              <a:lnSpc>
                <a:spcPct val="125000"/>
              </a:lnSpc>
              <a:spcAft>
                <a:spcPts val="600"/>
              </a:spcAft>
            </a:pPr>
            <a:r>
              <a:rPr lang="en-US" sz="1400" b="0" i="0">
                <a:solidFill>
                  <a:srgbClr val="FFFFFF"/>
                </a:solidFill>
                <a:latin typeface="Courier New"/>
              </a:rPr>
              <a:t>    carries greater weight.   (this clause is injected only on down-momentum days)</a:t>
            </a:r>
          </a:p>
          <a:p>
            <a:pPr algn="l">
              <a:lnSpc>
                <a:spcPct val="125000"/>
              </a:lnSpc>
              <a:spcAft>
                <a:spcPts val="600"/>
              </a:spcAft>
            </a:pPr>
            <a:r>
              <a:rPr lang="en-US" sz="1400" b="0" i="0">
                <a:solidFill>
                  <a:srgbClr val="CADCFC"/>
                </a:solidFill>
                <a:latin typeface="Courier New"/>
              </a:rPr>
              <a:t>LONG-TERM MEM 236: Sony CEO praises Netflix partnership; 'KPop Demon Hunters' most-streamed...</a:t>
            </a:r>
          </a:p>
          <a:p>
            <a:pPr algn="l">
              <a:lnSpc>
                <a:spcPct val="125000"/>
              </a:lnSpc>
              <a:spcAft>
                <a:spcPts val="600"/>
              </a:spcAft>
            </a:pPr>
            <a:r>
              <a:rPr lang="en-US" sz="1400" b="0" i="0">
                <a:solidFill>
                  <a:srgbClr val="CADCFC"/>
                </a:solidFill>
                <a:latin typeface="Courier New"/>
              </a:rPr>
              <a:t>REFLECTION 161 [conf=high]: responding positively to NFLX earnings beats tends to be favourable...</a:t>
            </a:r>
          </a:p>
          <a:p>
            <a:pPr algn="l">
              <a:lnSpc>
                <a:spcPct val="125000"/>
              </a:lnSpc>
              <a:spcAft>
                <a:spcPts val="600"/>
              </a:spcAft>
            </a:pPr>
            <a:r>
              <a:rPr lang="en-US" sz="1400" b="0" i="0">
                <a:solidFill>
                  <a:srgbClr val="FFFFFF"/>
                </a:solidFill>
                <a:latin typeface="Courier New"/>
              </a:rPr>
              <a:t>MOMENTUM: cumulative return over the past 7 days is negative.</a:t>
            </a:r>
          </a:p>
          <a:p>
            <a:pPr algn="l">
              <a:lnSpc>
                <a:spcPct val="125000"/>
              </a:lnSpc>
              <a:spcAft>
                <a:spcPts val="600"/>
              </a:spcAft>
            </a:pPr>
            <a:r>
              <a:rPr lang="en-US" sz="1400" b="0" i="0">
                <a:solidFill>
                  <a:srgbClr val="02C39A"/>
                </a:solidFill>
                <a:latin typeface="Courier New"/>
              </a:rPr>
              <a:t>JSON OUT: {investment_decision, summary_reason, &lt;layer&gt;_memory_index:[ids]}</a:t>
            </a:r>
          </a:p>
        </p:txBody>
      </p:sp>
      <p:sp>
        <p:nvSpPr>
          <p:cNvPr id="7" name="TextBox 6"/>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CADCFC"/>
                </a:solidFill>
                <a:latin typeface="Calibri"/>
              </a:rPr>
              <a:t>FinMem - Implementation  -  Shoshan &amp; Sagi</a:t>
            </a:r>
          </a:p>
        </p:txBody>
      </p:sp>
      <p:sp>
        <p:nvSpPr>
          <p:cNvPr id="8" name="TextBox 7"/>
          <p:cNvSpPr txBox="1"/>
          <p:nvPr/>
        </p:nvSpPr>
        <p:spPr>
          <a:xfrm>
            <a:off x="10972800" y="6473952"/>
            <a:ext cx="731520" cy="190821"/>
          </a:xfrm>
          <a:prstGeom prst="rect">
            <a:avLst/>
          </a:prstGeom>
          <a:noFill/>
        </p:spPr>
        <p:txBody>
          <a:bodyPr wrap="square" lIns="45720" tIns="18288" rIns="45720" bIns="18288" anchor="t">
            <a:spAutoFit/>
          </a:bodyPr>
          <a:lstStyle/>
          <a:p>
            <a:pPr algn="r">
              <a:spcAft>
                <a:spcPts val="400"/>
              </a:spcAft>
            </a:pPr>
            <a:r>
              <a:rPr lang="he-IL" sz="1000" b="0" i="0">
                <a:solidFill>
                  <a:srgbClr val="CADCFC"/>
                </a:solidFill>
                <a:latin typeface="Calibr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74320"/>
            <a:ext cx="11064240" cy="338554"/>
          </a:xfrm>
          <a:prstGeom prst="rect">
            <a:avLst/>
          </a:prstGeom>
          <a:noFill/>
        </p:spPr>
        <p:txBody>
          <a:bodyPr wrap="square" anchor="t">
            <a:spAutoFit/>
          </a:bodyPr>
          <a:lstStyle/>
          <a:p>
            <a:pPr algn="l">
              <a:spcBef>
                <a:spcPts val="0"/>
              </a:spcBef>
              <a:spcAft>
                <a:spcPts val="200"/>
              </a:spcAft>
            </a:pPr>
            <a:r>
              <a:rPr sz="1600" b="1">
                <a:solidFill>
                  <a:srgbClr val="1C7293"/>
                </a:solidFill>
                <a:latin typeface="Calibri"/>
              </a:rPr>
              <a:t>MODEL OUTPUTS</a:t>
            </a:r>
          </a:p>
        </p:txBody>
      </p:sp>
      <p:sp>
        <p:nvSpPr>
          <p:cNvPr id="4" name="TextBox 3"/>
          <p:cNvSpPr txBox="1"/>
          <p:nvPr/>
        </p:nvSpPr>
        <p:spPr>
          <a:xfrm>
            <a:off x="548640" y="530352"/>
            <a:ext cx="11064240" cy="646331"/>
          </a:xfrm>
          <a:prstGeom prst="rect">
            <a:avLst/>
          </a:prstGeom>
          <a:noFill/>
        </p:spPr>
        <p:txBody>
          <a:bodyPr wrap="square" anchor="t">
            <a:spAutoFit/>
          </a:bodyPr>
          <a:lstStyle/>
          <a:p>
            <a:pPr algn="l">
              <a:spcBef>
                <a:spcPts val="0"/>
              </a:spcBef>
              <a:spcAft>
                <a:spcPts val="200"/>
              </a:spcAft>
            </a:pPr>
            <a:r>
              <a:rPr sz="3600" b="1">
                <a:solidFill>
                  <a:srgbClr val="21295C"/>
                </a:solidFill>
                <a:latin typeface="Cambria"/>
              </a:rPr>
              <a:t>What it told us to justify its trades (verbatim)</a:t>
            </a:r>
          </a:p>
        </p:txBody>
      </p:sp>
      <p:sp>
        <p:nvSpPr>
          <p:cNvPr id="5" name="TextBox 4"/>
          <p:cNvSpPr txBox="1"/>
          <p:nvPr/>
        </p:nvSpPr>
        <p:spPr>
          <a:xfrm>
            <a:off x="548640" y="1243584"/>
            <a:ext cx="11064240" cy="338554"/>
          </a:xfrm>
          <a:prstGeom prst="rect">
            <a:avLst/>
          </a:prstGeom>
          <a:noFill/>
        </p:spPr>
        <p:txBody>
          <a:bodyPr wrap="square" anchor="t">
            <a:spAutoFit/>
          </a:bodyPr>
          <a:lstStyle/>
          <a:p>
            <a:pPr algn="l">
              <a:spcBef>
                <a:spcPts val="0"/>
              </a:spcBef>
              <a:spcAft>
                <a:spcPts val="200"/>
              </a:spcAft>
            </a:pPr>
            <a:r>
              <a:rPr sz="1600" b="0">
                <a:solidFill>
                  <a:srgbClr val="64748B"/>
                </a:solidFill>
                <a:latin typeface="Calibri"/>
              </a:rPr>
              <a:t>The agent's own saved reasoning on its four biggest single-day losses - each a 'buy' straight into a next-day drop.</a:t>
            </a:r>
          </a:p>
        </p:txBody>
      </p:sp>
      <p:sp>
        <p:nvSpPr>
          <p:cNvPr id="6" name="TextBox 5"/>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7" name="TextBox 6"/>
          <p:cNvSpPr txBox="1"/>
          <p:nvPr/>
        </p:nvSpPr>
        <p:spPr>
          <a:xfrm>
            <a:off x="10972800" y="6473952"/>
            <a:ext cx="731520" cy="253916"/>
          </a:xfrm>
          <a:prstGeom prst="rect">
            <a:avLst/>
          </a:prstGeom>
          <a:noFill/>
        </p:spPr>
        <p:txBody>
          <a:bodyPr wrap="square" anchor="t">
            <a:spAutoFit/>
          </a:bodyPr>
          <a:lstStyle/>
          <a:p>
            <a:pPr algn="l">
              <a:spcBef>
                <a:spcPts val="0"/>
              </a:spcBef>
              <a:spcAft>
                <a:spcPts val="200"/>
              </a:spcAft>
            </a:pPr>
            <a:r>
              <a:rPr sz="1050" b="0">
                <a:solidFill>
                  <a:srgbClr val="64748B"/>
                </a:solidFill>
                <a:latin typeface="Calibri"/>
              </a:rPr>
              <a:t>13</a:t>
            </a:r>
          </a:p>
        </p:txBody>
      </p:sp>
      <p:pic>
        <p:nvPicPr>
          <p:cNvPr id="26" name="Picture 25">
            <a:extLst>
              <a:ext uri="{FF2B5EF4-FFF2-40B4-BE49-F238E27FC236}">
                <a16:creationId xmlns:a16="http://schemas.microsoft.com/office/drawing/2014/main" id="{3B4CE115-DA64-C08A-5DE6-5AEE211C08A6}"/>
              </a:ext>
            </a:extLst>
          </p:cNvPr>
          <p:cNvPicPr>
            <a:picLocks noChangeAspect="1"/>
          </p:cNvPicPr>
          <p:nvPr/>
        </p:nvPicPr>
        <p:blipFill>
          <a:blip r:embed="rId2"/>
          <a:stretch>
            <a:fillRect/>
          </a:stretch>
        </p:blipFill>
        <p:spPr>
          <a:xfrm>
            <a:off x="4639989" y="2311353"/>
            <a:ext cx="7357482" cy="4162599"/>
          </a:xfrm>
          <a:prstGeom prst="rect">
            <a:avLst/>
          </a:prstGeom>
        </p:spPr>
      </p:pic>
      <p:grpSp>
        <p:nvGrpSpPr>
          <p:cNvPr id="25" name="קבוצה 24">
            <a:extLst>
              <a:ext uri="{FF2B5EF4-FFF2-40B4-BE49-F238E27FC236}">
                <a16:creationId xmlns:a16="http://schemas.microsoft.com/office/drawing/2014/main" id="{B9642165-824E-CBE1-D061-3751FBAAC6F3}"/>
              </a:ext>
            </a:extLst>
          </p:cNvPr>
          <p:cNvGrpSpPr/>
          <p:nvPr/>
        </p:nvGrpSpPr>
        <p:grpSpPr>
          <a:xfrm>
            <a:off x="213961" y="1575822"/>
            <a:ext cx="4350200" cy="2912292"/>
            <a:chOff x="548640" y="3867912"/>
            <a:chExt cx="5349240" cy="1828800"/>
          </a:xfrm>
        </p:grpSpPr>
        <p:sp>
          <p:nvSpPr>
            <p:cNvPr id="16" name="Rounded Rectangle 15"/>
            <p:cNvSpPr/>
            <p:nvPr/>
          </p:nvSpPr>
          <p:spPr>
            <a:xfrm>
              <a:off x="548640" y="3867912"/>
              <a:ext cx="5349240" cy="1828800"/>
            </a:xfrm>
            <a:prstGeom prst="roundRect">
              <a:avLst/>
            </a:prstGeom>
            <a:solidFill>
              <a:srgbClr val="F4F7FA"/>
            </a:solidFill>
            <a:ln w="12700">
              <a:solidFill>
                <a:srgbClr val="E4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sz="2400"/>
            </a:p>
          </p:txBody>
        </p:sp>
        <p:sp>
          <p:nvSpPr>
            <p:cNvPr id="17" name="TextBox 16"/>
            <p:cNvSpPr txBox="1"/>
            <p:nvPr/>
          </p:nvSpPr>
          <p:spPr>
            <a:xfrm>
              <a:off x="713232" y="3977640"/>
              <a:ext cx="3794759" cy="191321"/>
            </a:xfrm>
            <a:prstGeom prst="rect">
              <a:avLst/>
            </a:prstGeom>
            <a:noFill/>
          </p:spPr>
          <p:txBody>
            <a:bodyPr wrap="square" anchor="t">
              <a:spAutoFit/>
            </a:bodyPr>
            <a:lstStyle/>
            <a:p>
              <a:pPr algn="l">
                <a:lnSpc>
                  <a:spcPct val="150000"/>
                </a:lnSpc>
                <a:spcBef>
                  <a:spcPts val="0"/>
                </a:spcBef>
                <a:spcAft>
                  <a:spcPts val="200"/>
                </a:spcAft>
              </a:pPr>
              <a:r>
                <a:rPr sz="1600" b="1">
                  <a:solidFill>
                    <a:srgbClr val="21295C"/>
                  </a:solidFill>
                  <a:latin typeface="Calibri"/>
                </a:rPr>
                <a:t>COIN  2026-03-23</a:t>
              </a:r>
            </a:p>
          </p:txBody>
        </p:sp>
        <p:sp>
          <p:nvSpPr>
            <p:cNvPr id="18" name="TextBox 17"/>
            <p:cNvSpPr txBox="1"/>
            <p:nvPr/>
          </p:nvSpPr>
          <p:spPr>
            <a:xfrm>
              <a:off x="3095631" y="3977640"/>
              <a:ext cx="2665089" cy="265909"/>
            </a:xfrm>
            <a:prstGeom prst="rect">
              <a:avLst/>
            </a:prstGeom>
            <a:noFill/>
          </p:spPr>
          <p:txBody>
            <a:bodyPr wrap="square" anchor="t">
              <a:spAutoFit/>
            </a:bodyPr>
            <a:lstStyle/>
            <a:p>
              <a:pPr algn="r">
                <a:lnSpc>
                  <a:spcPct val="150000"/>
                </a:lnSpc>
                <a:spcBef>
                  <a:spcPts val="0"/>
                </a:spcBef>
                <a:spcAft>
                  <a:spcPts val="200"/>
                </a:spcAft>
              </a:pPr>
              <a:r>
                <a:rPr sz="1600" b="1">
                  <a:solidFill>
                    <a:srgbClr val="E24B4A"/>
                  </a:solidFill>
                  <a:latin typeface="Calibri"/>
                </a:rPr>
                <a:t>buy -&gt; -9.8%</a:t>
              </a:r>
            </a:p>
          </p:txBody>
        </p:sp>
        <p:sp>
          <p:nvSpPr>
            <p:cNvPr id="19" name="TextBox 18"/>
            <p:cNvSpPr txBox="1"/>
            <p:nvPr/>
          </p:nvSpPr>
          <p:spPr>
            <a:xfrm>
              <a:off x="713232" y="4370832"/>
              <a:ext cx="5029200" cy="610668"/>
            </a:xfrm>
            <a:prstGeom prst="rect">
              <a:avLst/>
            </a:prstGeom>
            <a:noFill/>
          </p:spPr>
          <p:txBody>
            <a:bodyPr wrap="square" anchor="t">
              <a:spAutoFit/>
            </a:bodyPr>
            <a:lstStyle/>
            <a:p>
              <a:pPr algn="l">
                <a:lnSpc>
                  <a:spcPct val="150000"/>
                </a:lnSpc>
                <a:spcBef>
                  <a:spcPts val="0"/>
                </a:spcBef>
                <a:spcAft>
                  <a:spcPts val="200"/>
                </a:spcAft>
              </a:pPr>
              <a:r>
                <a:rPr sz="1400" b="0">
                  <a:solidFill>
                    <a:srgbClr val="1E293B"/>
                  </a:solidFill>
                  <a:latin typeface="Calibri"/>
                </a:rPr>
                <a:t>"The cumulative return over the past 7 days is positive, indicating positive momentum. Despite short-term volatility and mixed-to-negative news, the mid- and long-term fundamentals of Coinbase remain strong..."</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307777"/>
          </a:xfrm>
          <a:prstGeom prst="rect">
            <a:avLst/>
          </a:prstGeom>
          <a:noFill/>
        </p:spPr>
        <p:txBody>
          <a:bodyPr wrap="square" anchor="t">
            <a:spAutoFit/>
          </a:bodyPr>
          <a:lstStyle/>
          <a:p>
            <a:pPr algn="l">
              <a:spcBef>
                <a:spcPts val="0"/>
              </a:spcBef>
              <a:spcAft>
                <a:spcPts val="200"/>
              </a:spcAft>
            </a:pPr>
            <a:r>
              <a:rPr sz="1400" b="1">
                <a:solidFill>
                  <a:srgbClr val="1C7293"/>
                </a:solidFill>
                <a:latin typeface="Calibri"/>
              </a:rPr>
              <a:t>MEMORY</a:t>
            </a:r>
          </a:p>
        </p:txBody>
      </p:sp>
      <p:sp>
        <p:nvSpPr>
          <p:cNvPr id="4" name="TextBox 3"/>
          <p:cNvSpPr txBox="1"/>
          <p:nvPr/>
        </p:nvSpPr>
        <p:spPr>
          <a:xfrm>
            <a:off x="548640" y="530352"/>
            <a:ext cx="11064240" cy="584775"/>
          </a:xfrm>
          <a:prstGeom prst="rect">
            <a:avLst/>
          </a:prstGeom>
          <a:noFill/>
        </p:spPr>
        <p:txBody>
          <a:bodyPr wrap="square" anchor="t">
            <a:spAutoFit/>
          </a:bodyPr>
          <a:lstStyle/>
          <a:p>
            <a:pPr algn="l">
              <a:spcBef>
                <a:spcPts val="0"/>
              </a:spcBef>
              <a:spcAft>
                <a:spcPts val="200"/>
              </a:spcAft>
            </a:pPr>
            <a:r>
              <a:rPr sz="3200" b="1">
                <a:solidFill>
                  <a:srgbClr val="21295C"/>
                </a:solidFill>
                <a:latin typeface="Cambria"/>
              </a:rPr>
              <a:t>The memory texts it actually leaned on (verbatim)</a:t>
            </a:r>
          </a:p>
        </p:txBody>
      </p:sp>
      <p:sp>
        <p:nvSpPr>
          <p:cNvPr id="6" name="TextBox 5"/>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7" name="TextBox 6"/>
          <p:cNvSpPr txBox="1"/>
          <p:nvPr/>
        </p:nvSpPr>
        <p:spPr>
          <a:xfrm>
            <a:off x="10972800" y="6473952"/>
            <a:ext cx="731520" cy="246221"/>
          </a:xfrm>
          <a:prstGeom prst="rect">
            <a:avLst/>
          </a:prstGeom>
          <a:noFill/>
        </p:spPr>
        <p:txBody>
          <a:bodyPr wrap="square" anchor="t">
            <a:spAutoFit/>
          </a:bodyPr>
          <a:lstStyle/>
          <a:p>
            <a:pPr algn="l">
              <a:spcBef>
                <a:spcPts val="0"/>
              </a:spcBef>
              <a:spcAft>
                <a:spcPts val="200"/>
              </a:spcAft>
            </a:pPr>
            <a:r>
              <a:rPr sz="1000" b="0" dirty="0">
                <a:solidFill>
                  <a:srgbClr val="64748B"/>
                </a:solidFill>
                <a:latin typeface="Calibri"/>
              </a:rPr>
              <a:t>14</a:t>
            </a:r>
          </a:p>
        </p:txBody>
      </p:sp>
      <p:sp>
        <p:nvSpPr>
          <p:cNvPr id="8" name="Rounded Rectangle 7"/>
          <p:cNvSpPr/>
          <p:nvPr/>
        </p:nvSpPr>
        <p:spPr>
          <a:xfrm>
            <a:off x="259080" y="1591056"/>
            <a:ext cx="5629228" cy="3309650"/>
          </a:xfrm>
          <a:prstGeom prst="roundRect">
            <a:avLst/>
          </a:prstGeom>
          <a:solidFill>
            <a:srgbClr val="FFFFFF"/>
          </a:solidFill>
          <a:ln w="12700">
            <a:solidFill>
              <a:srgbClr val="E4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ectangle 8"/>
          <p:cNvSpPr/>
          <p:nvPr/>
        </p:nvSpPr>
        <p:spPr>
          <a:xfrm>
            <a:off x="257868" y="1591056"/>
            <a:ext cx="250785" cy="3309655"/>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499645" y="1695886"/>
            <a:ext cx="5244322" cy="338554"/>
          </a:xfrm>
          <a:prstGeom prst="rect">
            <a:avLst/>
          </a:prstGeom>
          <a:noFill/>
        </p:spPr>
        <p:txBody>
          <a:bodyPr wrap="square" anchor="t">
            <a:spAutoFit/>
          </a:bodyPr>
          <a:lstStyle/>
          <a:p>
            <a:pPr>
              <a:spcAft>
                <a:spcPts val="200"/>
              </a:spcAft>
            </a:pPr>
            <a:r>
              <a:rPr sz="1600" b="1" dirty="0">
                <a:solidFill>
                  <a:srgbClr val="21295C"/>
                </a:solidFill>
                <a:latin typeface="Calibri"/>
              </a:rPr>
              <a:t>#</a:t>
            </a:r>
            <a:r>
              <a:rPr lang="en-US" sz="1600" b="1" dirty="0">
                <a:solidFill>
                  <a:srgbClr val="21295C"/>
                </a:solidFill>
                <a:latin typeface="Calibri"/>
              </a:rPr>
              <a:t>9</a:t>
            </a:r>
            <a:r>
              <a:rPr sz="1600" b="1" dirty="0">
                <a:solidFill>
                  <a:srgbClr val="21295C"/>
                </a:solidFill>
                <a:latin typeface="Calibri"/>
              </a:rPr>
              <a:t>1 </a:t>
            </a:r>
            <a:r>
              <a:rPr lang="en-US" sz="1600" b="1" dirty="0">
                <a:solidFill>
                  <a:srgbClr val="1C7293"/>
                </a:solidFill>
              </a:rPr>
              <a:t>news - Deep layer</a:t>
            </a:r>
            <a:endParaRPr sz="1400" b="1" dirty="0">
              <a:solidFill>
                <a:srgbClr val="02C39A"/>
              </a:solidFill>
              <a:latin typeface="Calibri"/>
            </a:endParaRPr>
          </a:p>
        </p:txBody>
      </p:sp>
      <p:sp>
        <p:nvSpPr>
          <p:cNvPr id="11" name="TextBox 10"/>
          <p:cNvSpPr txBox="1"/>
          <p:nvPr/>
        </p:nvSpPr>
        <p:spPr>
          <a:xfrm>
            <a:off x="499645" y="2062798"/>
            <a:ext cx="5196209" cy="2660408"/>
          </a:xfrm>
          <a:prstGeom prst="rect">
            <a:avLst/>
          </a:prstGeom>
          <a:noFill/>
        </p:spPr>
        <p:txBody>
          <a:bodyPr wrap="square" anchor="t">
            <a:spAutoFit/>
          </a:bodyPr>
          <a:lstStyle/>
          <a:p>
            <a:pPr>
              <a:lnSpc>
                <a:spcPct val="120000"/>
              </a:lnSpc>
              <a:spcAft>
                <a:spcPts val="200"/>
              </a:spcAft>
            </a:pPr>
            <a:r>
              <a:rPr lang="en-US" sz="1400"/>
              <a:t>"Amazon is highlighted as a top-tier retail stock for the holiday season, benefiting from diverse business models including e-commerce and high-margin ad revenue. Analysts note Amazon's ability to manage peak shopping through strong logistics and physical footprints. The company is expected to see accelerating ad revenue in 2026, which could become a major margin lever alongside AWS. Projections include continued market share gains from brick-and-mortar competitors and potential double-digit North American retail growth, supported by AI personalization and expanded fulfillment hubs."</a:t>
            </a:r>
            <a:endParaRPr lang="en-US" sz="1400">
              <a:solidFill>
                <a:srgbClr val="1E293B"/>
              </a:solidFill>
            </a:endParaRPr>
          </a:p>
        </p:txBody>
      </p:sp>
      <p:sp>
        <p:nvSpPr>
          <p:cNvPr id="22" name="TextBox 21"/>
          <p:cNvSpPr txBox="1"/>
          <p:nvPr/>
        </p:nvSpPr>
        <p:spPr>
          <a:xfrm>
            <a:off x="6465663" y="3551406"/>
            <a:ext cx="5244322" cy="338554"/>
          </a:xfrm>
          <a:prstGeom prst="rect">
            <a:avLst/>
          </a:prstGeom>
          <a:noFill/>
        </p:spPr>
        <p:txBody>
          <a:bodyPr wrap="square" anchor="t">
            <a:spAutoFit/>
          </a:bodyPr>
          <a:lstStyle/>
          <a:p>
            <a:pPr algn="l">
              <a:spcBef>
                <a:spcPts val="0"/>
              </a:spcBef>
              <a:spcAft>
                <a:spcPts val="200"/>
              </a:spcAft>
            </a:pPr>
            <a:r>
              <a:rPr sz="1600" b="1">
                <a:solidFill>
                  <a:srgbClr val="21295C"/>
                </a:solidFill>
                <a:latin typeface="Calibri"/>
              </a:rPr>
              <a:t>#674  </a:t>
            </a:r>
            <a:r>
              <a:rPr sz="1400" b="1">
                <a:solidFill>
                  <a:srgbClr val="EF9F27"/>
                </a:solidFill>
                <a:latin typeface="Calibri"/>
              </a:rPr>
              <a:t>reflection-term</a:t>
            </a:r>
          </a:p>
        </p:txBody>
      </p:sp>
      <p:sp>
        <p:nvSpPr>
          <p:cNvPr id="23" name="TextBox 22"/>
          <p:cNvSpPr txBox="1"/>
          <p:nvPr/>
        </p:nvSpPr>
        <p:spPr>
          <a:xfrm>
            <a:off x="6465663" y="3918317"/>
            <a:ext cx="5196209" cy="646331"/>
          </a:xfrm>
          <a:prstGeom prst="rect">
            <a:avLst/>
          </a:prstGeom>
          <a:noFill/>
        </p:spPr>
        <p:txBody>
          <a:bodyPr wrap="square" anchor="t">
            <a:spAutoFit/>
          </a:bodyPr>
          <a:lstStyle/>
          <a:p>
            <a:pPr algn="l">
              <a:spcBef>
                <a:spcPts val="0"/>
              </a:spcBef>
              <a:spcAft>
                <a:spcPts val="200"/>
              </a:spcAft>
            </a:pPr>
            <a:r>
              <a:rPr sz="1200" b="0">
                <a:solidFill>
                  <a:srgbClr val="1E293B"/>
                </a:solidFill>
                <a:latin typeface="Calibri"/>
              </a:rPr>
              <a:t>"Despite slightly negative momentum in the past 7 days, the overall information indicates strong positive fundamentals and growth potential for NFLX. The short-term data shows bullish option activity..."</a:t>
            </a:r>
          </a:p>
        </p:txBody>
      </p:sp>
      <p:sp>
        <p:nvSpPr>
          <p:cNvPr id="24" name="Rounded Rectangle 23"/>
          <p:cNvSpPr/>
          <p:nvPr/>
        </p:nvSpPr>
        <p:spPr>
          <a:xfrm>
            <a:off x="259080" y="5213517"/>
            <a:ext cx="11643360" cy="1120045"/>
          </a:xfrm>
          <a:prstGeom prst="round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451532" y="5297380"/>
            <a:ext cx="11258456" cy="820738"/>
          </a:xfrm>
          <a:prstGeom prst="rect">
            <a:avLst/>
          </a:prstGeom>
          <a:noFill/>
        </p:spPr>
        <p:txBody>
          <a:bodyPr wrap="square" anchor="t">
            <a:spAutoFit/>
          </a:bodyPr>
          <a:lstStyle/>
          <a:p>
            <a:pPr algn="l">
              <a:spcBef>
                <a:spcPts val="0"/>
              </a:spcBef>
              <a:spcAft>
                <a:spcPts val="400"/>
              </a:spcAft>
            </a:pPr>
            <a:r>
              <a:rPr sz="1600" b="1" dirty="0">
                <a:solidFill>
                  <a:srgbClr val="21295C"/>
                </a:solidFill>
                <a:latin typeface="Calibri"/>
              </a:rPr>
              <a:t>Deep layer, retrieved months later - TSLA extended reflection 2025-10-03:  </a:t>
            </a:r>
            <a:r>
              <a:rPr sz="1400" b="0" dirty="0">
                <a:solidFill>
                  <a:srgbClr val="1E293B"/>
                </a:solidFill>
                <a:latin typeface="Calibri"/>
              </a:rPr>
              <a:t>"Relying heavily on short-term bullish analyst forecasts, such as Dan Ives' $2T valuation, tends to correlate with modest positive next-day returns, yet does not protect from losses during negative fundamental news..."</a:t>
            </a:r>
          </a:p>
          <a:p>
            <a:pPr algn="l">
              <a:spcBef>
                <a:spcPts val="0"/>
              </a:spcBef>
              <a:spcAft>
                <a:spcPts val="400"/>
              </a:spcAft>
            </a:pPr>
            <a:r>
              <a:rPr sz="1400" b="0" dirty="0">
                <a:solidFill>
                  <a:srgbClr val="64748B"/>
                </a:solidFill>
                <a:latin typeface="Calibri"/>
              </a:rPr>
              <a:t>These deep reflections persisted 100+ days and were cited long after - the memory machinery demonstrably worked</a:t>
            </a:r>
            <a:r>
              <a:rPr lang="he-IL" sz="1400" dirty="0">
                <a:solidFill>
                  <a:srgbClr val="64748B"/>
                </a:solidFill>
                <a:latin typeface="Calibri"/>
              </a:rPr>
              <a:t>.</a:t>
            </a:r>
            <a:endParaRPr sz="1400" b="0" dirty="0">
              <a:solidFill>
                <a:srgbClr val="64748B"/>
              </a:solidFill>
              <a:latin typeface="Calibri"/>
            </a:endParaRPr>
          </a:p>
        </p:txBody>
      </p:sp>
      <p:sp>
        <p:nvSpPr>
          <p:cNvPr id="27" name="Rounded Rectangle 7">
            <a:extLst>
              <a:ext uri="{FF2B5EF4-FFF2-40B4-BE49-F238E27FC236}">
                <a16:creationId xmlns:a16="http://schemas.microsoft.com/office/drawing/2014/main" id="{3480A905-3900-33F5-ABA7-98DA1A4BDFC1}"/>
              </a:ext>
            </a:extLst>
          </p:cNvPr>
          <p:cNvSpPr/>
          <p:nvPr/>
        </p:nvSpPr>
        <p:spPr>
          <a:xfrm>
            <a:off x="6304301" y="1623932"/>
            <a:ext cx="5629228" cy="3309650"/>
          </a:xfrm>
          <a:prstGeom prst="roundRect">
            <a:avLst/>
          </a:prstGeom>
          <a:solidFill>
            <a:srgbClr val="FFFFFF"/>
          </a:solidFill>
          <a:ln w="12700">
            <a:solidFill>
              <a:srgbClr val="E4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9">
            <a:extLst>
              <a:ext uri="{FF2B5EF4-FFF2-40B4-BE49-F238E27FC236}">
                <a16:creationId xmlns:a16="http://schemas.microsoft.com/office/drawing/2014/main" id="{65F0FDC9-367C-40B3-34A2-A32931C9C36E}"/>
              </a:ext>
            </a:extLst>
          </p:cNvPr>
          <p:cNvSpPr txBox="1"/>
          <p:nvPr/>
        </p:nvSpPr>
        <p:spPr>
          <a:xfrm>
            <a:off x="6544866" y="1728762"/>
            <a:ext cx="5244322" cy="338554"/>
          </a:xfrm>
          <a:prstGeom prst="rect">
            <a:avLst/>
          </a:prstGeom>
          <a:noFill/>
        </p:spPr>
        <p:txBody>
          <a:bodyPr wrap="square" anchor="t">
            <a:spAutoFit/>
          </a:bodyPr>
          <a:lstStyle/>
          <a:p>
            <a:pPr>
              <a:spcAft>
                <a:spcPts val="200"/>
              </a:spcAft>
            </a:pPr>
            <a:r>
              <a:rPr lang="he-IL" sz="1600" b="1">
                <a:solidFill>
                  <a:srgbClr val="21295C"/>
                </a:solidFill>
                <a:latin typeface="Calibri"/>
              </a:rPr>
              <a:t>#</a:t>
            </a:r>
            <a:r>
              <a:rPr lang="en-US" sz="1600" b="1">
                <a:solidFill>
                  <a:srgbClr val="21295C"/>
                </a:solidFill>
                <a:latin typeface="Calibri"/>
              </a:rPr>
              <a:t>43</a:t>
            </a:r>
            <a:r>
              <a:rPr sz="1600" b="1" dirty="0">
                <a:solidFill>
                  <a:srgbClr val="21295C"/>
                </a:solidFill>
                <a:latin typeface="Calibri"/>
              </a:rPr>
              <a:t> </a:t>
            </a:r>
            <a:r>
              <a:rPr lang="en-US" sz="1600" b="1" dirty="0">
                <a:solidFill>
                  <a:srgbClr val="1C7293"/>
                </a:solidFill>
              </a:rPr>
              <a:t>news – Mid term layer</a:t>
            </a:r>
            <a:endParaRPr sz="1400" b="1" dirty="0">
              <a:solidFill>
                <a:srgbClr val="02C39A"/>
              </a:solidFill>
              <a:latin typeface="Calibri"/>
            </a:endParaRPr>
          </a:p>
        </p:txBody>
      </p:sp>
      <p:sp>
        <p:nvSpPr>
          <p:cNvPr id="30" name="Rectangle 20">
            <a:extLst>
              <a:ext uri="{FF2B5EF4-FFF2-40B4-BE49-F238E27FC236}">
                <a16:creationId xmlns:a16="http://schemas.microsoft.com/office/drawing/2014/main" id="{15C72948-9D18-0BA5-5CF4-960366B1FE01}"/>
              </a:ext>
            </a:extLst>
          </p:cNvPr>
          <p:cNvSpPr/>
          <p:nvPr/>
        </p:nvSpPr>
        <p:spPr>
          <a:xfrm>
            <a:off x="6309066" y="1635225"/>
            <a:ext cx="240566" cy="3268422"/>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10">
            <a:extLst>
              <a:ext uri="{FF2B5EF4-FFF2-40B4-BE49-F238E27FC236}">
                <a16:creationId xmlns:a16="http://schemas.microsoft.com/office/drawing/2014/main" id="{22B75044-F2A6-3F2E-23FD-D35C65BE585B}"/>
              </a:ext>
            </a:extLst>
          </p:cNvPr>
          <p:cNvSpPr txBox="1"/>
          <p:nvPr/>
        </p:nvSpPr>
        <p:spPr>
          <a:xfrm>
            <a:off x="6664396" y="2215198"/>
            <a:ext cx="5196209" cy="1997919"/>
          </a:xfrm>
          <a:prstGeom prst="rect">
            <a:avLst/>
          </a:prstGeom>
          <a:noFill/>
        </p:spPr>
        <p:txBody>
          <a:bodyPr wrap="square" anchor="t">
            <a:spAutoFit/>
          </a:bodyPr>
          <a:lstStyle/>
          <a:p>
            <a:pPr>
              <a:lnSpc>
                <a:spcPct val="150000"/>
              </a:lnSpc>
              <a:spcAft>
                <a:spcPts val="200"/>
              </a:spcAft>
            </a:pPr>
            <a:r>
              <a:rPr lang="en-US" sz="1400"/>
              <a:t>"Coinbase Global (NASDAQ: COIN) shares rose as Bitcoin reclaimed $68,500. The Clarity Act is identified as a major regulatory catalyst for the company, which generated approximately $1.3 billion in stablecoin-related revenue in 2025. The final legislative language regarding stablecoin rewards is expected to significantly impact Coinbase's 2026 earnings."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CORE FINDING</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Did the layered memory help? - the ablation</a:t>
            </a:r>
          </a:p>
        </p:txBody>
      </p:sp>
      <p:sp>
        <p:nvSpPr>
          <p:cNvPr id="12" name="TextBox 11"/>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13" name="TextBox 12"/>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r>
              <a:rPr sz="900" b="0" i="0">
                <a:solidFill>
                  <a:srgbClr val="64748B"/>
                </a:solidFill>
                <a:latin typeface="Calibri"/>
              </a:rPr>
              <a:t>15</a:t>
            </a:r>
          </a:p>
        </p:txBody>
      </p:sp>
      <p:pic>
        <p:nvPicPr>
          <p:cNvPr id="20" name="Picture 19">
            <a:extLst>
              <a:ext uri="{FF2B5EF4-FFF2-40B4-BE49-F238E27FC236}">
                <a16:creationId xmlns:a16="http://schemas.microsoft.com/office/drawing/2014/main" id="{0C1E70CB-0FE3-EFCC-691A-7A615EC3155E}"/>
              </a:ext>
            </a:extLst>
          </p:cNvPr>
          <p:cNvPicPr>
            <a:picLocks noChangeAspect="1"/>
          </p:cNvPicPr>
          <p:nvPr/>
        </p:nvPicPr>
        <p:blipFill>
          <a:blip r:embed="rId2"/>
          <a:stretch>
            <a:fillRect/>
          </a:stretch>
        </p:blipFill>
        <p:spPr>
          <a:xfrm>
            <a:off x="5773270" y="3037661"/>
            <a:ext cx="6293715" cy="3382503"/>
          </a:xfrm>
          <a:prstGeom prst="rect">
            <a:avLst/>
          </a:prstGeom>
        </p:spPr>
      </p:pic>
      <p:grpSp>
        <p:nvGrpSpPr>
          <p:cNvPr id="15" name="קבוצה 14">
            <a:extLst>
              <a:ext uri="{FF2B5EF4-FFF2-40B4-BE49-F238E27FC236}">
                <a16:creationId xmlns:a16="http://schemas.microsoft.com/office/drawing/2014/main" id="{C46B2495-4E08-9371-ABC8-9151FA2DB879}"/>
              </a:ext>
            </a:extLst>
          </p:cNvPr>
          <p:cNvGrpSpPr/>
          <p:nvPr/>
        </p:nvGrpSpPr>
        <p:grpSpPr>
          <a:xfrm>
            <a:off x="79786" y="1279864"/>
            <a:ext cx="6370673" cy="4139002"/>
            <a:chOff x="635598" y="2170358"/>
            <a:chExt cx="6370673" cy="4139002"/>
          </a:xfrm>
        </p:grpSpPr>
        <p:sp>
          <p:nvSpPr>
            <p:cNvPr id="14" name="Rounded Rectangle 23">
              <a:extLst>
                <a:ext uri="{FF2B5EF4-FFF2-40B4-BE49-F238E27FC236}">
                  <a16:creationId xmlns:a16="http://schemas.microsoft.com/office/drawing/2014/main" id="{5D28E207-019B-0704-F8E2-34C7A4F55DAD}"/>
                </a:ext>
              </a:extLst>
            </p:cNvPr>
            <p:cNvSpPr/>
            <p:nvPr/>
          </p:nvSpPr>
          <p:spPr>
            <a:xfrm>
              <a:off x="635598" y="2170358"/>
              <a:ext cx="5852161" cy="4139002"/>
            </a:xfrm>
            <a:prstGeom prst="round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1154111" y="3083856"/>
              <a:ext cx="5852160" cy="2656305"/>
            </a:xfrm>
            <a:prstGeom prst="rect">
              <a:avLst/>
            </a:prstGeom>
            <a:noFill/>
          </p:spPr>
          <p:txBody>
            <a:bodyPr wrap="square" lIns="45720" tIns="18288" rIns="45720" bIns="18288" anchor="t">
              <a:spAutoFit/>
            </a:bodyPr>
            <a:lstStyle/>
            <a:p>
              <a:pPr algn="l">
                <a:lnSpc>
                  <a:spcPct val="112000"/>
                </a:lnSpc>
                <a:spcAft>
                  <a:spcPts val="400"/>
                </a:spcAft>
              </a:pPr>
              <a:r>
                <a:rPr b="0" i="0">
                  <a:solidFill>
                    <a:srgbClr val="1E293B"/>
                  </a:solidFill>
                  <a:latin typeface="Calibri"/>
                </a:rPr>
                <a:t>The memory machinery </a:t>
              </a:r>
              <a:r>
                <a:rPr b="1" i="0">
                  <a:solidFill>
                    <a:srgbClr val="1C7293"/>
                  </a:solidFill>
                  <a:latin typeface="Calibri"/>
                </a:rPr>
                <a:t>fully engaged</a:t>
              </a:r>
              <a:r>
                <a:rPr b="0" i="0">
                  <a:solidFill>
                    <a:srgbClr val="1E293B"/>
                  </a:solidFill>
                  <a:latin typeface="Calibri"/>
                </a:rPr>
                <a:t>:</a:t>
              </a:r>
            </a:p>
            <a:p>
              <a:pPr algn="l">
                <a:lnSpc>
                  <a:spcPct val="112000"/>
                </a:lnSpc>
                <a:spcAft>
                  <a:spcPts val="400"/>
                </a:spcAft>
              </a:pPr>
              <a:r>
                <a:rPr sz="1600" b="0" i="0">
                  <a:solidFill>
                    <a:srgbClr val="1E293B"/>
                  </a:solidFill>
                  <a:latin typeface="Calibri"/>
                </a:rPr>
                <a:t>-  1000+ memories retained per ticker </a:t>
              </a:r>
              <a:endParaRPr lang="he-IL" sz="1600" b="0" i="0">
                <a:solidFill>
                  <a:srgbClr val="1E293B"/>
                </a:solidFill>
                <a:latin typeface="Calibri"/>
              </a:endParaRPr>
            </a:p>
            <a:p>
              <a:pPr algn="l">
                <a:lnSpc>
                  <a:spcPct val="112000"/>
                </a:lnSpc>
                <a:spcAft>
                  <a:spcPts val="400"/>
                </a:spcAft>
              </a:pPr>
              <a:r>
                <a:rPr sz="1600" b="0" i="0">
                  <a:solidFill>
                    <a:srgbClr val="1E293B"/>
                  </a:solidFill>
                  <a:latin typeface="Calibri"/>
                </a:rPr>
                <a:t>-  deep layer holds 119 self-written reflections</a:t>
              </a:r>
            </a:p>
            <a:p>
              <a:pPr algn="l">
                <a:lnSpc>
                  <a:spcPct val="112000"/>
                </a:lnSpc>
                <a:spcAft>
                  <a:spcPts val="400"/>
                </a:spcAft>
              </a:pPr>
              <a:r>
                <a:rPr sz="1600" b="0" i="0">
                  <a:solidFill>
                    <a:srgbClr val="1E293B"/>
                  </a:solidFill>
                  <a:latin typeface="Calibri"/>
                </a:rPr>
                <a:t>-  the agent cites its own reflections (NFLX: 78x)</a:t>
              </a:r>
            </a:p>
            <a:p>
              <a:pPr algn="l">
                <a:lnSpc>
                  <a:spcPct val="112000"/>
                </a:lnSpc>
                <a:spcAft>
                  <a:spcPts val="400"/>
                </a:spcAft>
              </a:pPr>
              <a:r>
                <a:rPr sz="1600" b="0" i="0">
                  <a:solidFill>
                    <a:srgbClr val="1E293B"/>
                  </a:solidFill>
                  <a:latin typeface="Calibri"/>
                </a:rPr>
                <a:t>-  adaptive persona switches 21x over the window</a:t>
              </a:r>
            </a:p>
            <a:p>
              <a:pPr algn="l">
                <a:lnSpc>
                  <a:spcPct val="112000"/>
                </a:lnSpc>
                <a:spcAft>
                  <a:spcPts val="400"/>
                </a:spcAft>
              </a:pPr>
              <a:endParaRPr sz="1600" b="0" i="0">
                <a:solidFill>
                  <a:srgbClr val="1E293B"/>
                </a:solidFill>
                <a:latin typeface="Calibri"/>
              </a:endParaRPr>
            </a:p>
            <a:p>
              <a:pPr algn="l">
                <a:lnSpc>
                  <a:spcPct val="112000"/>
                </a:lnSpc>
                <a:spcAft>
                  <a:spcPts val="400"/>
                </a:spcAft>
              </a:pPr>
              <a:r>
                <a:rPr b="1" i="0">
                  <a:solidFill>
                    <a:srgbClr val="E24B4A"/>
                  </a:solidFill>
                  <a:latin typeface="Calibri"/>
                </a:rPr>
                <a:t>... yet none of it improved returns out-of-sample.</a:t>
              </a:r>
            </a:p>
            <a:p>
              <a:pPr algn="l">
                <a:lnSpc>
                  <a:spcPct val="112000"/>
                </a:lnSpc>
                <a:spcAft>
                  <a:spcPts val="400"/>
                </a:spcAft>
              </a:pPr>
              <a:r>
                <a:rPr sz="1600" b="0" i="1">
                  <a:solidFill>
                    <a:srgbClr val="1E293B"/>
                  </a:solidFill>
                  <a:latin typeface="Calibri"/>
                </a:rPr>
                <a:t>The architecture is real and active; its value is not.</a:t>
              </a:r>
            </a:p>
          </p:txBody>
        </p:sp>
        <p:sp>
          <p:nvSpPr>
            <p:cNvPr id="10" name="TextBox 9"/>
            <p:cNvSpPr txBox="1"/>
            <p:nvPr/>
          </p:nvSpPr>
          <p:spPr>
            <a:xfrm>
              <a:off x="1154111" y="2574554"/>
              <a:ext cx="5852160" cy="344710"/>
            </a:xfrm>
            <a:prstGeom prst="rect">
              <a:avLst/>
            </a:prstGeom>
            <a:noFill/>
          </p:spPr>
          <p:txBody>
            <a:bodyPr wrap="square" lIns="45720" tIns="18288" rIns="45720" bIns="18288" anchor="t">
              <a:spAutoFit/>
            </a:bodyPr>
            <a:lstStyle/>
            <a:p>
              <a:pPr algn="l">
                <a:spcAft>
                  <a:spcPts val="400"/>
                </a:spcAft>
              </a:pPr>
              <a:r>
                <a:rPr lang="en-US" sz="2000" b="1" i="0">
                  <a:solidFill>
                    <a:srgbClr val="21295C"/>
                  </a:solidFill>
                  <a:latin typeface="Calibri"/>
                </a:rPr>
                <a:t>The paradox we document</a:t>
              </a:r>
            </a:p>
          </p:txBody>
        </p:sp>
      </p:grpSp>
    </p:spTree>
    <p:extLst>
      <p:ext uri="{BB962C8B-B14F-4D97-AF65-F5344CB8AC3E}">
        <p14:creationId xmlns:p14="http://schemas.microsoft.com/office/powerpoint/2010/main" val="1301540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338554"/>
          </a:xfrm>
          <a:prstGeom prst="rect">
            <a:avLst/>
          </a:prstGeom>
          <a:noFill/>
        </p:spPr>
        <p:txBody>
          <a:bodyPr wrap="square" anchor="t">
            <a:spAutoFit/>
          </a:bodyPr>
          <a:lstStyle/>
          <a:p>
            <a:pPr algn="l">
              <a:spcBef>
                <a:spcPts val="0"/>
              </a:spcBef>
              <a:spcAft>
                <a:spcPts val="200"/>
              </a:spcAft>
            </a:pPr>
            <a:r>
              <a:rPr lang="en-US" sz="1600" b="1">
                <a:solidFill>
                  <a:srgbClr val="1C7293"/>
                </a:solidFill>
                <a:latin typeface="Calibri"/>
              </a:rPr>
              <a:t>CORE FINDING</a:t>
            </a:r>
          </a:p>
        </p:txBody>
      </p:sp>
      <p:sp>
        <p:nvSpPr>
          <p:cNvPr id="4" name="TextBox 3"/>
          <p:cNvSpPr txBox="1"/>
          <p:nvPr/>
        </p:nvSpPr>
        <p:spPr>
          <a:xfrm>
            <a:off x="548640" y="530352"/>
            <a:ext cx="11064240" cy="646331"/>
          </a:xfrm>
          <a:prstGeom prst="rect">
            <a:avLst/>
          </a:prstGeom>
          <a:noFill/>
        </p:spPr>
        <p:txBody>
          <a:bodyPr wrap="square" anchor="t">
            <a:spAutoFit/>
          </a:bodyPr>
          <a:lstStyle/>
          <a:p>
            <a:pPr algn="l">
              <a:spcBef>
                <a:spcPts val="0"/>
              </a:spcBef>
              <a:spcAft>
                <a:spcPts val="200"/>
              </a:spcAft>
            </a:pPr>
            <a:r>
              <a:rPr lang="en-US" sz="3600" b="1">
                <a:solidFill>
                  <a:srgbClr val="21295C"/>
                </a:solidFill>
                <a:latin typeface="Cambria"/>
              </a:rPr>
              <a:t>No-memory = </a:t>
            </a:r>
            <a:r>
              <a:rPr lang="en-US" sz="3600" b="1" err="1">
                <a:solidFill>
                  <a:srgbClr val="21295C"/>
                </a:solidFill>
                <a:latin typeface="Cambria"/>
              </a:rPr>
              <a:t>FinMem</a:t>
            </a:r>
            <a:r>
              <a:rPr lang="en-US" sz="3600" b="1">
                <a:solidFill>
                  <a:srgbClr val="21295C"/>
                </a:solidFill>
                <a:latin typeface="Cambria"/>
              </a:rPr>
              <a:t> minus its memory module</a:t>
            </a:r>
          </a:p>
        </p:txBody>
      </p:sp>
      <p:sp>
        <p:nvSpPr>
          <p:cNvPr id="5" name="TextBox 4"/>
          <p:cNvSpPr txBox="1"/>
          <p:nvPr/>
        </p:nvSpPr>
        <p:spPr>
          <a:xfrm>
            <a:off x="548640" y="1243584"/>
            <a:ext cx="11064240" cy="338554"/>
          </a:xfrm>
          <a:prstGeom prst="rect">
            <a:avLst/>
          </a:prstGeom>
          <a:noFill/>
        </p:spPr>
        <p:txBody>
          <a:bodyPr wrap="square" anchor="t">
            <a:spAutoFit/>
          </a:bodyPr>
          <a:lstStyle/>
          <a:p>
            <a:pPr algn="l">
              <a:spcBef>
                <a:spcPts val="0"/>
              </a:spcBef>
              <a:spcAft>
                <a:spcPts val="200"/>
              </a:spcAft>
            </a:pPr>
            <a:r>
              <a:rPr lang="en-US" sz="1600" b="0">
                <a:solidFill>
                  <a:srgbClr val="64748B"/>
                </a:solidFill>
                <a:latin typeface="Calibri"/>
              </a:rPr>
              <a:t>The ablation is not a different agent - it is the SAME agent with retrieval switched off.</a:t>
            </a:r>
          </a:p>
        </p:txBody>
      </p:sp>
      <p:sp>
        <p:nvSpPr>
          <p:cNvPr id="6" name="TextBox 5"/>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7" name="TextBox 6"/>
          <p:cNvSpPr txBox="1"/>
          <p:nvPr/>
        </p:nvSpPr>
        <p:spPr>
          <a:xfrm>
            <a:off x="10972800" y="6473952"/>
            <a:ext cx="731520" cy="253916"/>
          </a:xfrm>
          <a:prstGeom prst="rect">
            <a:avLst/>
          </a:prstGeom>
          <a:noFill/>
        </p:spPr>
        <p:txBody>
          <a:bodyPr wrap="square" anchor="t">
            <a:spAutoFit/>
          </a:bodyPr>
          <a:lstStyle/>
          <a:p>
            <a:pPr algn="l">
              <a:spcBef>
                <a:spcPts val="0"/>
              </a:spcBef>
              <a:spcAft>
                <a:spcPts val="200"/>
              </a:spcAft>
            </a:pPr>
            <a:r>
              <a:rPr lang="he-IL" sz="1050" b="0">
                <a:solidFill>
                  <a:srgbClr val="64748B"/>
                </a:solidFill>
                <a:latin typeface="Calibri"/>
              </a:rPr>
              <a:t>16</a:t>
            </a:r>
          </a:p>
        </p:txBody>
      </p:sp>
      <p:sp>
        <p:nvSpPr>
          <p:cNvPr id="8" name="Rounded Rectangle 7"/>
          <p:cNvSpPr/>
          <p:nvPr/>
        </p:nvSpPr>
        <p:spPr>
          <a:xfrm>
            <a:off x="548640" y="1737360"/>
            <a:ext cx="5440680" cy="2468880"/>
          </a:xfrm>
          <a:prstGeom prst="roundRect">
            <a:avLst/>
          </a:prstGeom>
          <a:solidFill>
            <a:srgbClr val="F4F7FA"/>
          </a:solidFill>
          <a:ln w="127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400"/>
          </a:p>
        </p:txBody>
      </p:sp>
      <p:sp>
        <p:nvSpPr>
          <p:cNvPr id="9" name="TextBox 8"/>
          <p:cNvSpPr txBox="1"/>
          <p:nvPr/>
        </p:nvSpPr>
        <p:spPr>
          <a:xfrm>
            <a:off x="731520" y="1828800"/>
            <a:ext cx="5120640" cy="369332"/>
          </a:xfrm>
          <a:prstGeom prst="rect">
            <a:avLst/>
          </a:prstGeom>
          <a:noFill/>
        </p:spPr>
        <p:txBody>
          <a:bodyPr wrap="square" anchor="t">
            <a:spAutoFit/>
          </a:bodyPr>
          <a:lstStyle/>
          <a:p>
            <a:pPr algn="l">
              <a:spcBef>
                <a:spcPts val="0"/>
              </a:spcBef>
              <a:spcAft>
                <a:spcPts val="200"/>
              </a:spcAft>
            </a:pPr>
            <a:r>
              <a:rPr lang="en-US" b="1">
                <a:solidFill>
                  <a:srgbClr val="02C39A"/>
                </a:solidFill>
                <a:latin typeface="Calibri"/>
              </a:rPr>
              <a:t>KEEPS  (identical to FinMem-Ours)</a:t>
            </a:r>
          </a:p>
        </p:txBody>
      </p:sp>
      <p:sp>
        <p:nvSpPr>
          <p:cNvPr id="10" name="TextBox 9"/>
          <p:cNvSpPr txBox="1"/>
          <p:nvPr/>
        </p:nvSpPr>
        <p:spPr>
          <a:xfrm>
            <a:off x="731520" y="2286000"/>
            <a:ext cx="5120640" cy="1579920"/>
          </a:xfrm>
          <a:prstGeom prst="rect">
            <a:avLst/>
          </a:prstGeom>
          <a:noFill/>
        </p:spPr>
        <p:txBody>
          <a:bodyPr wrap="square" anchor="t">
            <a:spAutoFit/>
          </a:bodyPr>
          <a:lstStyle/>
          <a:p>
            <a:pPr algn="l">
              <a:spcBef>
                <a:spcPts val="0"/>
              </a:spcBef>
              <a:spcAft>
                <a:spcPts val="500"/>
              </a:spcAft>
            </a:pPr>
            <a:r>
              <a:rPr lang="en-US" sz="1600" b="1">
                <a:solidFill>
                  <a:srgbClr val="02C39A"/>
                </a:solidFill>
                <a:latin typeface="Calibri"/>
              </a:rPr>
              <a:t>- </a:t>
            </a:r>
            <a:r>
              <a:rPr lang="en-US" sz="1600" b="0">
                <a:solidFill>
                  <a:srgbClr val="1E293B"/>
                </a:solidFill>
                <a:latin typeface="Calibri"/>
              </a:rPr>
              <a:t>Self-adaptive risk persona (3-day CR switch)</a:t>
            </a:r>
          </a:p>
          <a:p>
            <a:pPr algn="l">
              <a:spcBef>
                <a:spcPts val="0"/>
              </a:spcBef>
              <a:spcAft>
                <a:spcPts val="500"/>
              </a:spcAft>
            </a:pPr>
            <a:r>
              <a:rPr lang="en-US" sz="1600" b="1">
                <a:solidFill>
                  <a:srgbClr val="02C39A"/>
                </a:solidFill>
                <a:latin typeface="Calibri"/>
              </a:rPr>
              <a:t>- </a:t>
            </a:r>
            <a:r>
              <a:rPr lang="en-US" sz="1600" b="0">
                <a:solidFill>
                  <a:srgbClr val="1E293B"/>
                </a:solidFill>
                <a:latin typeface="Calibri"/>
              </a:rPr>
              <a:t>The </a:t>
            </a:r>
            <a:r>
              <a:rPr lang="en-US" sz="1600" b="0" err="1">
                <a:solidFill>
                  <a:srgbClr val="1E293B"/>
                </a:solidFill>
                <a:latin typeface="Calibri"/>
              </a:rPr>
              <a:t>FinMem</a:t>
            </a:r>
            <a:r>
              <a:rPr lang="en-US" sz="1600" b="0">
                <a:solidFill>
                  <a:srgbClr val="1E293B"/>
                </a:solidFill>
                <a:latin typeface="Calibri"/>
              </a:rPr>
              <a:t> decision/reflection prompt</a:t>
            </a:r>
          </a:p>
          <a:p>
            <a:pPr algn="l">
              <a:spcBef>
                <a:spcPts val="0"/>
              </a:spcBef>
              <a:spcAft>
                <a:spcPts val="500"/>
              </a:spcAft>
            </a:pPr>
            <a:r>
              <a:rPr lang="en-US" sz="1600" b="1">
                <a:solidFill>
                  <a:srgbClr val="02C39A"/>
                </a:solidFill>
                <a:latin typeface="Calibri"/>
              </a:rPr>
              <a:t>- </a:t>
            </a:r>
            <a:r>
              <a:rPr lang="en-US" sz="1600" b="0">
                <a:solidFill>
                  <a:srgbClr val="1E293B"/>
                </a:solidFill>
                <a:latin typeface="Calibri"/>
              </a:rPr>
              <a:t>7-day momentum observation</a:t>
            </a:r>
          </a:p>
          <a:p>
            <a:pPr algn="l">
              <a:spcBef>
                <a:spcPts val="0"/>
              </a:spcBef>
              <a:spcAft>
                <a:spcPts val="500"/>
              </a:spcAft>
            </a:pPr>
            <a:r>
              <a:rPr lang="en-US" sz="1600" b="1">
                <a:solidFill>
                  <a:srgbClr val="02C39A"/>
                </a:solidFill>
                <a:latin typeface="Calibri"/>
              </a:rPr>
              <a:t>- </a:t>
            </a:r>
            <a:r>
              <a:rPr lang="en-US" sz="1600" b="0">
                <a:solidFill>
                  <a:srgbClr val="1E293B"/>
                </a:solidFill>
                <a:latin typeface="Calibri"/>
              </a:rPr>
              <a:t>guardrails JSON validation contract</a:t>
            </a:r>
          </a:p>
          <a:p>
            <a:pPr algn="l">
              <a:spcBef>
                <a:spcPts val="0"/>
              </a:spcBef>
              <a:spcAft>
                <a:spcPts val="500"/>
              </a:spcAft>
            </a:pPr>
            <a:r>
              <a:rPr lang="en-US" sz="1600" b="1">
                <a:solidFill>
                  <a:srgbClr val="02C39A"/>
                </a:solidFill>
                <a:latin typeface="Calibri"/>
              </a:rPr>
              <a:t>- </a:t>
            </a:r>
            <a:r>
              <a:rPr lang="en-US" sz="1600" b="0">
                <a:solidFill>
                  <a:srgbClr val="1E293B"/>
                </a:solidFill>
                <a:latin typeface="Calibri"/>
              </a:rPr>
              <a:t>Train -&gt; test protocol, same gpt-4.1-mini backbone</a:t>
            </a:r>
          </a:p>
        </p:txBody>
      </p:sp>
      <p:sp>
        <p:nvSpPr>
          <p:cNvPr id="11" name="Rounded Rectangle 10"/>
          <p:cNvSpPr/>
          <p:nvPr/>
        </p:nvSpPr>
        <p:spPr>
          <a:xfrm>
            <a:off x="6172200" y="1737360"/>
            <a:ext cx="5440680" cy="2468880"/>
          </a:xfrm>
          <a:prstGeom prst="roundRect">
            <a:avLst/>
          </a:prstGeom>
          <a:solidFill>
            <a:srgbClr val="F4F7FA"/>
          </a:solidFill>
          <a:ln w="12700">
            <a:solidFill>
              <a:srgbClr val="E24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400"/>
          </a:p>
        </p:txBody>
      </p:sp>
      <p:sp>
        <p:nvSpPr>
          <p:cNvPr id="12" name="TextBox 11"/>
          <p:cNvSpPr txBox="1"/>
          <p:nvPr/>
        </p:nvSpPr>
        <p:spPr>
          <a:xfrm>
            <a:off x="6355080" y="1828800"/>
            <a:ext cx="5120640" cy="369332"/>
          </a:xfrm>
          <a:prstGeom prst="rect">
            <a:avLst/>
          </a:prstGeom>
          <a:noFill/>
        </p:spPr>
        <p:txBody>
          <a:bodyPr wrap="square" anchor="t">
            <a:spAutoFit/>
          </a:bodyPr>
          <a:lstStyle/>
          <a:p>
            <a:pPr algn="l">
              <a:spcBef>
                <a:spcPts val="0"/>
              </a:spcBef>
              <a:spcAft>
                <a:spcPts val="200"/>
              </a:spcAft>
            </a:pPr>
            <a:r>
              <a:rPr lang="en-US" b="1">
                <a:solidFill>
                  <a:srgbClr val="E24B4A"/>
                </a:solidFill>
                <a:latin typeface="Calibri"/>
              </a:rPr>
              <a:t>DROPS  (the memory module only)</a:t>
            </a:r>
          </a:p>
        </p:txBody>
      </p:sp>
      <p:sp>
        <p:nvSpPr>
          <p:cNvPr id="13" name="TextBox 12"/>
          <p:cNvSpPr txBox="1"/>
          <p:nvPr/>
        </p:nvSpPr>
        <p:spPr>
          <a:xfrm>
            <a:off x="6355080" y="2286000"/>
            <a:ext cx="5120640" cy="1515800"/>
          </a:xfrm>
          <a:prstGeom prst="rect">
            <a:avLst/>
          </a:prstGeom>
          <a:noFill/>
        </p:spPr>
        <p:txBody>
          <a:bodyPr wrap="square" anchor="t">
            <a:spAutoFit/>
          </a:bodyPr>
          <a:lstStyle/>
          <a:p>
            <a:pPr algn="l">
              <a:spcBef>
                <a:spcPts val="0"/>
              </a:spcBef>
              <a:spcAft>
                <a:spcPts val="500"/>
              </a:spcAft>
            </a:pPr>
            <a:r>
              <a:rPr lang="en-US" sz="1600" b="1">
                <a:solidFill>
                  <a:srgbClr val="E24B4A"/>
                </a:solidFill>
                <a:latin typeface="Calibri"/>
              </a:rPr>
              <a:t>- </a:t>
            </a:r>
            <a:r>
              <a:rPr lang="en-US" sz="1600" b="0">
                <a:solidFill>
                  <a:srgbClr val="1E293B"/>
                </a:solidFill>
                <a:latin typeface="Calibri"/>
              </a:rPr>
              <a:t>Layered-memory retrieval - every layer returns 'No information'</a:t>
            </a:r>
          </a:p>
          <a:p>
            <a:pPr algn="l">
              <a:spcBef>
                <a:spcPts val="0"/>
              </a:spcBef>
              <a:spcAft>
                <a:spcPts val="500"/>
              </a:spcAft>
            </a:pPr>
            <a:r>
              <a:rPr lang="en-US" sz="1600" b="1">
                <a:solidFill>
                  <a:srgbClr val="E24B4A"/>
                </a:solidFill>
                <a:latin typeface="Calibri"/>
              </a:rPr>
              <a:t>- </a:t>
            </a:r>
            <a:r>
              <a:rPr lang="en-US" sz="1600" b="0">
                <a:solidFill>
                  <a:srgbClr val="1E293B"/>
                </a:solidFill>
                <a:latin typeface="Calibri"/>
              </a:rPr>
              <a:t>No FAISS / ada-002 similarity lookups</a:t>
            </a:r>
          </a:p>
          <a:p>
            <a:pPr algn="l">
              <a:spcBef>
                <a:spcPts val="0"/>
              </a:spcBef>
              <a:spcAft>
                <a:spcPts val="500"/>
              </a:spcAft>
            </a:pPr>
            <a:r>
              <a:rPr lang="en-US" sz="1600" b="1">
                <a:solidFill>
                  <a:srgbClr val="E24B4A"/>
                </a:solidFill>
                <a:latin typeface="Calibri"/>
              </a:rPr>
              <a:t>- </a:t>
            </a:r>
            <a:r>
              <a:rPr lang="en-US" sz="1600" b="0">
                <a:solidFill>
                  <a:srgbClr val="1E293B"/>
                </a:solidFill>
                <a:latin typeface="Calibri"/>
              </a:rPr>
              <a:t>No extended reflections fed back into decisions</a:t>
            </a:r>
          </a:p>
          <a:p>
            <a:pPr algn="l">
              <a:spcBef>
                <a:spcPts val="0"/>
              </a:spcBef>
              <a:spcAft>
                <a:spcPts val="500"/>
              </a:spcAft>
            </a:pPr>
            <a:r>
              <a:rPr lang="en-US" sz="1600" b="1">
                <a:solidFill>
                  <a:srgbClr val="E24B4A"/>
                </a:solidFill>
                <a:latin typeface="Calibri"/>
              </a:rPr>
              <a:t>- </a:t>
            </a:r>
            <a:r>
              <a:rPr lang="en-US" sz="1600" b="0">
                <a:solidFill>
                  <a:srgbClr val="1E293B"/>
                </a:solidFill>
                <a:latin typeface="Calibri"/>
              </a:rPr>
              <a:t>Sees ONLY persona + momentum + risk line each day</a:t>
            </a:r>
          </a:p>
        </p:txBody>
      </p:sp>
      <p:sp>
        <p:nvSpPr>
          <p:cNvPr id="15" name="Rounded Rectangle 14"/>
          <p:cNvSpPr/>
          <p:nvPr/>
        </p:nvSpPr>
        <p:spPr>
          <a:xfrm>
            <a:off x="548640" y="5107488"/>
            <a:ext cx="2468880" cy="960120"/>
          </a:xfrm>
          <a:prstGeom prst="roundRect">
            <a:avLst/>
          </a:prstGeom>
          <a:solidFill>
            <a:srgbClr val="FFFFFF"/>
          </a:solidFill>
          <a:ln w="12700">
            <a:solidFill>
              <a:srgbClr val="EF9F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400"/>
          </a:p>
        </p:txBody>
      </p:sp>
      <p:sp>
        <p:nvSpPr>
          <p:cNvPr id="16" name="TextBox 15"/>
          <p:cNvSpPr txBox="1"/>
          <p:nvPr/>
        </p:nvSpPr>
        <p:spPr>
          <a:xfrm>
            <a:off x="548640" y="5217216"/>
            <a:ext cx="2468880" cy="338554"/>
          </a:xfrm>
          <a:prstGeom prst="rect">
            <a:avLst/>
          </a:prstGeom>
          <a:noFill/>
        </p:spPr>
        <p:txBody>
          <a:bodyPr wrap="square" anchor="t">
            <a:spAutoFit/>
          </a:bodyPr>
          <a:lstStyle/>
          <a:p>
            <a:pPr algn="ctr">
              <a:spcBef>
                <a:spcPts val="0"/>
              </a:spcBef>
              <a:spcAft>
                <a:spcPts val="200"/>
              </a:spcAft>
            </a:pPr>
            <a:r>
              <a:rPr lang="en-US" sz="1600" b="1">
                <a:solidFill>
                  <a:srgbClr val="21295C"/>
                </a:solidFill>
                <a:latin typeface="Calibri"/>
              </a:rPr>
              <a:t>No-memory</a:t>
            </a:r>
          </a:p>
        </p:txBody>
      </p:sp>
      <p:sp>
        <p:nvSpPr>
          <p:cNvPr id="17" name="TextBox 16"/>
          <p:cNvSpPr txBox="1"/>
          <p:nvPr/>
        </p:nvSpPr>
        <p:spPr>
          <a:xfrm>
            <a:off x="548640" y="5582976"/>
            <a:ext cx="2468880" cy="461665"/>
          </a:xfrm>
          <a:prstGeom prst="rect">
            <a:avLst/>
          </a:prstGeom>
          <a:noFill/>
        </p:spPr>
        <p:txBody>
          <a:bodyPr wrap="square" anchor="t">
            <a:spAutoFit/>
          </a:bodyPr>
          <a:lstStyle/>
          <a:p>
            <a:pPr algn="ctr">
              <a:spcBef>
                <a:spcPts val="0"/>
              </a:spcBef>
              <a:spcAft>
                <a:spcPts val="200"/>
              </a:spcAft>
            </a:pPr>
            <a:r>
              <a:rPr lang="he-IL" sz="2400" b="1">
                <a:solidFill>
                  <a:srgbClr val="EF9F27"/>
                </a:solidFill>
                <a:latin typeface="Calibri"/>
              </a:rPr>
              <a:t>1.7%</a:t>
            </a:r>
            <a:r>
              <a:rPr lang="he-IL" sz="2400" b="1">
                <a:solidFill>
                  <a:srgbClr val="EF9F27"/>
                </a:solidFill>
              </a:rPr>
              <a:t>+</a:t>
            </a:r>
            <a:endParaRPr lang="he-IL" sz="2400" b="1">
              <a:solidFill>
                <a:srgbClr val="EF9F27"/>
              </a:solidFill>
              <a:latin typeface="Calibri"/>
            </a:endParaRPr>
          </a:p>
        </p:txBody>
      </p:sp>
      <p:sp>
        <p:nvSpPr>
          <p:cNvPr id="18" name="TextBox 17"/>
          <p:cNvSpPr txBox="1"/>
          <p:nvPr/>
        </p:nvSpPr>
        <p:spPr>
          <a:xfrm>
            <a:off x="2999232" y="5363520"/>
            <a:ext cx="310896" cy="523220"/>
          </a:xfrm>
          <a:prstGeom prst="rect">
            <a:avLst/>
          </a:prstGeom>
          <a:noFill/>
        </p:spPr>
        <p:txBody>
          <a:bodyPr wrap="square" anchor="t">
            <a:spAutoFit/>
          </a:bodyPr>
          <a:lstStyle/>
          <a:p>
            <a:pPr algn="ctr">
              <a:spcBef>
                <a:spcPts val="0"/>
              </a:spcBef>
              <a:spcAft>
                <a:spcPts val="200"/>
              </a:spcAft>
            </a:pPr>
            <a:r>
              <a:rPr lang="he-IL" sz="2800" b="1">
                <a:solidFill>
                  <a:srgbClr val="64748B"/>
                </a:solidFill>
                <a:latin typeface="Calibri"/>
              </a:rPr>
              <a:t>&gt;</a:t>
            </a:r>
          </a:p>
        </p:txBody>
      </p:sp>
      <p:sp>
        <p:nvSpPr>
          <p:cNvPr id="19" name="Rounded Rectangle 18"/>
          <p:cNvSpPr/>
          <p:nvPr/>
        </p:nvSpPr>
        <p:spPr>
          <a:xfrm>
            <a:off x="3310128" y="5107488"/>
            <a:ext cx="2468880" cy="960120"/>
          </a:xfrm>
          <a:prstGeom prst="roundRect">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400"/>
          </a:p>
        </p:txBody>
      </p:sp>
      <p:sp>
        <p:nvSpPr>
          <p:cNvPr id="20" name="TextBox 19"/>
          <p:cNvSpPr txBox="1"/>
          <p:nvPr/>
        </p:nvSpPr>
        <p:spPr>
          <a:xfrm>
            <a:off x="3310128" y="5217216"/>
            <a:ext cx="2468880" cy="338554"/>
          </a:xfrm>
          <a:prstGeom prst="rect">
            <a:avLst/>
          </a:prstGeom>
          <a:noFill/>
        </p:spPr>
        <p:txBody>
          <a:bodyPr wrap="square" anchor="t">
            <a:spAutoFit/>
          </a:bodyPr>
          <a:lstStyle/>
          <a:p>
            <a:pPr algn="ctr">
              <a:spcBef>
                <a:spcPts val="0"/>
              </a:spcBef>
              <a:spcAft>
                <a:spcPts val="200"/>
              </a:spcAft>
            </a:pPr>
            <a:r>
              <a:rPr lang="en-US" sz="1600" b="1">
                <a:solidFill>
                  <a:srgbClr val="21295C"/>
                </a:solidFill>
                <a:latin typeface="Calibri"/>
              </a:rPr>
              <a:t>LC-Trader</a:t>
            </a:r>
          </a:p>
        </p:txBody>
      </p:sp>
      <p:sp>
        <p:nvSpPr>
          <p:cNvPr id="21" name="TextBox 20"/>
          <p:cNvSpPr txBox="1"/>
          <p:nvPr/>
        </p:nvSpPr>
        <p:spPr>
          <a:xfrm>
            <a:off x="3310128" y="5582976"/>
            <a:ext cx="2468880" cy="461665"/>
          </a:xfrm>
          <a:prstGeom prst="rect">
            <a:avLst/>
          </a:prstGeom>
          <a:noFill/>
        </p:spPr>
        <p:txBody>
          <a:bodyPr wrap="square" anchor="t">
            <a:spAutoFit/>
          </a:bodyPr>
          <a:lstStyle/>
          <a:p>
            <a:pPr algn="ctr">
              <a:spcBef>
                <a:spcPts val="0"/>
              </a:spcBef>
              <a:spcAft>
                <a:spcPts val="200"/>
              </a:spcAft>
            </a:pPr>
            <a:r>
              <a:rPr lang="he-IL" sz="2400" b="1">
                <a:solidFill>
                  <a:srgbClr val="1C7293"/>
                </a:solidFill>
                <a:latin typeface="Calibri"/>
              </a:rPr>
              <a:t>2.9%</a:t>
            </a:r>
            <a:r>
              <a:rPr lang="he-IL" sz="2400" b="1">
                <a:solidFill>
                  <a:srgbClr val="1C7293"/>
                </a:solidFill>
              </a:rPr>
              <a:t>-</a:t>
            </a:r>
            <a:endParaRPr lang="he-IL" sz="2400" b="1">
              <a:solidFill>
                <a:srgbClr val="1C7293"/>
              </a:solidFill>
              <a:latin typeface="Calibri"/>
            </a:endParaRPr>
          </a:p>
        </p:txBody>
      </p:sp>
      <p:sp>
        <p:nvSpPr>
          <p:cNvPr id="22" name="TextBox 21"/>
          <p:cNvSpPr txBox="1"/>
          <p:nvPr/>
        </p:nvSpPr>
        <p:spPr>
          <a:xfrm>
            <a:off x="5760720" y="5363520"/>
            <a:ext cx="310896" cy="523220"/>
          </a:xfrm>
          <a:prstGeom prst="rect">
            <a:avLst/>
          </a:prstGeom>
          <a:noFill/>
        </p:spPr>
        <p:txBody>
          <a:bodyPr wrap="square" anchor="t">
            <a:spAutoFit/>
          </a:bodyPr>
          <a:lstStyle/>
          <a:p>
            <a:pPr algn="ctr">
              <a:spcBef>
                <a:spcPts val="0"/>
              </a:spcBef>
              <a:spcAft>
                <a:spcPts val="200"/>
              </a:spcAft>
            </a:pPr>
            <a:r>
              <a:rPr lang="he-IL" sz="2800" b="1">
                <a:solidFill>
                  <a:srgbClr val="64748B"/>
                </a:solidFill>
                <a:latin typeface="Calibri"/>
              </a:rPr>
              <a:t>&gt;</a:t>
            </a:r>
          </a:p>
        </p:txBody>
      </p:sp>
      <p:sp>
        <p:nvSpPr>
          <p:cNvPr id="23" name="Rounded Rectangle 22"/>
          <p:cNvSpPr/>
          <p:nvPr/>
        </p:nvSpPr>
        <p:spPr>
          <a:xfrm>
            <a:off x="6071616" y="5107488"/>
            <a:ext cx="2468880" cy="960120"/>
          </a:xfrm>
          <a:prstGeom prst="round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400"/>
          </a:p>
        </p:txBody>
      </p:sp>
      <p:sp>
        <p:nvSpPr>
          <p:cNvPr id="24" name="TextBox 23"/>
          <p:cNvSpPr txBox="1"/>
          <p:nvPr/>
        </p:nvSpPr>
        <p:spPr>
          <a:xfrm>
            <a:off x="6071616" y="5217216"/>
            <a:ext cx="2468880" cy="338554"/>
          </a:xfrm>
          <a:prstGeom prst="rect">
            <a:avLst/>
          </a:prstGeom>
          <a:noFill/>
        </p:spPr>
        <p:txBody>
          <a:bodyPr wrap="square" anchor="t">
            <a:spAutoFit/>
          </a:bodyPr>
          <a:lstStyle/>
          <a:p>
            <a:pPr algn="ctr">
              <a:spcBef>
                <a:spcPts val="0"/>
              </a:spcBef>
              <a:spcAft>
                <a:spcPts val="200"/>
              </a:spcAft>
            </a:pPr>
            <a:r>
              <a:rPr lang="en-US" sz="1600" b="1">
                <a:solidFill>
                  <a:srgbClr val="21295C"/>
                </a:solidFill>
                <a:latin typeface="Calibri"/>
              </a:rPr>
              <a:t>Buy &amp; Hold</a:t>
            </a:r>
          </a:p>
        </p:txBody>
      </p:sp>
      <p:sp>
        <p:nvSpPr>
          <p:cNvPr id="25" name="TextBox 24"/>
          <p:cNvSpPr txBox="1"/>
          <p:nvPr/>
        </p:nvSpPr>
        <p:spPr>
          <a:xfrm>
            <a:off x="6071616" y="5582976"/>
            <a:ext cx="2468880" cy="461665"/>
          </a:xfrm>
          <a:prstGeom prst="rect">
            <a:avLst/>
          </a:prstGeom>
          <a:noFill/>
        </p:spPr>
        <p:txBody>
          <a:bodyPr wrap="square" anchor="t">
            <a:spAutoFit/>
          </a:bodyPr>
          <a:lstStyle/>
          <a:p>
            <a:pPr algn="ctr">
              <a:spcBef>
                <a:spcPts val="0"/>
              </a:spcBef>
              <a:spcAft>
                <a:spcPts val="200"/>
              </a:spcAft>
            </a:pPr>
            <a:r>
              <a:rPr lang="he-IL" sz="2400" b="1">
                <a:solidFill>
                  <a:srgbClr val="64748B"/>
                </a:solidFill>
                <a:latin typeface="Calibri"/>
              </a:rPr>
              <a:t>4.1%</a:t>
            </a:r>
            <a:r>
              <a:rPr lang="he-IL" sz="2400" b="1">
                <a:solidFill>
                  <a:srgbClr val="64748B"/>
                </a:solidFill>
              </a:rPr>
              <a:t>-</a:t>
            </a:r>
            <a:endParaRPr lang="he-IL" sz="2400" b="1">
              <a:solidFill>
                <a:srgbClr val="64748B"/>
              </a:solidFill>
              <a:latin typeface="Calibri"/>
            </a:endParaRPr>
          </a:p>
        </p:txBody>
      </p:sp>
      <p:sp>
        <p:nvSpPr>
          <p:cNvPr id="26" name="TextBox 25"/>
          <p:cNvSpPr txBox="1"/>
          <p:nvPr/>
        </p:nvSpPr>
        <p:spPr>
          <a:xfrm>
            <a:off x="8522208" y="5363520"/>
            <a:ext cx="310896" cy="523220"/>
          </a:xfrm>
          <a:prstGeom prst="rect">
            <a:avLst/>
          </a:prstGeom>
          <a:noFill/>
        </p:spPr>
        <p:txBody>
          <a:bodyPr wrap="square" anchor="t">
            <a:spAutoFit/>
          </a:bodyPr>
          <a:lstStyle/>
          <a:p>
            <a:pPr algn="ctr">
              <a:spcBef>
                <a:spcPts val="0"/>
              </a:spcBef>
              <a:spcAft>
                <a:spcPts val="200"/>
              </a:spcAft>
            </a:pPr>
            <a:r>
              <a:rPr lang="he-IL" sz="2800" b="1">
                <a:solidFill>
                  <a:srgbClr val="64748B"/>
                </a:solidFill>
                <a:latin typeface="Calibri"/>
              </a:rPr>
              <a:t>&gt;</a:t>
            </a:r>
          </a:p>
        </p:txBody>
      </p:sp>
      <p:sp>
        <p:nvSpPr>
          <p:cNvPr id="27" name="Rounded Rectangle 26"/>
          <p:cNvSpPr/>
          <p:nvPr/>
        </p:nvSpPr>
        <p:spPr>
          <a:xfrm>
            <a:off x="8833104" y="5107488"/>
            <a:ext cx="2468880" cy="960120"/>
          </a:xfrm>
          <a:prstGeom prst="roundRect">
            <a:avLst/>
          </a:prstGeom>
          <a:solidFill>
            <a:srgbClr val="FFFFFF"/>
          </a:solidFill>
          <a:ln w="12700">
            <a:solidFill>
              <a:srgbClr val="E24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he-IL" sz="2400"/>
          </a:p>
        </p:txBody>
      </p:sp>
      <p:sp>
        <p:nvSpPr>
          <p:cNvPr id="28" name="TextBox 27"/>
          <p:cNvSpPr txBox="1"/>
          <p:nvPr/>
        </p:nvSpPr>
        <p:spPr>
          <a:xfrm>
            <a:off x="8833104" y="5217216"/>
            <a:ext cx="2468880" cy="338554"/>
          </a:xfrm>
          <a:prstGeom prst="rect">
            <a:avLst/>
          </a:prstGeom>
          <a:noFill/>
        </p:spPr>
        <p:txBody>
          <a:bodyPr wrap="square" anchor="t">
            <a:spAutoFit/>
          </a:bodyPr>
          <a:lstStyle/>
          <a:p>
            <a:pPr algn="ctr">
              <a:spcBef>
                <a:spcPts val="0"/>
              </a:spcBef>
              <a:spcAft>
                <a:spcPts val="200"/>
              </a:spcAft>
            </a:pPr>
            <a:r>
              <a:rPr lang="en-US" sz="1600" b="1">
                <a:solidFill>
                  <a:srgbClr val="21295C"/>
                </a:solidFill>
                <a:latin typeface="Calibri"/>
              </a:rPr>
              <a:t>FinMem-Ours</a:t>
            </a:r>
          </a:p>
        </p:txBody>
      </p:sp>
      <p:sp>
        <p:nvSpPr>
          <p:cNvPr id="29" name="TextBox 28"/>
          <p:cNvSpPr txBox="1"/>
          <p:nvPr/>
        </p:nvSpPr>
        <p:spPr>
          <a:xfrm>
            <a:off x="8833104" y="5582976"/>
            <a:ext cx="2468880" cy="461665"/>
          </a:xfrm>
          <a:prstGeom prst="rect">
            <a:avLst/>
          </a:prstGeom>
          <a:noFill/>
        </p:spPr>
        <p:txBody>
          <a:bodyPr wrap="square" anchor="t">
            <a:spAutoFit/>
          </a:bodyPr>
          <a:lstStyle/>
          <a:p>
            <a:pPr algn="ctr">
              <a:spcBef>
                <a:spcPts val="0"/>
              </a:spcBef>
              <a:spcAft>
                <a:spcPts val="200"/>
              </a:spcAft>
            </a:pPr>
            <a:r>
              <a:rPr lang="he-IL" sz="2400" b="1">
                <a:solidFill>
                  <a:srgbClr val="E24B4A"/>
                </a:solidFill>
                <a:latin typeface="Calibri"/>
              </a:rPr>
              <a:t>5.3%</a:t>
            </a:r>
            <a:r>
              <a:rPr lang="he-IL" sz="2400" b="1">
                <a:solidFill>
                  <a:srgbClr val="E24B4A"/>
                </a:solidFill>
              </a:rPr>
              <a:t>-</a:t>
            </a:r>
            <a:endParaRPr lang="he-IL" sz="2400" b="1">
              <a:solidFill>
                <a:srgbClr val="E24B4A"/>
              </a:solidFill>
              <a:latin typeface="Calibri"/>
            </a:endParaRPr>
          </a:p>
        </p:txBody>
      </p:sp>
      <p:sp>
        <p:nvSpPr>
          <p:cNvPr id="30" name="TextBox 29"/>
          <p:cNvSpPr txBox="1"/>
          <p:nvPr/>
        </p:nvSpPr>
        <p:spPr>
          <a:xfrm>
            <a:off x="539496" y="4398769"/>
            <a:ext cx="11064240" cy="646331"/>
          </a:xfrm>
          <a:prstGeom prst="rect">
            <a:avLst/>
          </a:prstGeom>
          <a:noFill/>
        </p:spPr>
        <p:txBody>
          <a:bodyPr wrap="square" anchor="t">
            <a:spAutoFit/>
          </a:bodyPr>
          <a:lstStyle/>
          <a:p>
            <a:pPr algn="l">
              <a:spcBef>
                <a:spcPts val="0"/>
              </a:spcBef>
              <a:spcAft>
                <a:spcPts val="200"/>
              </a:spcAft>
            </a:pPr>
            <a:r>
              <a:rPr lang="en-US" b="1">
                <a:solidFill>
                  <a:srgbClr val="64748B"/>
                </a:solidFill>
                <a:latin typeface="Calibri"/>
              </a:rPr>
              <a:t>LC-Trader has NO </a:t>
            </a:r>
            <a:r>
              <a:rPr lang="en-US" b="1" err="1">
                <a:solidFill>
                  <a:srgbClr val="64748B"/>
                </a:solidFill>
                <a:latin typeface="Calibri"/>
              </a:rPr>
              <a:t>FinMem</a:t>
            </a:r>
            <a:r>
              <a:rPr lang="en-US" b="1">
                <a:solidFill>
                  <a:srgbClr val="64748B"/>
                </a:solidFill>
                <a:latin typeface="Calibri"/>
              </a:rPr>
              <a:t> at all (no persona/memory/retrieval)</a:t>
            </a:r>
            <a:br>
              <a:rPr lang="en-US" b="1">
                <a:solidFill>
                  <a:srgbClr val="64748B"/>
                </a:solidFill>
                <a:latin typeface="Calibri"/>
              </a:rPr>
            </a:br>
            <a:r>
              <a:rPr lang="en-US" b="1">
                <a:solidFill>
                  <a:srgbClr val="64748B"/>
                </a:solidFill>
                <a:latin typeface="Calibri"/>
              </a:rPr>
              <a:t>It still beats full </a:t>
            </a:r>
            <a:r>
              <a:rPr lang="en-US" b="1" err="1">
                <a:solidFill>
                  <a:srgbClr val="64748B"/>
                </a:solidFill>
                <a:latin typeface="Calibri"/>
              </a:rPr>
              <a:t>FinMem</a:t>
            </a:r>
            <a:r>
              <a:rPr lang="en-US" b="1">
                <a:solidFill>
                  <a:srgbClr val="64748B"/>
                </a:solidFill>
                <a:latin typeface="Calibri"/>
              </a:rPr>
              <a:t>-Ours. Every removed layer of scaffolding helped, not hurt.</a:t>
            </a:r>
          </a:p>
        </p:txBody>
      </p:sp>
    </p:spTree>
    <p:extLst>
      <p:ext uri="{BB962C8B-B14F-4D97-AF65-F5344CB8AC3E}">
        <p14:creationId xmlns:p14="http://schemas.microsoft.com/office/powerpoint/2010/main" val="2464767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62"/>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58" name="Picture 6" descr="image.png">
            <a:extLst>
              <a:ext uri="{FF2B5EF4-FFF2-40B4-BE49-F238E27FC236}">
                <a16:creationId xmlns:a16="http://schemas.microsoft.com/office/drawing/2014/main" id="{1828B968-C6E8-502F-CF49-7136C74B7E26}"/>
              </a:ext>
            </a:extLst>
          </p:cNvPr>
          <p:cNvPicPr>
            <a:picLocks noChangeAspect="1"/>
          </p:cNvPicPr>
          <p:nvPr/>
        </p:nvPicPr>
        <p:blipFill>
          <a:blip r:embed="rId2"/>
          <a:srcRect t="6397"/>
          <a:stretch>
            <a:fillRect/>
          </a:stretch>
        </p:blipFill>
        <p:spPr>
          <a:xfrm>
            <a:off x="1867593" y="1403193"/>
            <a:ext cx="7828653" cy="4081352"/>
          </a:xfrm>
          <a:prstGeom prst="rect">
            <a:avLst/>
          </a:prstGeom>
        </p:spPr>
      </p:pic>
      <p:sp>
        <p:nvSpPr>
          <p:cNvPr id="3" name="TextBox 2"/>
          <p:cNvSpPr txBox="1"/>
          <p:nvPr/>
        </p:nvSpPr>
        <p:spPr>
          <a:xfrm>
            <a:off x="429113" y="35265"/>
            <a:ext cx="11452109" cy="338554"/>
          </a:xfrm>
          <a:prstGeom prst="rect">
            <a:avLst/>
          </a:prstGeom>
          <a:noFill/>
        </p:spPr>
        <p:txBody>
          <a:bodyPr wrap="square" anchor="t">
            <a:spAutoFit/>
          </a:bodyPr>
          <a:lstStyle/>
          <a:p>
            <a:pPr algn="l"/>
            <a:r>
              <a:rPr sz="1600" b="1">
                <a:solidFill>
                  <a:srgbClr val="1C7293"/>
                </a:solidFill>
                <a:latin typeface="Calibri"/>
              </a:rPr>
              <a:t>RESULTS</a:t>
            </a:r>
          </a:p>
        </p:txBody>
      </p:sp>
      <p:sp>
        <p:nvSpPr>
          <p:cNvPr id="4" name="TextBox 3"/>
          <p:cNvSpPr txBox="1"/>
          <p:nvPr/>
        </p:nvSpPr>
        <p:spPr>
          <a:xfrm>
            <a:off x="441064" y="273366"/>
            <a:ext cx="11452109" cy="646331"/>
          </a:xfrm>
          <a:prstGeom prst="rect">
            <a:avLst/>
          </a:prstGeom>
          <a:noFill/>
        </p:spPr>
        <p:txBody>
          <a:bodyPr wrap="square" anchor="t">
            <a:spAutoFit/>
          </a:bodyPr>
          <a:lstStyle/>
          <a:p>
            <a:pPr algn="l"/>
            <a:r>
              <a:rPr sz="3600" b="1">
                <a:solidFill>
                  <a:srgbClr val="21295C"/>
                </a:solidFill>
                <a:latin typeface="Cambria"/>
              </a:rPr>
              <a:t>Risk-adjusted results - Sharpe ratio by ticker</a:t>
            </a:r>
          </a:p>
        </p:txBody>
      </p:sp>
      <p:sp>
        <p:nvSpPr>
          <p:cNvPr id="5" name="TextBox 4"/>
          <p:cNvSpPr txBox="1"/>
          <p:nvPr/>
        </p:nvSpPr>
        <p:spPr>
          <a:xfrm>
            <a:off x="399229" y="853144"/>
            <a:ext cx="11452109" cy="707886"/>
          </a:xfrm>
          <a:prstGeom prst="rect">
            <a:avLst/>
          </a:prstGeom>
          <a:noFill/>
        </p:spPr>
        <p:txBody>
          <a:bodyPr wrap="square" anchor="t">
            <a:spAutoFit/>
          </a:bodyPr>
          <a:lstStyle/>
          <a:p>
            <a:pPr algn="l"/>
            <a:r>
              <a:rPr sz="2000" b="0" dirty="0" err="1">
                <a:solidFill>
                  <a:srgbClr val="64748B"/>
                </a:solidFill>
                <a:latin typeface="Calibri"/>
              </a:rPr>
              <a:t>Annualised</a:t>
            </a:r>
            <a:r>
              <a:rPr sz="2000" b="0" dirty="0">
                <a:solidFill>
                  <a:srgbClr val="64748B"/>
                </a:solidFill>
                <a:latin typeface="Calibri"/>
              </a:rPr>
              <a:t> Sharpe over the test window (Jan-Jun 2026), same four strategies and long-only conventions as the return table. </a:t>
            </a:r>
          </a:p>
        </p:txBody>
      </p:sp>
      <p:sp>
        <p:nvSpPr>
          <p:cNvPr id="6" name="TextBox 5"/>
          <p:cNvSpPr txBox="1"/>
          <p:nvPr/>
        </p:nvSpPr>
        <p:spPr>
          <a:xfrm>
            <a:off x="548640" y="6473952"/>
            <a:ext cx="8229600" cy="253916"/>
          </a:xfrm>
          <a:prstGeom prst="rect">
            <a:avLst/>
          </a:prstGeom>
          <a:noFill/>
        </p:spPr>
        <p:txBody>
          <a:bodyPr wrap="square" anchor="t">
            <a:spAutoFit/>
          </a:bodyPr>
          <a:lstStyle/>
          <a:p>
            <a:pPr algn="l"/>
            <a:r>
              <a:rPr sz="1050" b="0">
                <a:solidFill>
                  <a:srgbClr val="64748B"/>
                </a:solidFill>
                <a:latin typeface="Calibri"/>
              </a:rPr>
              <a:t>FinMem - Implementation  -  Shoshan &amp; Sagi</a:t>
            </a:r>
          </a:p>
        </p:txBody>
      </p:sp>
      <p:sp>
        <p:nvSpPr>
          <p:cNvPr id="7" name="TextBox 6"/>
          <p:cNvSpPr txBox="1"/>
          <p:nvPr/>
        </p:nvSpPr>
        <p:spPr>
          <a:xfrm>
            <a:off x="10972800" y="6473952"/>
            <a:ext cx="731520" cy="253916"/>
          </a:xfrm>
          <a:prstGeom prst="rect">
            <a:avLst/>
          </a:prstGeom>
          <a:noFill/>
        </p:spPr>
        <p:txBody>
          <a:bodyPr wrap="square" anchor="t">
            <a:spAutoFit/>
          </a:bodyPr>
          <a:lstStyle/>
          <a:p>
            <a:pPr algn="l"/>
            <a:r>
              <a:rPr sz="1050" b="0">
                <a:solidFill>
                  <a:srgbClr val="64748B"/>
                </a:solidFill>
                <a:latin typeface="Calibri"/>
              </a:rPr>
              <a:t>17</a:t>
            </a:r>
          </a:p>
        </p:txBody>
      </p:sp>
      <p:sp>
        <p:nvSpPr>
          <p:cNvPr id="8" name="Rectangle 7"/>
          <p:cNvSpPr/>
          <p:nvPr/>
        </p:nvSpPr>
        <p:spPr>
          <a:xfrm>
            <a:off x="514281" y="5489776"/>
            <a:ext cx="1088136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1959033" y="5571959"/>
            <a:ext cx="1737360" cy="338554"/>
          </a:xfrm>
          <a:prstGeom prst="rect">
            <a:avLst/>
          </a:prstGeom>
          <a:noFill/>
        </p:spPr>
        <p:txBody>
          <a:bodyPr wrap="square" anchor="ctr">
            <a:spAutoFit/>
          </a:bodyPr>
          <a:lstStyle/>
          <a:p>
            <a:pPr algn="l"/>
            <a:r>
              <a:rPr sz="1600" b="1">
                <a:solidFill>
                  <a:srgbClr val="FFFFFF"/>
                </a:solidFill>
                <a:latin typeface="Calibri"/>
              </a:rPr>
              <a:t>FinMem-Ours</a:t>
            </a:r>
          </a:p>
        </p:txBody>
      </p:sp>
      <p:sp>
        <p:nvSpPr>
          <p:cNvPr id="11" name="TextBox 10"/>
          <p:cNvSpPr txBox="1"/>
          <p:nvPr/>
        </p:nvSpPr>
        <p:spPr>
          <a:xfrm>
            <a:off x="3787832" y="5571959"/>
            <a:ext cx="1737360" cy="338554"/>
          </a:xfrm>
          <a:prstGeom prst="rect">
            <a:avLst/>
          </a:prstGeom>
          <a:noFill/>
        </p:spPr>
        <p:txBody>
          <a:bodyPr wrap="square" anchor="ctr">
            <a:spAutoFit/>
          </a:bodyPr>
          <a:lstStyle/>
          <a:p>
            <a:pPr algn="l"/>
            <a:r>
              <a:rPr sz="1600" b="1">
                <a:solidFill>
                  <a:srgbClr val="FFFFFF"/>
                </a:solidFill>
                <a:latin typeface="Calibri"/>
              </a:rPr>
              <a:t>No-memory</a:t>
            </a:r>
          </a:p>
        </p:txBody>
      </p:sp>
      <p:sp>
        <p:nvSpPr>
          <p:cNvPr id="12" name="TextBox 11"/>
          <p:cNvSpPr txBox="1"/>
          <p:nvPr/>
        </p:nvSpPr>
        <p:spPr>
          <a:xfrm>
            <a:off x="5616633" y="5571959"/>
            <a:ext cx="1737360" cy="338554"/>
          </a:xfrm>
          <a:prstGeom prst="rect">
            <a:avLst/>
          </a:prstGeom>
          <a:noFill/>
        </p:spPr>
        <p:txBody>
          <a:bodyPr wrap="square" anchor="ctr">
            <a:spAutoFit/>
          </a:bodyPr>
          <a:lstStyle/>
          <a:p>
            <a:pPr algn="l"/>
            <a:r>
              <a:rPr sz="1600" b="1">
                <a:solidFill>
                  <a:srgbClr val="FFFFFF"/>
                </a:solidFill>
                <a:latin typeface="Calibri"/>
              </a:rPr>
              <a:t>LC-Trader</a:t>
            </a:r>
          </a:p>
        </p:txBody>
      </p:sp>
      <p:sp>
        <p:nvSpPr>
          <p:cNvPr id="13" name="TextBox 12"/>
          <p:cNvSpPr txBox="1"/>
          <p:nvPr/>
        </p:nvSpPr>
        <p:spPr>
          <a:xfrm>
            <a:off x="7445433" y="5571959"/>
            <a:ext cx="1737360" cy="338554"/>
          </a:xfrm>
          <a:prstGeom prst="rect">
            <a:avLst/>
          </a:prstGeom>
          <a:noFill/>
        </p:spPr>
        <p:txBody>
          <a:bodyPr wrap="square" anchor="ctr">
            <a:spAutoFit/>
          </a:bodyPr>
          <a:lstStyle/>
          <a:p>
            <a:pPr algn="l"/>
            <a:r>
              <a:rPr sz="1600" b="1">
                <a:solidFill>
                  <a:srgbClr val="FFFFFF"/>
                </a:solidFill>
                <a:latin typeface="Calibri"/>
              </a:rPr>
              <a:t>Buy &amp; Hold</a:t>
            </a:r>
          </a:p>
        </p:txBody>
      </p:sp>
      <p:sp>
        <p:nvSpPr>
          <p:cNvPr id="14" name="TextBox 13"/>
          <p:cNvSpPr txBox="1"/>
          <p:nvPr/>
        </p:nvSpPr>
        <p:spPr>
          <a:xfrm>
            <a:off x="9274233" y="5571959"/>
            <a:ext cx="2103120" cy="338554"/>
          </a:xfrm>
          <a:prstGeom prst="rect">
            <a:avLst/>
          </a:prstGeom>
          <a:noFill/>
        </p:spPr>
        <p:txBody>
          <a:bodyPr wrap="square" anchor="ctr">
            <a:spAutoFit/>
          </a:bodyPr>
          <a:lstStyle/>
          <a:p>
            <a:pPr algn="l"/>
            <a:r>
              <a:rPr sz="1600" b="1">
                <a:solidFill>
                  <a:srgbClr val="FFFFFF"/>
                </a:solidFill>
                <a:latin typeface="Calibri"/>
              </a:rPr>
              <a:t>Winner</a:t>
            </a:r>
          </a:p>
        </p:txBody>
      </p:sp>
      <p:sp>
        <p:nvSpPr>
          <p:cNvPr id="15" name="Rectangle 14"/>
          <p:cNvSpPr/>
          <p:nvPr/>
        </p:nvSpPr>
        <p:spPr>
          <a:xfrm>
            <a:off x="514281" y="5992696"/>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Rectangle 49"/>
          <p:cNvSpPr/>
          <p:nvPr/>
        </p:nvSpPr>
        <p:spPr>
          <a:xfrm>
            <a:off x="514281" y="5937416"/>
            <a:ext cx="10881360" cy="502920"/>
          </a:xfrm>
          <a:prstGeom prst="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TextBox 50"/>
          <p:cNvSpPr txBox="1"/>
          <p:nvPr/>
        </p:nvSpPr>
        <p:spPr>
          <a:xfrm>
            <a:off x="587433" y="6004210"/>
            <a:ext cx="1280160" cy="369332"/>
          </a:xfrm>
          <a:prstGeom prst="rect">
            <a:avLst/>
          </a:prstGeom>
          <a:noFill/>
        </p:spPr>
        <p:txBody>
          <a:bodyPr wrap="square" anchor="ctr">
            <a:spAutoFit/>
          </a:bodyPr>
          <a:lstStyle/>
          <a:p>
            <a:pPr algn="l"/>
            <a:r>
              <a:rPr b="1">
                <a:solidFill>
                  <a:srgbClr val="1E293B"/>
                </a:solidFill>
                <a:latin typeface="Calibri"/>
              </a:rPr>
              <a:t>MEAN</a:t>
            </a:r>
          </a:p>
        </p:txBody>
      </p:sp>
      <p:sp>
        <p:nvSpPr>
          <p:cNvPr id="52" name="TextBox 51"/>
          <p:cNvSpPr txBox="1"/>
          <p:nvPr/>
        </p:nvSpPr>
        <p:spPr>
          <a:xfrm>
            <a:off x="1959033" y="6004210"/>
            <a:ext cx="1737360" cy="369332"/>
          </a:xfrm>
          <a:prstGeom prst="rect">
            <a:avLst/>
          </a:prstGeom>
          <a:noFill/>
        </p:spPr>
        <p:txBody>
          <a:bodyPr wrap="square" anchor="ctr">
            <a:spAutoFit/>
          </a:bodyPr>
          <a:lstStyle/>
          <a:p>
            <a:pPr algn="l"/>
            <a:r>
              <a:rPr b="1">
                <a:solidFill>
                  <a:srgbClr val="E24B4A"/>
                </a:solidFill>
                <a:latin typeface="Calibri"/>
              </a:rPr>
              <a:t>-0.15</a:t>
            </a:r>
          </a:p>
        </p:txBody>
      </p:sp>
      <p:sp>
        <p:nvSpPr>
          <p:cNvPr id="53" name="TextBox 52"/>
          <p:cNvSpPr txBox="1"/>
          <p:nvPr/>
        </p:nvSpPr>
        <p:spPr>
          <a:xfrm>
            <a:off x="3787832" y="6004210"/>
            <a:ext cx="1737360" cy="369332"/>
          </a:xfrm>
          <a:prstGeom prst="rect">
            <a:avLst/>
          </a:prstGeom>
          <a:noFill/>
        </p:spPr>
        <p:txBody>
          <a:bodyPr wrap="square" anchor="ctr">
            <a:spAutoFit/>
          </a:bodyPr>
          <a:lstStyle/>
          <a:p>
            <a:pPr algn="l"/>
            <a:r>
              <a:rPr b="1">
                <a:solidFill>
                  <a:srgbClr val="02C39A"/>
                </a:solidFill>
                <a:latin typeface="Calibri"/>
              </a:rPr>
              <a:t>+0.38</a:t>
            </a:r>
          </a:p>
        </p:txBody>
      </p:sp>
      <p:sp>
        <p:nvSpPr>
          <p:cNvPr id="54" name="TextBox 53"/>
          <p:cNvSpPr txBox="1"/>
          <p:nvPr/>
        </p:nvSpPr>
        <p:spPr>
          <a:xfrm>
            <a:off x="5616633" y="6004210"/>
            <a:ext cx="1737360" cy="369332"/>
          </a:xfrm>
          <a:prstGeom prst="rect">
            <a:avLst/>
          </a:prstGeom>
          <a:noFill/>
        </p:spPr>
        <p:txBody>
          <a:bodyPr wrap="square" anchor="ctr">
            <a:spAutoFit/>
          </a:bodyPr>
          <a:lstStyle/>
          <a:p>
            <a:pPr algn="l"/>
            <a:r>
              <a:rPr b="1">
                <a:solidFill>
                  <a:srgbClr val="02C39A"/>
                </a:solidFill>
                <a:latin typeface="Calibri"/>
              </a:rPr>
              <a:t>+0.16</a:t>
            </a:r>
          </a:p>
        </p:txBody>
      </p:sp>
      <p:sp>
        <p:nvSpPr>
          <p:cNvPr id="55" name="TextBox 54"/>
          <p:cNvSpPr txBox="1"/>
          <p:nvPr/>
        </p:nvSpPr>
        <p:spPr>
          <a:xfrm>
            <a:off x="7445433" y="6004210"/>
            <a:ext cx="1737360" cy="369332"/>
          </a:xfrm>
          <a:prstGeom prst="rect">
            <a:avLst/>
          </a:prstGeom>
          <a:noFill/>
        </p:spPr>
        <p:txBody>
          <a:bodyPr wrap="square" anchor="ctr">
            <a:spAutoFit/>
          </a:bodyPr>
          <a:lstStyle/>
          <a:p>
            <a:pPr algn="l"/>
            <a:r>
              <a:rPr b="1">
                <a:solidFill>
                  <a:srgbClr val="02C39A"/>
                </a:solidFill>
                <a:latin typeface="Calibri"/>
              </a:rPr>
              <a:t>+0.11</a:t>
            </a:r>
          </a:p>
        </p:txBody>
      </p:sp>
      <p:sp>
        <p:nvSpPr>
          <p:cNvPr id="56" name="TextBox 55"/>
          <p:cNvSpPr txBox="1"/>
          <p:nvPr/>
        </p:nvSpPr>
        <p:spPr>
          <a:xfrm>
            <a:off x="9274233" y="6004210"/>
            <a:ext cx="2103120" cy="369332"/>
          </a:xfrm>
          <a:prstGeom prst="rect">
            <a:avLst/>
          </a:prstGeom>
          <a:noFill/>
        </p:spPr>
        <p:txBody>
          <a:bodyPr wrap="square" anchor="ctr">
            <a:spAutoFit/>
          </a:bodyPr>
          <a:lstStyle/>
          <a:p>
            <a:pPr algn="l"/>
            <a:r>
              <a:rPr b="1">
                <a:solidFill>
                  <a:srgbClr val="EF9F27"/>
                </a:solidFill>
                <a:latin typeface="Calibri"/>
              </a:rPr>
              <a:t>No-mem</a:t>
            </a:r>
          </a:p>
        </p:txBody>
      </p:sp>
    </p:spTree>
    <p:extLst>
      <p:ext uri="{BB962C8B-B14F-4D97-AF65-F5344CB8AC3E}">
        <p14:creationId xmlns:p14="http://schemas.microsoft.com/office/powerpoint/2010/main" val="2152612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ERROR ANALYSIS</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When it worked, when it didn't - and why</a:t>
            </a:r>
          </a:p>
        </p:txBody>
      </p:sp>
      <p:sp>
        <p:nvSpPr>
          <p:cNvPr id="5" name="Rounded Rectangle 4"/>
          <p:cNvSpPr/>
          <p:nvPr/>
        </p:nvSpPr>
        <p:spPr>
          <a:xfrm>
            <a:off x="548640" y="1417320"/>
            <a:ext cx="5440680" cy="18288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777240" y="1554480"/>
            <a:ext cx="5029200" cy="313932"/>
          </a:xfrm>
          <a:prstGeom prst="rect">
            <a:avLst/>
          </a:prstGeom>
          <a:noFill/>
        </p:spPr>
        <p:txBody>
          <a:bodyPr wrap="square" lIns="45720" tIns="18288" rIns="45720" bIns="18288" anchor="t">
            <a:spAutoFit/>
          </a:bodyPr>
          <a:lstStyle/>
          <a:p>
            <a:pPr algn="l">
              <a:spcAft>
                <a:spcPts val="400"/>
              </a:spcAft>
            </a:pPr>
            <a:r>
              <a:rPr b="1" i="0">
                <a:solidFill>
                  <a:srgbClr val="1C7293"/>
                </a:solidFill>
                <a:latin typeface="Calibri"/>
              </a:rPr>
              <a:t>Worked: NFLX (+3.8% vs -5.6%)</a:t>
            </a:r>
          </a:p>
        </p:txBody>
      </p:sp>
      <p:sp>
        <p:nvSpPr>
          <p:cNvPr id="7" name="TextBox 6"/>
          <p:cNvSpPr txBox="1"/>
          <p:nvPr/>
        </p:nvSpPr>
        <p:spPr>
          <a:xfrm>
            <a:off x="777240" y="2057400"/>
            <a:ext cx="5029200" cy="835870"/>
          </a:xfrm>
          <a:prstGeom prst="rect">
            <a:avLst/>
          </a:prstGeom>
          <a:noFill/>
        </p:spPr>
        <p:txBody>
          <a:bodyPr wrap="square" lIns="45720" tIns="18288" rIns="45720" bIns="18288" anchor="t">
            <a:spAutoFit/>
          </a:bodyPr>
          <a:lstStyle/>
          <a:p>
            <a:pPr algn="l">
              <a:lnSpc>
                <a:spcPct val="110000"/>
              </a:lnSpc>
              <a:spcAft>
                <a:spcPts val="400"/>
              </a:spcAft>
            </a:pPr>
            <a:r>
              <a:rPr sz="1600" b="0" i="0" dirty="0">
                <a:solidFill>
                  <a:srgbClr val="1E293B"/>
                </a:solidFill>
                <a:latin typeface="Calibri"/>
              </a:rPr>
              <a:t>Risk-averse switching cut exposure during down-momentum stretches; it sold into weakness and avoided part of the slide buy-and-hold ate.</a:t>
            </a:r>
          </a:p>
        </p:txBody>
      </p:sp>
      <p:sp>
        <p:nvSpPr>
          <p:cNvPr id="8" name="Rounded Rectangle 7"/>
          <p:cNvSpPr/>
          <p:nvPr/>
        </p:nvSpPr>
        <p:spPr>
          <a:xfrm>
            <a:off x="6172200" y="1417320"/>
            <a:ext cx="5440680" cy="1828800"/>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6400800" y="1554480"/>
            <a:ext cx="5029200" cy="313932"/>
          </a:xfrm>
          <a:prstGeom prst="rect">
            <a:avLst/>
          </a:prstGeom>
          <a:noFill/>
        </p:spPr>
        <p:txBody>
          <a:bodyPr wrap="square" lIns="45720" tIns="18288" rIns="45720" bIns="18288" anchor="t">
            <a:spAutoFit/>
          </a:bodyPr>
          <a:lstStyle/>
          <a:p>
            <a:pPr algn="l">
              <a:spcAft>
                <a:spcPts val="400"/>
              </a:spcAft>
            </a:pPr>
            <a:r>
              <a:rPr b="1" i="0" dirty="0">
                <a:solidFill>
                  <a:srgbClr val="E24B4A"/>
                </a:solidFill>
                <a:latin typeface="Calibri"/>
              </a:rPr>
              <a:t>Failed: TSLA (-23% vs -5%)</a:t>
            </a:r>
          </a:p>
        </p:txBody>
      </p:sp>
      <p:sp>
        <p:nvSpPr>
          <p:cNvPr id="10" name="TextBox 9"/>
          <p:cNvSpPr txBox="1"/>
          <p:nvPr/>
        </p:nvSpPr>
        <p:spPr>
          <a:xfrm>
            <a:off x="6400800" y="2057400"/>
            <a:ext cx="5029200" cy="835870"/>
          </a:xfrm>
          <a:prstGeom prst="rect">
            <a:avLst/>
          </a:prstGeom>
          <a:noFill/>
        </p:spPr>
        <p:txBody>
          <a:bodyPr wrap="square" lIns="45720" tIns="18288" rIns="45720" bIns="18288" anchor="t">
            <a:spAutoFit/>
          </a:bodyPr>
          <a:lstStyle/>
          <a:p>
            <a:pPr algn="l">
              <a:lnSpc>
                <a:spcPct val="110000"/>
              </a:lnSpc>
              <a:spcAft>
                <a:spcPts val="400"/>
              </a:spcAft>
            </a:pPr>
            <a:r>
              <a:rPr sz="1600" b="0" i="0" dirty="0">
                <a:solidFill>
                  <a:srgbClr val="1E293B"/>
                </a:solidFill>
                <a:latin typeface="Calibri"/>
              </a:rPr>
              <a:t>sold defensively, then bought back on a 7-day momentum flip right before single-day drops (bought Apr 1, next day -5.4%). High turnover, wrong timing.</a:t>
            </a:r>
          </a:p>
        </p:txBody>
      </p:sp>
      <p:sp>
        <p:nvSpPr>
          <p:cNvPr id="11" name="TextBox 10"/>
          <p:cNvSpPr txBox="1"/>
          <p:nvPr/>
        </p:nvSpPr>
        <p:spPr>
          <a:xfrm>
            <a:off x="548640" y="3474720"/>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21295C"/>
                </a:solidFill>
                <a:latin typeface="Calibri"/>
              </a:rPr>
              <a:t>Why it chose wrong - biggest single-day losses (decision = buy, then next day):</a:t>
            </a:r>
          </a:p>
        </p:txBody>
      </p:sp>
      <p:sp>
        <p:nvSpPr>
          <p:cNvPr id="12" name="Rectangle 11"/>
          <p:cNvSpPr/>
          <p:nvPr/>
        </p:nvSpPr>
        <p:spPr>
          <a:xfrm>
            <a:off x="548640" y="3931920"/>
            <a:ext cx="11064240" cy="47548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731520" y="4028087"/>
            <a:ext cx="1828800" cy="283154"/>
          </a:xfrm>
          <a:prstGeom prst="rect">
            <a:avLst/>
          </a:prstGeom>
          <a:noFill/>
        </p:spPr>
        <p:txBody>
          <a:bodyPr wrap="square" lIns="45720" tIns="18288" rIns="45720" bIns="18288" anchor="ctr">
            <a:spAutoFit/>
          </a:bodyPr>
          <a:lstStyle/>
          <a:p>
            <a:pPr algn="l">
              <a:spcAft>
                <a:spcPts val="400"/>
              </a:spcAft>
            </a:pPr>
            <a:r>
              <a:rPr sz="1600" b="1" i="0" dirty="0">
                <a:solidFill>
                  <a:srgbClr val="21295C"/>
                </a:solidFill>
                <a:latin typeface="Calibri"/>
              </a:rPr>
              <a:t>TSLA Apr 1</a:t>
            </a:r>
          </a:p>
        </p:txBody>
      </p:sp>
      <p:sp>
        <p:nvSpPr>
          <p:cNvPr id="14" name="TextBox 13"/>
          <p:cNvSpPr txBox="1"/>
          <p:nvPr/>
        </p:nvSpPr>
        <p:spPr>
          <a:xfrm>
            <a:off x="2560320" y="4028087"/>
            <a:ext cx="1188720" cy="283154"/>
          </a:xfrm>
          <a:prstGeom prst="rect">
            <a:avLst/>
          </a:prstGeom>
          <a:noFill/>
        </p:spPr>
        <p:txBody>
          <a:bodyPr wrap="square" lIns="45720" tIns="18288" rIns="45720" bIns="18288" anchor="ctr">
            <a:spAutoFit/>
          </a:bodyPr>
          <a:lstStyle/>
          <a:p>
            <a:pPr algn="l">
              <a:spcAft>
                <a:spcPts val="400"/>
              </a:spcAft>
            </a:pPr>
            <a:r>
              <a:rPr sz="1600" b="1" i="0">
                <a:solidFill>
                  <a:srgbClr val="E24B4A"/>
                </a:solidFill>
                <a:latin typeface="Calibri"/>
              </a:rPr>
              <a:t>-5.4%</a:t>
            </a:r>
          </a:p>
        </p:txBody>
      </p:sp>
      <p:sp>
        <p:nvSpPr>
          <p:cNvPr id="15" name="TextBox 14"/>
          <p:cNvSpPr txBox="1"/>
          <p:nvPr/>
        </p:nvSpPr>
        <p:spPr>
          <a:xfrm>
            <a:off x="3840480" y="4028087"/>
            <a:ext cx="7589520" cy="283154"/>
          </a:xfrm>
          <a:prstGeom prst="rect">
            <a:avLst/>
          </a:prstGeom>
          <a:noFill/>
        </p:spPr>
        <p:txBody>
          <a:bodyPr wrap="square" lIns="45720" tIns="18288" rIns="45720" bIns="18288" anchor="ctr">
            <a:spAutoFit/>
          </a:bodyPr>
          <a:lstStyle/>
          <a:p>
            <a:pPr algn="l">
              <a:spcAft>
                <a:spcPts val="400"/>
              </a:spcAft>
            </a:pPr>
            <a:r>
              <a:rPr sz="1600" b="0" i="0" dirty="0">
                <a:solidFill>
                  <a:srgbClr val="1E293B"/>
                </a:solidFill>
                <a:latin typeface="Calibri"/>
              </a:rPr>
              <a:t>bought on AI/China bullishness despite a 344 P/E and falling momentum</a:t>
            </a:r>
          </a:p>
        </p:txBody>
      </p:sp>
      <p:sp>
        <p:nvSpPr>
          <p:cNvPr id="16" name="Rectangle 15"/>
          <p:cNvSpPr/>
          <p:nvPr/>
        </p:nvSpPr>
        <p:spPr>
          <a:xfrm>
            <a:off x="548640" y="4462272"/>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731520" y="4558439"/>
            <a:ext cx="1828800" cy="283154"/>
          </a:xfrm>
          <a:prstGeom prst="rect">
            <a:avLst/>
          </a:prstGeom>
          <a:noFill/>
        </p:spPr>
        <p:txBody>
          <a:bodyPr wrap="square" lIns="45720" tIns="18288" rIns="45720" bIns="18288" anchor="ctr">
            <a:spAutoFit/>
          </a:bodyPr>
          <a:lstStyle/>
          <a:p>
            <a:pPr algn="l">
              <a:spcAft>
                <a:spcPts val="400"/>
              </a:spcAft>
            </a:pPr>
            <a:r>
              <a:rPr sz="1600" b="1" i="0">
                <a:solidFill>
                  <a:srgbClr val="21295C"/>
                </a:solidFill>
                <a:latin typeface="Calibri"/>
              </a:rPr>
              <a:t>NFLX Apr 16</a:t>
            </a:r>
          </a:p>
        </p:txBody>
      </p:sp>
      <p:sp>
        <p:nvSpPr>
          <p:cNvPr id="18" name="TextBox 17"/>
          <p:cNvSpPr txBox="1"/>
          <p:nvPr/>
        </p:nvSpPr>
        <p:spPr>
          <a:xfrm>
            <a:off x="2560320" y="4558439"/>
            <a:ext cx="1188720" cy="283154"/>
          </a:xfrm>
          <a:prstGeom prst="rect">
            <a:avLst/>
          </a:prstGeom>
          <a:noFill/>
        </p:spPr>
        <p:txBody>
          <a:bodyPr wrap="square" lIns="45720" tIns="18288" rIns="45720" bIns="18288" anchor="ctr">
            <a:spAutoFit/>
          </a:bodyPr>
          <a:lstStyle/>
          <a:p>
            <a:pPr algn="l">
              <a:spcAft>
                <a:spcPts val="400"/>
              </a:spcAft>
            </a:pPr>
            <a:r>
              <a:rPr sz="1600" b="1" i="0">
                <a:solidFill>
                  <a:srgbClr val="E24B4A"/>
                </a:solidFill>
                <a:latin typeface="Calibri"/>
              </a:rPr>
              <a:t>-9.7%</a:t>
            </a:r>
          </a:p>
        </p:txBody>
      </p:sp>
      <p:sp>
        <p:nvSpPr>
          <p:cNvPr id="19" name="TextBox 18"/>
          <p:cNvSpPr txBox="1"/>
          <p:nvPr/>
        </p:nvSpPr>
        <p:spPr>
          <a:xfrm>
            <a:off x="3840480" y="4558439"/>
            <a:ext cx="7589520" cy="283154"/>
          </a:xfrm>
          <a:prstGeom prst="rect">
            <a:avLst/>
          </a:prstGeom>
          <a:noFill/>
        </p:spPr>
        <p:txBody>
          <a:bodyPr wrap="square" lIns="45720" tIns="18288" rIns="45720" bIns="18288" anchor="ctr">
            <a:spAutoFit/>
          </a:bodyPr>
          <a:lstStyle/>
          <a:p>
            <a:pPr algn="l">
              <a:spcAft>
                <a:spcPts val="400"/>
              </a:spcAft>
            </a:pPr>
            <a:r>
              <a:rPr sz="1600" b="0" i="0" dirty="0">
                <a:solidFill>
                  <a:srgbClr val="1E293B"/>
                </a:solidFill>
                <a:latin typeface="Calibri"/>
              </a:rPr>
              <a:t>bought on analyst upgrades into an earnings-driven drop</a:t>
            </a:r>
          </a:p>
        </p:txBody>
      </p:sp>
      <p:sp>
        <p:nvSpPr>
          <p:cNvPr id="20" name="Rectangle 19"/>
          <p:cNvSpPr/>
          <p:nvPr/>
        </p:nvSpPr>
        <p:spPr>
          <a:xfrm>
            <a:off x="548640" y="4992624"/>
            <a:ext cx="11064240" cy="47548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731520" y="5088791"/>
            <a:ext cx="1828800" cy="283154"/>
          </a:xfrm>
          <a:prstGeom prst="rect">
            <a:avLst/>
          </a:prstGeom>
          <a:noFill/>
        </p:spPr>
        <p:txBody>
          <a:bodyPr wrap="square" lIns="45720" tIns="18288" rIns="45720" bIns="18288" anchor="ctr">
            <a:spAutoFit/>
          </a:bodyPr>
          <a:lstStyle/>
          <a:p>
            <a:pPr algn="l">
              <a:spcAft>
                <a:spcPts val="400"/>
              </a:spcAft>
            </a:pPr>
            <a:r>
              <a:rPr sz="1600" b="1" i="0">
                <a:solidFill>
                  <a:srgbClr val="21295C"/>
                </a:solidFill>
                <a:latin typeface="Calibri"/>
              </a:rPr>
              <a:t>MSFT Jan 28</a:t>
            </a:r>
          </a:p>
        </p:txBody>
      </p:sp>
      <p:sp>
        <p:nvSpPr>
          <p:cNvPr id="22" name="TextBox 21"/>
          <p:cNvSpPr txBox="1"/>
          <p:nvPr/>
        </p:nvSpPr>
        <p:spPr>
          <a:xfrm>
            <a:off x="2560320" y="5088791"/>
            <a:ext cx="1188720" cy="283154"/>
          </a:xfrm>
          <a:prstGeom prst="rect">
            <a:avLst/>
          </a:prstGeom>
          <a:noFill/>
        </p:spPr>
        <p:txBody>
          <a:bodyPr wrap="square" lIns="45720" tIns="18288" rIns="45720" bIns="18288" anchor="ctr">
            <a:spAutoFit/>
          </a:bodyPr>
          <a:lstStyle/>
          <a:p>
            <a:pPr algn="l">
              <a:spcAft>
                <a:spcPts val="400"/>
              </a:spcAft>
            </a:pPr>
            <a:r>
              <a:rPr sz="1600" b="1" i="0">
                <a:solidFill>
                  <a:srgbClr val="E24B4A"/>
                </a:solidFill>
                <a:latin typeface="Calibri"/>
              </a:rPr>
              <a:t>-10.0%</a:t>
            </a:r>
          </a:p>
        </p:txBody>
      </p:sp>
      <p:sp>
        <p:nvSpPr>
          <p:cNvPr id="23" name="TextBox 22"/>
          <p:cNvSpPr txBox="1"/>
          <p:nvPr/>
        </p:nvSpPr>
        <p:spPr>
          <a:xfrm>
            <a:off x="3840480" y="5088791"/>
            <a:ext cx="7589520" cy="283154"/>
          </a:xfrm>
          <a:prstGeom prst="rect">
            <a:avLst/>
          </a:prstGeom>
          <a:noFill/>
        </p:spPr>
        <p:txBody>
          <a:bodyPr wrap="square" lIns="45720" tIns="18288" rIns="45720" bIns="18288" anchor="ctr">
            <a:spAutoFit/>
          </a:bodyPr>
          <a:lstStyle/>
          <a:p>
            <a:pPr algn="l">
              <a:spcAft>
                <a:spcPts val="400"/>
              </a:spcAft>
            </a:pPr>
            <a:r>
              <a:rPr sz="1600" b="0" i="0" dirty="0">
                <a:solidFill>
                  <a:srgbClr val="1E293B"/>
                </a:solidFill>
                <a:latin typeface="Calibri"/>
              </a:rPr>
              <a:t>'overwhelmingly positive sentiment' - straight into an earnings miss</a:t>
            </a:r>
          </a:p>
        </p:txBody>
      </p:sp>
      <p:sp>
        <p:nvSpPr>
          <p:cNvPr id="24" name="Rectangle 23"/>
          <p:cNvSpPr/>
          <p:nvPr/>
        </p:nvSpPr>
        <p:spPr>
          <a:xfrm>
            <a:off x="548640" y="5522975"/>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731520" y="5619142"/>
            <a:ext cx="1828800" cy="283154"/>
          </a:xfrm>
          <a:prstGeom prst="rect">
            <a:avLst/>
          </a:prstGeom>
          <a:noFill/>
        </p:spPr>
        <p:txBody>
          <a:bodyPr wrap="square" lIns="45720" tIns="18288" rIns="45720" bIns="18288" anchor="ctr">
            <a:spAutoFit/>
          </a:bodyPr>
          <a:lstStyle/>
          <a:p>
            <a:pPr algn="l">
              <a:spcAft>
                <a:spcPts val="400"/>
              </a:spcAft>
            </a:pPr>
            <a:r>
              <a:rPr sz="1600" b="1" i="0">
                <a:solidFill>
                  <a:srgbClr val="21295C"/>
                </a:solidFill>
                <a:latin typeface="Calibri"/>
              </a:rPr>
              <a:t>COIN Mar 23</a:t>
            </a:r>
          </a:p>
        </p:txBody>
      </p:sp>
      <p:sp>
        <p:nvSpPr>
          <p:cNvPr id="26" name="TextBox 25"/>
          <p:cNvSpPr txBox="1"/>
          <p:nvPr/>
        </p:nvSpPr>
        <p:spPr>
          <a:xfrm>
            <a:off x="2560320" y="5619142"/>
            <a:ext cx="1188720" cy="283154"/>
          </a:xfrm>
          <a:prstGeom prst="rect">
            <a:avLst/>
          </a:prstGeom>
          <a:noFill/>
        </p:spPr>
        <p:txBody>
          <a:bodyPr wrap="square" lIns="45720" tIns="18288" rIns="45720" bIns="18288" anchor="ctr">
            <a:spAutoFit/>
          </a:bodyPr>
          <a:lstStyle/>
          <a:p>
            <a:pPr algn="l">
              <a:spcAft>
                <a:spcPts val="400"/>
              </a:spcAft>
            </a:pPr>
            <a:r>
              <a:rPr sz="1600" b="1" i="0">
                <a:solidFill>
                  <a:srgbClr val="E24B4A"/>
                </a:solidFill>
                <a:latin typeface="Calibri"/>
              </a:rPr>
              <a:t>-9.8%</a:t>
            </a:r>
          </a:p>
        </p:txBody>
      </p:sp>
      <p:sp>
        <p:nvSpPr>
          <p:cNvPr id="27" name="TextBox 26"/>
          <p:cNvSpPr txBox="1"/>
          <p:nvPr/>
        </p:nvSpPr>
        <p:spPr>
          <a:xfrm>
            <a:off x="3840480" y="5619142"/>
            <a:ext cx="7589520" cy="283154"/>
          </a:xfrm>
          <a:prstGeom prst="rect">
            <a:avLst/>
          </a:prstGeom>
          <a:noFill/>
        </p:spPr>
        <p:txBody>
          <a:bodyPr wrap="square" lIns="45720" tIns="18288" rIns="45720" bIns="18288" anchor="ctr">
            <a:spAutoFit/>
          </a:bodyPr>
          <a:lstStyle/>
          <a:p>
            <a:pPr algn="l">
              <a:spcAft>
                <a:spcPts val="400"/>
              </a:spcAft>
            </a:pPr>
            <a:r>
              <a:rPr sz="1600" b="0" i="0" dirty="0">
                <a:solidFill>
                  <a:srgbClr val="1E293B"/>
                </a:solidFill>
                <a:latin typeface="Calibri"/>
              </a:rPr>
              <a:t>positive 7-day momentum overrode mixed/negative news</a:t>
            </a:r>
          </a:p>
        </p:txBody>
      </p:sp>
      <p:sp>
        <p:nvSpPr>
          <p:cNvPr id="29" name="TextBox 28"/>
          <p:cNvSpPr txBox="1"/>
          <p:nvPr/>
        </p:nvSpPr>
        <p:spPr>
          <a:xfrm>
            <a:off x="548640" y="6473952"/>
            <a:ext cx="8229600" cy="190821"/>
          </a:xfrm>
          <a:prstGeom prst="rect">
            <a:avLst/>
          </a:prstGeom>
          <a:noFill/>
        </p:spPr>
        <p:txBody>
          <a:bodyPr wrap="square" lIns="45720" tIns="18288" rIns="45720" bIns="18288" anchor="t">
            <a:spAutoFit/>
          </a:bodyPr>
          <a:lstStyle/>
          <a:p>
            <a:pPr algn="l">
              <a:spcAft>
                <a:spcPts val="400"/>
              </a:spcAft>
            </a:pPr>
            <a:r>
              <a:rPr sz="1000" b="0" i="0" err="1">
                <a:solidFill>
                  <a:srgbClr val="64748B"/>
                </a:solidFill>
                <a:latin typeface="Calibri"/>
              </a:rPr>
              <a:t>FinMem</a:t>
            </a:r>
            <a:r>
              <a:rPr sz="1000" b="0" i="0">
                <a:solidFill>
                  <a:srgbClr val="64748B"/>
                </a:solidFill>
                <a:latin typeface="Calibri"/>
              </a:rPr>
              <a:t> - Implementation  -  Shoshan &amp; Sagi</a:t>
            </a:r>
          </a:p>
        </p:txBody>
      </p:sp>
      <p:sp>
        <p:nvSpPr>
          <p:cNvPr id="30" name="TextBox 29"/>
          <p:cNvSpPr txBox="1"/>
          <p:nvPr/>
        </p:nvSpPr>
        <p:spPr>
          <a:xfrm>
            <a:off x="10972800" y="6473952"/>
            <a:ext cx="731520" cy="198516"/>
          </a:xfrm>
          <a:prstGeom prst="rect">
            <a:avLst/>
          </a:prstGeom>
          <a:noFill/>
        </p:spPr>
        <p:txBody>
          <a:bodyPr wrap="square" lIns="45720" tIns="18288" rIns="45720" bIns="18288" anchor="t">
            <a:spAutoFit/>
          </a:bodyPr>
          <a:lstStyle/>
          <a:p>
            <a:pPr algn="r">
              <a:spcAft>
                <a:spcPts val="400"/>
              </a:spcAft>
            </a:pPr>
            <a:r>
              <a:rPr sz="1050" b="0" i="0">
                <a:solidFill>
                  <a:srgbClr val="64748B"/>
                </a:solidFill>
                <a:latin typeface="Calibri"/>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E5A60E-0CD3-89C6-B8A8-4C6D4DE18708}"/>
              </a:ext>
            </a:extLst>
          </p:cNvPr>
          <p:cNvPicPr>
            <a:picLocks noChangeAspect="1"/>
          </p:cNvPicPr>
          <p:nvPr/>
        </p:nvPicPr>
        <p:blipFill>
          <a:blip r:embed="rId2"/>
          <a:stretch>
            <a:fillRect/>
          </a:stretch>
        </p:blipFill>
        <p:spPr>
          <a:xfrm>
            <a:off x="-1354" y="342900"/>
            <a:ext cx="12193354" cy="6400088"/>
          </a:xfrm>
          <a:prstGeom prst="rect">
            <a:avLst/>
          </a:prstGeom>
        </p:spPr>
      </p:pic>
      <p:sp>
        <p:nvSpPr>
          <p:cNvPr id="6" name="TextBox 5"/>
          <p:cNvSpPr txBox="1"/>
          <p:nvPr/>
        </p:nvSpPr>
        <p:spPr>
          <a:xfrm>
            <a:off x="10972800" y="6473952"/>
            <a:ext cx="731520" cy="274320"/>
          </a:xfrm>
          <a:prstGeom prst="rect">
            <a:avLst/>
          </a:prstGeom>
          <a:noFill/>
        </p:spPr>
        <p:txBody>
          <a:bodyPr wrap="none">
            <a:spAutoFit/>
          </a:bodyPr>
          <a:lstStyle/>
          <a:p>
            <a:pPr algn="r"/>
            <a:r>
              <a:rPr sz="900" b="0">
                <a:solidFill>
                  <a:srgbClr val="64748B"/>
                </a:solidFill>
                <a:latin typeface="Calibri"/>
              </a:rPr>
              <a:t>19</a:t>
            </a:r>
          </a:p>
        </p:txBody>
      </p:sp>
    </p:spTree>
    <p:extLst>
      <p:ext uri="{BB962C8B-B14F-4D97-AF65-F5344CB8AC3E}">
        <p14:creationId xmlns:p14="http://schemas.microsoft.com/office/powerpoint/2010/main" val="2680365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307777"/>
          </a:xfrm>
          <a:prstGeom prst="rect">
            <a:avLst/>
          </a:prstGeom>
          <a:noFill/>
        </p:spPr>
        <p:txBody>
          <a:bodyPr wrap="square" anchor="t">
            <a:spAutoFit/>
          </a:bodyPr>
          <a:lstStyle/>
          <a:p>
            <a:pPr algn="l">
              <a:spcBef>
                <a:spcPts val="0"/>
              </a:spcBef>
              <a:spcAft>
                <a:spcPts val="200"/>
              </a:spcAft>
            </a:pPr>
            <a:r>
              <a:rPr sz="1400" b="1">
                <a:solidFill>
                  <a:srgbClr val="1C7293"/>
                </a:solidFill>
                <a:latin typeface="Calibri"/>
              </a:rPr>
              <a:t>RESULTS</a:t>
            </a:r>
          </a:p>
        </p:txBody>
      </p:sp>
      <p:sp>
        <p:nvSpPr>
          <p:cNvPr id="4" name="TextBox 3"/>
          <p:cNvSpPr txBox="1"/>
          <p:nvPr/>
        </p:nvSpPr>
        <p:spPr>
          <a:xfrm>
            <a:off x="548640" y="530352"/>
            <a:ext cx="11064240" cy="584775"/>
          </a:xfrm>
          <a:prstGeom prst="rect">
            <a:avLst/>
          </a:prstGeom>
          <a:noFill/>
        </p:spPr>
        <p:txBody>
          <a:bodyPr wrap="square" anchor="t">
            <a:spAutoFit/>
          </a:bodyPr>
          <a:lstStyle/>
          <a:p>
            <a:pPr algn="l">
              <a:spcBef>
                <a:spcPts val="0"/>
              </a:spcBef>
              <a:spcAft>
                <a:spcPts val="200"/>
              </a:spcAft>
            </a:pPr>
            <a:r>
              <a:rPr sz="3200" b="1">
                <a:solidFill>
                  <a:srgbClr val="21295C"/>
                </a:solidFill>
                <a:latin typeface="Cambria"/>
              </a:rPr>
              <a:t>TSLA example - the worst miss, all four strategies</a:t>
            </a:r>
          </a:p>
        </p:txBody>
      </p:sp>
      <p:sp>
        <p:nvSpPr>
          <p:cNvPr id="5" name="TextBox 4"/>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6" name="TextBox 5"/>
          <p:cNvSpPr txBox="1"/>
          <p:nvPr/>
        </p:nvSpPr>
        <p:spPr>
          <a:xfrm>
            <a:off x="10972800" y="6473952"/>
            <a:ext cx="73152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20</a:t>
            </a:r>
          </a:p>
        </p:txBody>
      </p:sp>
      <p:pic>
        <p:nvPicPr>
          <p:cNvPr id="7" name="Picture 6" descr="equity_TSLA.png"/>
          <p:cNvPicPr>
            <a:picLocks noChangeAspect="1"/>
          </p:cNvPicPr>
          <p:nvPr/>
        </p:nvPicPr>
        <p:blipFill>
          <a:blip r:embed="rId2"/>
          <a:stretch>
            <a:fillRect/>
          </a:stretch>
        </p:blipFill>
        <p:spPr>
          <a:xfrm>
            <a:off x="197750" y="1491622"/>
            <a:ext cx="8127772" cy="4598401"/>
          </a:xfrm>
          <a:prstGeom prst="rect">
            <a:avLst/>
          </a:prstGeom>
        </p:spPr>
      </p:pic>
      <p:sp>
        <p:nvSpPr>
          <p:cNvPr id="8" name="Rounded Rectangle 7"/>
          <p:cNvSpPr/>
          <p:nvPr/>
        </p:nvSpPr>
        <p:spPr>
          <a:xfrm>
            <a:off x="8462682" y="1737360"/>
            <a:ext cx="3150198" cy="3904428"/>
          </a:xfrm>
          <a:prstGeom prst="roundRect">
            <a:avLst/>
          </a:prstGeom>
          <a:solidFill>
            <a:srgbClr val="F4F7FA"/>
          </a:solidFill>
          <a:ln w="12700">
            <a:solidFill>
              <a:srgbClr val="E4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659634" y="1874518"/>
            <a:ext cx="2816086" cy="3354765"/>
          </a:xfrm>
          <a:prstGeom prst="rect">
            <a:avLst/>
          </a:prstGeom>
          <a:noFill/>
        </p:spPr>
        <p:txBody>
          <a:bodyPr wrap="square" anchor="t">
            <a:spAutoFit/>
          </a:bodyPr>
          <a:lstStyle/>
          <a:p>
            <a:pPr algn="l">
              <a:spcBef>
                <a:spcPts val="0"/>
              </a:spcBef>
              <a:spcAft>
                <a:spcPts val="800"/>
              </a:spcAft>
            </a:pPr>
            <a:r>
              <a:rPr lang="en-US" b="1" err="1">
                <a:solidFill>
                  <a:srgbClr val="E24B4A"/>
                </a:solidFill>
                <a:latin typeface="Calibri"/>
              </a:rPr>
              <a:t>FinMem</a:t>
            </a:r>
            <a:r>
              <a:rPr lang="en-US" b="1">
                <a:solidFill>
                  <a:srgbClr val="E24B4A"/>
                </a:solidFill>
                <a:latin typeface="Calibri"/>
              </a:rPr>
              <a:t>-Ours -23.1%</a:t>
            </a:r>
          </a:p>
          <a:p>
            <a:pPr algn="l">
              <a:spcBef>
                <a:spcPts val="0"/>
              </a:spcBef>
              <a:spcAft>
                <a:spcPts val="800"/>
              </a:spcAft>
            </a:pPr>
            <a:r>
              <a:rPr sz="1600" b="0">
                <a:solidFill>
                  <a:srgbClr val="1E293B"/>
                </a:solidFill>
                <a:latin typeface="Calibri"/>
              </a:rPr>
              <a:t>It whipsawed long into the spring drawdown - selling defensively, then buying back on a 7-day momentum flip right before single-day drops.</a:t>
            </a:r>
          </a:p>
          <a:p>
            <a:pPr algn="l">
              <a:spcBef>
                <a:spcPts val="0"/>
              </a:spcBef>
              <a:spcAft>
                <a:spcPts val="800"/>
              </a:spcAft>
            </a:pPr>
            <a:r>
              <a:rPr sz="1600" b="0">
                <a:solidFill>
                  <a:srgbClr val="1E293B"/>
                </a:solidFill>
                <a:latin typeface="Calibri"/>
              </a:rPr>
              <a:t>Every stripped-down peer lost far less: no-memory -5.5%, LC-Trader -7.9%, Buy &amp; Hold -5.1%.</a:t>
            </a:r>
          </a:p>
          <a:p>
            <a:pPr algn="l">
              <a:spcBef>
                <a:spcPts val="0"/>
              </a:spcBef>
              <a:spcAft>
                <a:spcPts val="800"/>
              </a:spcAft>
            </a:pPr>
            <a:r>
              <a:rPr sz="1600" b="1">
                <a:solidFill>
                  <a:srgbClr val="21295C"/>
                </a:solidFill>
                <a:latin typeface="Calibri"/>
              </a:rPr>
              <a:t>TSLA is where memory + momentum-chasing hurt the most.</a:t>
            </a:r>
          </a:p>
        </p:txBody>
      </p:sp>
    </p:spTree>
    <p:extLst>
      <p:ext uri="{BB962C8B-B14F-4D97-AF65-F5344CB8AC3E}">
        <p14:creationId xmlns:p14="http://schemas.microsoft.com/office/powerpoint/2010/main" val="2805268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OUR EXTENSION</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A second question: one prompt, a whole portfolio</a:t>
            </a:r>
          </a:p>
        </p:txBody>
      </p:sp>
      <p:sp>
        <p:nvSpPr>
          <p:cNvPr id="5" name="TextBox 4"/>
          <p:cNvSpPr txBox="1"/>
          <p:nvPr/>
        </p:nvSpPr>
        <p:spPr>
          <a:xfrm>
            <a:off x="548640" y="1325880"/>
            <a:ext cx="11064240" cy="1077987"/>
          </a:xfrm>
          <a:prstGeom prst="rect">
            <a:avLst/>
          </a:prstGeom>
          <a:noFill/>
        </p:spPr>
        <p:txBody>
          <a:bodyPr wrap="square" lIns="45720" tIns="18288" rIns="45720" bIns="18288" anchor="t">
            <a:spAutoFit/>
          </a:bodyPr>
          <a:lstStyle/>
          <a:p>
            <a:pPr algn="l">
              <a:lnSpc>
                <a:spcPct val="115000"/>
              </a:lnSpc>
              <a:spcAft>
                <a:spcPts val="400"/>
              </a:spcAft>
            </a:pPr>
            <a:r>
              <a:rPr sz="2000" b="0" i="0" err="1">
                <a:solidFill>
                  <a:srgbClr val="1E293B"/>
                </a:solidFill>
                <a:latin typeface="Calibri"/>
              </a:rPr>
              <a:t>FinMem</a:t>
            </a:r>
            <a:r>
              <a:rPr sz="2000" b="0" i="0">
                <a:solidFill>
                  <a:srgbClr val="1E293B"/>
                </a:solidFill>
                <a:latin typeface="Calibri"/>
              </a:rPr>
              <a:t> trades each stock in isolation. We asked: in a </a:t>
            </a:r>
            <a:r>
              <a:rPr sz="2000" b="1" i="0">
                <a:solidFill>
                  <a:srgbClr val="1C7293"/>
                </a:solidFill>
                <a:latin typeface="Calibri"/>
              </a:rPr>
              <a:t>million-token-context world</a:t>
            </a:r>
            <a:r>
              <a:rPr sz="2000" b="0" i="0">
                <a:solidFill>
                  <a:srgbClr val="1E293B"/>
                </a:solidFill>
                <a:latin typeface="Calibri"/>
              </a:rPr>
              <a:t>, can a single unified daily prompt manage a 5-stock portfolio? Each test day one extra gpt-4.1-mini call receives all five agents decisions + reasoning and outputs portfolio weights (long</a:t>
            </a:r>
            <a:r>
              <a:rPr lang="he-IL" sz="2000" b="0" i="0">
                <a:solidFill>
                  <a:srgbClr val="1E293B"/>
                </a:solidFill>
                <a:latin typeface="Calibri"/>
              </a:rPr>
              <a:t> </a:t>
            </a:r>
            <a:r>
              <a:rPr sz="2000" b="0" i="0">
                <a:solidFill>
                  <a:srgbClr val="1E293B"/>
                </a:solidFill>
                <a:latin typeface="Calibri"/>
              </a:rPr>
              <a:t>only).</a:t>
            </a:r>
          </a:p>
        </p:txBody>
      </p:sp>
      <p:sp>
        <p:nvSpPr>
          <p:cNvPr id="6" name="Rounded Rectangle 5"/>
          <p:cNvSpPr/>
          <p:nvPr/>
        </p:nvSpPr>
        <p:spPr>
          <a:xfrm>
            <a:off x="548640" y="2767698"/>
            <a:ext cx="3611880" cy="2174841"/>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777240" y="3000480"/>
            <a:ext cx="3200400" cy="313932"/>
          </a:xfrm>
          <a:prstGeom prst="rect">
            <a:avLst/>
          </a:prstGeom>
          <a:noFill/>
        </p:spPr>
        <p:txBody>
          <a:bodyPr wrap="square" lIns="45720" tIns="18288" rIns="45720" bIns="18288" anchor="t">
            <a:spAutoFit/>
          </a:bodyPr>
          <a:lstStyle/>
          <a:p>
            <a:pPr algn="l">
              <a:spcAft>
                <a:spcPts val="400"/>
              </a:spcAft>
            </a:pPr>
            <a:r>
              <a:rPr b="1" i="0">
                <a:solidFill>
                  <a:srgbClr val="21295C"/>
                </a:solidFill>
                <a:latin typeface="Calibri"/>
              </a:rPr>
              <a:t>Portfolio layer</a:t>
            </a:r>
          </a:p>
        </p:txBody>
      </p:sp>
      <p:sp>
        <p:nvSpPr>
          <p:cNvPr id="8" name="TextBox 7"/>
          <p:cNvSpPr txBox="1"/>
          <p:nvPr/>
        </p:nvSpPr>
        <p:spPr>
          <a:xfrm>
            <a:off x="777240" y="3411960"/>
            <a:ext cx="3200400" cy="652486"/>
          </a:xfrm>
          <a:prstGeom prst="rect">
            <a:avLst/>
          </a:prstGeom>
          <a:noFill/>
        </p:spPr>
        <p:txBody>
          <a:bodyPr wrap="square" lIns="45720" tIns="18288" rIns="45720" bIns="18288" anchor="t">
            <a:spAutoFit/>
          </a:bodyPr>
          <a:lstStyle/>
          <a:p>
            <a:pPr algn="l">
              <a:spcAft>
                <a:spcPts val="400"/>
              </a:spcAft>
            </a:pPr>
            <a:r>
              <a:rPr sz="4000" b="1" i="0">
                <a:solidFill>
                  <a:srgbClr val="E24B4A"/>
                </a:solidFill>
                <a:latin typeface="Cambria"/>
              </a:rPr>
              <a:t>-3.6%</a:t>
            </a:r>
          </a:p>
        </p:txBody>
      </p:sp>
      <p:sp>
        <p:nvSpPr>
          <p:cNvPr id="9" name="TextBox 8"/>
          <p:cNvSpPr txBox="1"/>
          <p:nvPr/>
        </p:nvSpPr>
        <p:spPr>
          <a:xfrm>
            <a:off x="777240" y="4097760"/>
            <a:ext cx="3200400" cy="283154"/>
          </a:xfrm>
          <a:prstGeom prst="rect">
            <a:avLst/>
          </a:prstGeom>
          <a:noFill/>
        </p:spPr>
        <p:txBody>
          <a:bodyPr wrap="square" lIns="45720" tIns="18288" rIns="45720" bIns="18288" anchor="t">
            <a:spAutoFit/>
          </a:bodyPr>
          <a:lstStyle/>
          <a:p>
            <a:pPr algn="l">
              <a:spcAft>
                <a:spcPts val="400"/>
              </a:spcAft>
            </a:pPr>
            <a:r>
              <a:rPr sz="1600" b="0" i="0">
                <a:solidFill>
                  <a:srgbClr val="64748B"/>
                </a:solidFill>
                <a:latin typeface="Calibri"/>
              </a:rPr>
              <a:t>Sharpe -0.53</a:t>
            </a:r>
          </a:p>
        </p:txBody>
      </p:sp>
      <p:sp>
        <p:nvSpPr>
          <p:cNvPr id="10" name="TextBox 9"/>
          <p:cNvSpPr txBox="1"/>
          <p:nvPr/>
        </p:nvSpPr>
        <p:spPr>
          <a:xfrm>
            <a:off x="777240" y="4399512"/>
            <a:ext cx="3200400" cy="283154"/>
          </a:xfrm>
          <a:prstGeom prst="rect">
            <a:avLst/>
          </a:prstGeom>
          <a:noFill/>
        </p:spPr>
        <p:txBody>
          <a:bodyPr wrap="square" lIns="45720" tIns="18288" rIns="45720" bIns="18288" anchor="t">
            <a:spAutoFit/>
          </a:bodyPr>
          <a:lstStyle/>
          <a:p>
            <a:pPr algn="l">
              <a:spcAft>
                <a:spcPts val="400"/>
              </a:spcAft>
            </a:pPr>
            <a:r>
              <a:rPr sz="1600" b="1" i="0">
                <a:solidFill>
                  <a:srgbClr val="02C39A"/>
                </a:solidFill>
                <a:latin typeface="Calibri"/>
              </a:rPr>
              <a:t>Max DD -10.0%</a:t>
            </a:r>
          </a:p>
        </p:txBody>
      </p:sp>
      <p:sp>
        <p:nvSpPr>
          <p:cNvPr id="11" name="Rounded Rectangle 10"/>
          <p:cNvSpPr/>
          <p:nvPr/>
        </p:nvSpPr>
        <p:spPr>
          <a:xfrm>
            <a:off x="4389120" y="2767698"/>
            <a:ext cx="3611880" cy="2174841"/>
          </a:xfrm>
          <a:prstGeom prst="round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4617720" y="3000480"/>
            <a:ext cx="3200400" cy="313932"/>
          </a:xfrm>
          <a:prstGeom prst="rect">
            <a:avLst/>
          </a:prstGeom>
          <a:noFill/>
        </p:spPr>
        <p:txBody>
          <a:bodyPr wrap="square" lIns="45720" tIns="18288" rIns="45720" bIns="18288" anchor="t">
            <a:spAutoFit/>
          </a:bodyPr>
          <a:lstStyle/>
          <a:p>
            <a:pPr algn="l">
              <a:spcAft>
                <a:spcPts val="400"/>
              </a:spcAft>
            </a:pPr>
            <a:r>
              <a:rPr b="1" i="0">
                <a:solidFill>
                  <a:srgbClr val="64748B"/>
                </a:solidFill>
                <a:latin typeface="Calibri"/>
              </a:rPr>
              <a:t>Equal-weight B&amp;H</a:t>
            </a:r>
          </a:p>
        </p:txBody>
      </p:sp>
      <p:sp>
        <p:nvSpPr>
          <p:cNvPr id="13" name="TextBox 12"/>
          <p:cNvSpPr txBox="1"/>
          <p:nvPr/>
        </p:nvSpPr>
        <p:spPr>
          <a:xfrm>
            <a:off x="4617720" y="3411960"/>
            <a:ext cx="3200400" cy="652486"/>
          </a:xfrm>
          <a:prstGeom prst="rect">
            <a:avLst/>
          </a:prstGeom>
          <a:noFill/>
        </p:spPr>
        <p:txBody>
          <a:bodyPr wrap="square" lIns="45720" tIns="18288" rIns="45720" bIns="18288" anchor="t">
            <a:spAutoFit/>
          </a:bodyPr>
          <a:lstStyle/>
          <a:p>
            <a:pPr algn="l">
              <a:spcAft>
                <a:spcPts val="400"/>
              </a:spcAft>
            </a:pPr>
            <a:r>
              <a:rPr sz="4000" b="1" i="0">
                <a:solidFill>
                  <a:srgbClr val="1E293B"/>
                </a:solidFill>
                <a:latin typeface="Cambria"/>
              </a:rPr>
              <a:t>-0.4%</a:t>
            </a:r>
          </a:p>
        </p:txBody>
      </p:sp>
      <p:sp>
        <p:nvSpPr>
          <p:cNvPr id="14" name="TextBox 13"/>
          <p:cNvSpPr txBox="1"/>
          <p:nvPr/>
        </p:nvSpPr>
        <p:spPr>
          <a:xfrm>
            <a:off x="4617720" y="4097760"/>
            <a:ext cx="3200400" cy="283154"/>
          </a:xfrm>
          <a:prstGeom prst="rect">
            <a:avLst/>
          </a:prstGeom>
          <a:noFill/>
        </p:spPr>
        <p:txBody>
          <a:bodyPr wrap="square" lIns="45720" tIns="18288" rIns="45720" bIns="18288" anchor="t">
            <a:spAutoFit/>
          </a:bodyPr>
          <a:lstStyle/>
          <a:p>
            <a:pPr algn="l">
              <a:spcAft>
                <a:spcPts val="400"/>
              </a:spcAft>
            </a:pPr>
            <a:r>
              <a:rPr sz="1600" b="0" i="0">
                <a:solidFill>
                  <a:srgbClr val="64748B"/>
                </a:solidFill>
                <a:latin typeface="Calibri"/>
              </a:rPr>
              <a:t>Sharpe +0.11</a:t>
            </a:r>
          </a:p>
        </p:txBody>
      </p:sp>
      <p:sp>
        <p:nvSpPr>
          <p:cNvPr id="15" name="TextBox 14"/>
          <p:cNvSpPr txBox="1"/>
          <p:nvPr/>
        </p:nvSpPr>
        <p:spPr>
          <a:xfrm>
            <a:off x="4617720" y="4399512"/>
            <a:ext cx="3200400" cy="283154"/>
          </a:xfrm>
          <a:prstGeom prst="rect">
            <a:avLst/>
          </a:prstGeom>
          <a:noFill/>
        </p:spPr>
        <p:txBody>
          <a:bodyPr wrap="square" lIns="45720" tIns="18288" rIns="45720" bIns="18288" anchor="t">
            <a:spAutoFit/>
          </a:bodyPr>
          <a:lstStyle/>
          <a:p>
            <a:pPr algn="l">
              <a:spcAft>
                <a:spcPts val="400"/>
              </a:spcAft>
            </a:pPr>
            <a:r>
              <a:rPr sz="1600" b="0" i="0">
                <a:solidFill>
                  <a:srgbClr val="64748B"/>
                </a:solidFill>
                <a:latin typeface="Calibri"/>
              </a:rPr>
              <a:t>Max DD -20.5%</a:t>
            </a:r>
          </a:p>
        </p:txBody>
      </p:sp>
      <p:sp>
        <p:nvSpPr>
          <p:cNvPr id="16" name="Rounded Rectangle 15"/>
          <p:cNvSpPr/>
          <p:nvPr/>
        </p:nvSpPr>
        <p:spPr>
          <a:xfrm>
            <a:off x="8275320" y="2767698"/>
            <a:ext cx="3337560" cy="2174841"/>
          </a:xfrm>
          <a:prstGeom prst="round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8503920" y="3000480"/>
            <a:ext cx="2926080" cy="1505284"/>
          </a:xfrm>
          <a:prstGeom prst="rect">
            <a:avLst/>
          </a:prstGeom>
          <a:noFill/>
        </p:spPr>
        <p:txBody>
          <a:bodyPr wrap="square" lIns="45720" tIns="18288" rIns="45720" bIns="18288" anchor="t">
            <a:spAutoFit/>
          </a:bodyPr>
          <a:lstStyle/>
          <a:p>
            <a:pPr algn="l">
              <a:lnSpc>
                <a:spcPct val="105000"/>
              </a:lnSpc>
              <a:spcAft>
                <a:spcPts val="400"/>
              </a:spcAft>
            </a:pPr>
            <a:r>
              <a:rPr sz="1600" b="1" i="0">
                <a:solidFill>
                  <a:srgbClr val="02C39A"/>
                </a:solidFill>
                <a:latin typeface="Calibri"/>
              </a:rPr>
              <a:t>The finding</a:t>
            </a:r>
          </a:p>
          <a:p>
            <a:pPr algn="l">
              <a:lnSpc>
                <a:spcPct val="105000"/>
              </a:lnSpc>
              <a:spcAft>
                <a:spcPts val="400"/>
              </a:spcAft>
            </a:pPr>
            <a:r>
              <a:rPr sz="1600" b="0" i="0">
                <a:solidFill>
                  <a:srgbClr val="FFFFFF"/>
                </a:solidFill>
                <a:latin typeface="Calibri"/>
              </a:rPr>
              <a:t>It traded return for safety:</a:t>
            </a:r>
          </a:p>
          <a:p>
            <a:pPr algn="l">
              <a:lnSpc>
                <a:spcPct val="105000"/>
              </a:lnSpc>
              <a:spcAft>
                <a:spcPts val="400"/>
              </a:spcAft>
            </a:pPr>
            <a:r>
              <a:rPr b="1" i="0">
                <a:solidFill>
                  <a:srgbClr val="FFFFFF"/>
                </a:solidFill>
                <a:latin typeface="Calibri"/>
              </a:rPr>
              <a:t>halved the drawdown</a:t>
            </a:r>
          </a:p>
          <a:p>
            <a:pPr algn="l">
              <a:lnSpc>
                <a:spcPct val="105000"/>
              </a:lnSpc>
              <a:spcAft>
                <a:spcPts val="400"/>
              </a:spcAft>
            </a:pPr>
            <a:r>
              <a:rPr sz="1600" b="0" i="0">
                <a:solidFill>
                  <a:srgbClr val="CADCFC"/>
                </a:solidFill>
                <a:latin typeface="Calibri"/>
              </a:rPr>
              <a:t>but lagged on return in a choppy, mostly-down window.</a:t>
            </a:r>
          </a:p>
        </p:txBody>
      </p:sp>
      <p:sp>
        <p:nvSpPr>
          <p:cNvPr id="18" name="TextBox 17"/>
          <p:cNvSpPr txBox="1"/>
          <p:nvPr/>
        </p:nvSpPr>
        <p:spPr>
          <a:xfrm>
            <a:off x="548640" y="5190970"/>
            <a:ext cx="11064240" cy="655308"/>
          </a:xfrm>
          <a:prstGeom prst="rect">
            <a:avLst/>
          </a:prstGeom>
          <a:noFill/>
        </p:spPr>
        <p:txBody>
          <a:bodyPr wrap="square" lIns="45720" tIns="18288" rIns="45720" bIns="18288" anchor="t">
            <a:spAutoFit/>
          </a:bodyPr>
          <a:lstStyle/>
          <a:p>
            <a:pPr algn="l">
              <a:lnSpc>
                <a:spcPct val="115000"/>
              </a:lnSpc>
              <a:spcAft>
                <a:spcPts val="400"/>
              </a:spcAft>
            </a:pPr>
            <a:r>
              <a:rPr lang="en-US" b="0" i="0">
                <a:solidFill>
                  <a:srgbClr val="1E293B"/>
                </a:solidFill>
                <a:latin typeface="Calibri"/>
              </a:rPr>
              <a:t>T</a:t>
            </a:r>
            <a:r>
              <a:rPr b="0" i="0">
                <a:solidFill>
                  <a:srgbClr val="1E293B"/>
                </a:solidFill>
                <a:latin typeface="Calibri"/>
              </a:rPr>
              <a:t>he unified-prompt portfolio brain behaves like a conservative risk manager</a:t>
            </a:r>
            <a:br>
              <a:rPr lang="en-US" b="0" i="0">
                <a:solidFill>
                  <a:srgbClr val="1E293B"/>
                </a:solidFill>
                <a:latin typeface="Calibri"/>
              </a:rPr>
            </a:br>
            <a:r>
              <a:rPr b="0" i="0">
                <a:solidFill>
                  <a:srgbClr val="1E293B"/>
                </a:solidFill>
                <a:latin typeface="Calibri"/>
              </a:rPr>
              <a:t>A clean proof-of-concept that long-context single-prompt portfolio control is feasible, if not yet profitable.</a:t>
            </a:r>
          </a:p>
        </p:txBody>
      </p:sp>
      <p:sp>
        <p:nvSpPr>
          <p:cNvPr id="19" name="TextBox 18"/>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20" name="TextBox 19"/>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r>
              <a:rPr sz="900" b="0" i="0">
                <a:solidFill>
                  <a:srgbClr val="64748B"/>
                </a:solidFill>
                <a:latin typeface="Calibri"/>
              </a:rPr>
              <a:t>21</a:t>
            </a:r>
          </a:p>
        </p:txBody>
      </p:sp>
    </p:spTree>
    <p:extLst>
      <p:ext uri="{BB962C8B-B14F-4D97-AF65-F5344CB8AC3E}">
        <p14:creationId xmlns:p14="http://schemas.microsoft.com/office/powerpoint/2010/main" val="3813753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74320"/>
            <a:ext cx="11064240" cy="338554"/>
          </a:xfrm>
          <a:prstGeom prst="rect">
            <a:avLst/>
          </a:prstGeom>
          <a:noFill/>
        </p:spPr>
        <p:txBody>
          <a:bodyPr wrap="square" anchor="t">
            <a:spAutoFit/>
          </a:bodyPr>
          <a:lstStyle/>
          <a:p>
            <a:pPr algn="l">
              <a:spcBef>
                <a:spcPts val="0"/>
              </a:spcBef>
              <a:spcAft>
                <a:spcPts val="300"/>
              </a:spcAft>
            </a:pPr>
            <a:r>
              <a:rPr sz="1600" b="1">
                <a:solidFill>
                  <a:srgbClr val="1C7293"/>
                </a:solidFill>
                <a:latin typeface="Calibri"/>
              </a:rPr>
              <a:t>OUR EXTENSION  -  APPENDIX</a:t>
            </a:r>
          </a:p>
        </p:txBody>
      </p:sp>
      <p:sp>
        <p:nvSpPr>
          <p:cNvPr id="4" name="TextBox 3"/>
          <p:cNvSpPr txBox="1"/>
          <p:nvPr/>
        </p:nvSpPr>
        <p:spPr>
          <a:xfrm>
            <a:off x="548640" y="530352"/>
            <a:ext cx="11064240" cy="584775"/>
          </a:xfrm>
          <a:prstGeom prst="rect">
            <a:avLst/>
          </a:prstGeom>
          <a:noFill/>
        </p:spPr>
        <p:txBody>
          <a:bodyPr wrap="square" anchor="t">
            <a:spAutoFit/>
          </a:bodyPr>
          <a:lstStyle/>
          <a:p>
            <a:pPr algn="l">
              <a:spcBef>
                <a:spcPts val="0"/>
              </a:spcBef>
              <a:spcAft>
                <a:spcPts val="300"/>
              </a:spcAft>
            </a:pPr>
            <a:r>
              <a:rPr sz="3200" b="1">
                <a:solidFill>
                  <a:srgbClr val="21295C"/>
                </a:solidFill>
                <a:latin typeface="Cambria"/>
              </a:rPr>
              <a:t>Portfolio layer - output example &amp; equity curve</a:t>
            </a:r>
          </a:p>
        </p:txBody>
      </p:sp>
      <p:sp>
        <p:nvSpPr>
          <p:cNvPr id="5" name="TextBox 4"/>
          <p:cNvSpPr txBox="1"/>
          <p:nvPr/>
        </p:nvSpPr>
        <p:spPr>
          <a:xfrm>
            <a:off x="548640" y="1188720"/>
            <a:ext cx="11064240" cy="338554"/>
          </a:xfrm>
          <a:prstGeom prst="rect">
            <a:avLst/>
          </a:prstGeom>
          <a:noFill/>
        </p:spPr>
        <p:txBody>
          <a:bodyPr wrap="square" anchor="t">
            <a:spAutoFit/>
          </a:bodyPr>
          <a:lstStyle/>
          <a:p>
            <a:pPr algn="l">
              <a:spcBef>
                <a:spcPts val="0"/>
              </a:spcBef>
              <a:spcAft>
                <a:spcPts val="300"/>
              </a:spcAft>
            </a:pPr>
            <a:r>
              <a:rPr sz="1600" b="0">
                <a:solidFill>
                  <a:srgbClr val="64748B"/>
                </a:solidFill>
                <a:latin typeface="Calibri"/>
              </a:rPr>
              <a:t>One </a:t>
            </a:r>
            <a:r>
              <a:rPr lang="en-US" sz="1600" b="0">
                <a:solidFill>
                  <a:srgbClr val="64748B"/>
                </a:solidFill>
                <a:latin typeface="Calibri"/>
              </a:rPr>
              <a:t>G</a:t>
            </a:r>
            <a:r>
              <a:rPr sz="1600" b="0">
                <a:solidFill>
                  <a:srgbClr val="64748B"/>
                </a:solidFill>
                <a:latin typeface="Calibri"/>
              </a:rPr>
              <a:t>pt-4.1-mini call/day maps the 5 </a:t>
            </a:r>
            <a:r>
              <a:rPr sz="1600" b="0" err="1">
                <a:solidFill>
                  <a:srgbClr val="64748B"/>
                </a:solidFill>
                <a:latin typeface="Calibri"/>
              </a:rPr>
              <a:t>FinMem</a:t>
            </a:r>
            <a:r>
              <a:rPr sz="1600" b="0">
                <a:solidFill>
                  <a:srgbClr val="64748B"/>
                </a:solidFill>
                <a:latin typeface="Calibri"/>
              </a:rPr>
              <a:t> decisions -&gt; long-only weights. </a:t>
            </a:r>
          </a:p>
        </p:txBody>
      </p:sp>
      <p:sp>
        <p:nvSpPr>
          <p:cNvPr id="6" name="TextBox 5"/>
          <p:cNvSpPr txBox="1"/>
          <p:nvPr/>
        </p:nvSpPr>
        <p:spPr>
          <a:xfrm>
            <a:off x="548640" y="6473952"/>
            <a:ext cx="8229600" cy="274320"/>
          </a:xfrm>
          <a:prstGeom prst="rect">
            <a:avLst/>
          </a:prstGeom>
          <a:noFill/>
        </p:spPr>
        <p:txBody>
          <a:bodyPr wrap="square" anchor="t">
            <a:spAutoFit/>
          </a:bodyPr>
          <a:lstStyle/>
          <a:p>
            <a:pPr algn="l">
              <a:spcBef>
                <a:spcPts val="0"/>
              </a:spcBef>
              <a:spcAft>
                <a:spcPts val="300"/>
              </a:spcAft>
            </a:pPr>
            <a:r>
              <a:rPr sz="900" b="0">
                <a:solidFill>
                  <a:srgbClr val="64748B"/>
                </a:solidFill>
                <a:latin typeface="Calibri"/>
              </a:rPr>
              <a:t>FinMem - Implementation  -  Shoshan &amp; Sagi</a:t>
            </a:r>
          </a:p>
        </p:txBody>
      </p:sp>
      <p:sp>
        <p:nvSpPr>
          <p:cNvPr id="7" name="TextBox 6"/>
          <p:cNvSpPr txBox="1"/>
          <p:nvPr/>
        </p:nvSpPr>
        <p:spPr>
          <a:xfrm>
            <a:off x="10972800" y="6473952"/>
            <a:ext cx="731520" cy="253916"/>
          </a:xfrm>
          <a:prstGeom prst="rect">
            <a:avLst/>
          </a:prstGeom>
          <a:noFill/>
        </p:spPr>
        <p:txBody>
          <a:bodyPr wrap="square" anchor="t">
            <a:spAutoFit/>
          </a:bodyPr>
          <a:lstStyle/>
          <a:p>
            <a:pPr algn="l">
              <a:spcBef>
                <a:spcPts val="0"/>
              </a:spcBef>
              <a:spcAft>
                <a:spcPts val="300"/>
              </a:spcAft>
            </a:pPr>
            <a:r>
              <a:rPr sz="1050" b="0">
                <a:solidFill>
                  <a:srgbClr val="64748B"/>
                </a:solidFill>
                <a:latin typeface="Calibri"/>
              </a:rPr>
              <a:t>22</a:t>
            </a:r>
          </a:p>
        </p:txBody>
      </p:sp>
      <p:pic>
        <p:nvPicPr>
          <p:cNvPr id="8" name="Picture 7" descr="portfolio_vs_ewbh.png"/>
          <p:cNvPicPr>
            <a:picLocks noChangeAspect="1"/>
          </p:cNvPicPr>
          <p:nvPr/>
        </p:nvPicPr>
        <p:blipFill>
          <a:blip r:embed="rId2"/>
          <a:stretch>
            <a:fillRect/>
          </a:stretch>
        </p:blipFill>
        <p:spPr>
          <a:xfrm>
            <a:off x="91579" y="1973805"/>
            <a:ext cx="7561949" cy="3916229"/>
          </a:xfrm>
          <a:prstGeom prst="rect">
            <a:avLst/>
          </a:prstGeom>
        </p:spPr>
      </p:pic>
      <p:sp>
        <p:nvSpPr>
          <p:cNvPr id="10" name="Rounded Rectangle 9"/>
          <p:cNvSpPr/>
          <p:nvPr/>
        </p:nvSpPr>
        <p:spPr>
          <a:xfrm>
            <a:off x="7625673" y="1896632"/>
            <a:ext cx="4160520" cy="3886200"/>
          </a:xfrm>
          <a:prstGeom prst="roundRect">
            <a:avLst/>
          </a:prstGeom>
          <a:solidFill>
            <a:srgbClr val="F4F7FA"/>
          </a:solidFill>
          <a:ln w="12700">
            <a:solidFill>
              <a:srgbClr val="E4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7826841" y="2015504"/>
            <a:ext cx="3794759" cy="338554"/>
          </a:xfrm>
          <a:prstGeom prst="rect">
            <a:avLst/>
          </a:prstGeom>
          <a:noFill/>
        </p:spPr>
        <p:txBody>
          <a:bodyPr wrap="square" anchor="t">
            <a:spAutoFit/>
          </a:bodyPr>
          <a:lstStyle/>
          <a:p>
            <a:pPr algn="l">
              <a:spcBef>
                <a:spcPts val="0"/>
              </a:spcBef>
              <a:spcAft>
                <a:spcPts val="300"/>
              </a:spcAft>
            </a:pPr>
            <a:r>
              <a:rPr sz="1600" b="1">
                <a:solidFill>
                  <a:srgbClr val="21295C"/>
                </a:solidFill>
                <a:latin typeface="Calibri"/>
              </a:rPr>
              <a:t>Example output  -  2026-01-02</a:t>
            </a:r>
          </a:p>
        </p:txBody>
      </p:sp>
      <p:sp>
        <p:nvSpPr>
          <p:cNvPr id="12" name="TextBox 11"/>
          <p:cNvSpPr txBox="1"/>
          <p:nvPr/>
        </p:nvSpPr>
        <p:spPr>
          <a:xfrm>
            <a:off x="7790266" y="2493668"/>
            <a:ext cx="3995927" cy="518091"/>
          </a:xfrm>
          <a:prstGeom prst="rect">
            <a:avLst/>
          </a:prstGeom>
          <a:noFill/>
        </p:spPr>
        <p:txBody>
          <a:bodyPr wrap="square" anchor="t">
            <a:spAutoFit/>
          </a:bodyPr>
          <a:lstStyle/>
          <a:p>
            <a:pPr algn="l">
              <a:spcBef>
                <a:spcPts val="0"/>
              </a:spcBef>
              <a:spcAft>
                <a:spcPts val="200"/>
              </a:spcAft>
            </a:pPr>
            <a:r>
              <a:rPr sz="1300" b="1">
                <a:solidFill>
                  <a:srgbClr val="1E293B"/>
                </a:solidFill>
                <a:latin typeface="Calibri"/>
              </a:rPr>
              <a:t>Analyst decisions in:</a:t>
            </a:r>
          </a:p>
          <a:p>
            <a:pPr algn="l">
              <a:spcBef>
                <a:spcPts val="0"/>
              </a:spcBef>
              <a:spcAft>
                <a:spcPts val="200"/>
              </a:spcAft>
            </a:pPr>
            <a:r>
              <a:rPr sz="1300" b="0">
                <a:solidFill>
                  <a:srgbClr val="64748B"/>
                </a:solidFill>
                <a:latin typeface="Calibri"/>
              </a:rPr>
              <a:t>TSLA buy - NFLX buy - AMZN buy - MSFT buy - COIN hold</a:t>
            </a:r>
          </a:p>
        </p:txBody>
      </p:sp>
      <p:sp>
        <p:nvSpPr>
          <p:cNvPr id="13" name="TextBox 12"/>
          <p:cNvSpPr txBox="1"/>
          <p:nvPr/>
        </p:nvSpPr>
        <p:spPr>
          <a:xfrm>
            <a:off x="7826841" y="3085352"/>
            <a:ext cx="3794759" cy="789960"/>
          </a:xfrm>
          <a:prstGeom prst="rect">
            <a:avLst/>
          </a:prstGeom>
          <a:noFill/>
        </p:spPr>
        <p:txBody>
          <a:bodyPr wrap="square" anchor="t">
            <a:spAutoFit/>
          </a:bodyPr>
          <a:lstStyle/>
          <a:p>
            <a:pPr algn="l">
              <a:spcBef>
                <a:spcPts val="0"/>
              </a:spcBef>
              <a:spcAft>
                <a:spcPts val="200"/>
              </a:spcAft>
            </a:pPr>
            <a:r>
              <a:rPr sz="1400" b="1">
                <a:solidFill>
                  <a:srgbClr val="1E293B"/>
                </a:solidFill>
                <a:latin typeface="Calibri"/>
              </a:rPr>
              <a:t>Target weights out:</a:t>
            </a:r>
          </a:p>
          <a:p>
            <a:pPr algn="l">
              <a:spcBef>
                <a:spcPts val="0"/>
              </a:spcBef>
              <a:spcAft>
                <a:spcPts val="200"/>
              </a:spcAft>
            </a:pPr>
            <a:r>
              <a:rPr sz="1400" b="0">
                <a:solidFill>
                  <a:srgbClr val="1E293B"/>
                </a:solidFill>
                <a:latin typeface="Calibri"/>
              </a:rPr>
              <a:t>TSLA </a:t>
            </a:r>
            <a:r>
              <a:rPr sz="1400" b="1">
                <a:solidFill>
                  <a:srgbClr val="02C39A"/>
                </a:solidFill>
                <a:latin typeface="Calibri"/>
              </a:rPr>
              <a:t>0.25</a:t>
            </a:r>
            <a:r>
              <a:rPr sz="1400" b="0">
                <a:solidFill>
                  <a:srgbClr val="1E293B"/>
                </a:solidFill>
                <a:latin typeface="Calibri"/>
              </a:rPr>
              <a:t>   NFLX </a:t>
            </a:r>
            <a:r>
              <a:rPr sz="1400" b="1">
                <a:solidFill>
                  <a:srgbClr val="02C39A"/>
                </a:solidFill>
                <a:latin typeface="Calibri"/>
              </a:rPr>
              <a:t>0.25</a:t>
            </a:r>
            <a:r>
              <a:rPr sz="1400" b="0">
                <a:solidFill>
                  <a:srgbClr val="1E293B"/>
                </a:solidFill>
                <a:latin typeface="Calibri"/>
              </a:rPr>
              <a:t>   AMZN </a:t>
            </a:r>
            <a:r>
              <a:rPr sz="1400" b="1">
                <a:solidFill>
                  <a:srgbClr val="02C39A"/>
                </a:solidFill>
                <a:latin typeface="Calibri"/>
              </a:rPr>
              <a:t>0.25</a:t>
            </a:r>
          </a:p>
          <a:p>
            <a:pPr algn="l">
              <a:spcBef>
                <a:spcPts val="0"/>
              </a:spcBef>
              <a:spcAft>
                <a:spcPts val="200"/>
              </a:spcAft>
            </a:pPr>
            <a:r>
              <a:rPr sz="1400" b="0">
                <a:solidFill>
                  <a:srgbClr val="1E293B"/>
                </a:solidFill>
                <a:latin typeface="Calibri"/>
              </a:rPr>
              <a:t>MSFT </a:t>
            </a:r>
            <a:r>
              <a:rPr sz="1400" b="1">
                <a:solidFill>
                  <a:srgbClr val="02C39A"/>
                </a:solidFill>
                <a:latin typeface="Calibri"/>
              </a:rPr>
              <a:t>0.20</a:t>
            </a:r>
            <a:r>
              <a:rPr sz="1400" b="0">
                <a:solidFill>
                  <a:srgbClr val="1E293B"/>
                </a:solidFill>
                <a:latin typeface="Calibri"/>
              </a:rPr>
              <a:t>   COIN </a:t>
            </a:r>
            <a:r>
              <a:rPr sz="1400" b="1">
                <a:solidFill>
                  <a:srgbClr val="64748B"/>
                </a:solidFill>
                <a:latin typeface="Calibri"/>
              </a:rPr>
              <a:t>0.00</a:t>
            </a:r>
            <a:r>
              <a:rPr sz="1400" b="0">
                <a:solidFill>
                  <a:srgbClr val="1E293B"/>
                </a:solidFill>
                <a:latin typeface="Calibri"/>
              </a:rPr>
              <a:t>   CASH </a:t>
            </a:r>
            <a:r>
              <a:rPr sz="1400" b="1">
                <a:solidFill>
                  <a:srgbClr val="EF9F27"/>
                </a:solidFill>
                <a:latin typeface="Calibri"/>
              </a:rPr>
              <a:t>0.05</a:t>
            </a:r>
          </a:p>
        </p:txBody>
      </p:sp>
      <p:sp>
        <p:nvSpPr>
          <p:cNvPr id="14" name="TextBox 13"/>
          <p:cNvSpPr txBox="1"/>
          <p:nvPr/>
        </p:nvSpPr>
        <p:spPr>
          <a:xfrm>
            <a:off x="7826841" y="3999752"/>
            <a:ext cx="3794759" cy="1436291"/>
          </a:xfrm>
          <a:prstGeom prst="rect">
            <a:avLst/>
          </a:prstGeom>
          <a:noFill/>
        </p:spPr>
        <p:txBody>
          <a:bodyPr wrap="square" anchor="t">
            <a:spAutoFit/>
          </a:bodyPr>
          <a:lstStyle/>
          <a:p>
            <a:pPr algn="l">
              <a:spcBef>
                <a:spcPts val="0"/>
              </a:spcBef>
              <a:spcAft>
                <a:spcPts val="400"/>
              </a:spcAft>
            </a:pPr>
            <a:r>
              <a:rPr sz="1400" b="1">
                <a:solidFill>
                  <a:srgbClr val="1E293B"/>
                </a:solidFill>
                <a:latin typeface="Calibri"/>
              </a:rPr>
              <a:t>Reasoning (verbatim):</a:t>
            </a:r>
          </a:p>
          <a:p>
            <a:pPr algn="l">
              <a:spcBef>
                <a:spcPts val="0"/>
              </a:spcBef>
              <a:spcAft>
                <a:spcPts val="400"/>
              </a:spcAft>
            </a:pPr>
            <a:r>
              <a:rPr sz="1400" b="0">
                <a:solidFill>
                  <a:srgbClr val="1E293B"/>
                </a:solidFill>
                <a:latin typeface="Calibri"/>
              </a:rPr>
              <a:t>"All stocks except COIN have strong buy recommendations despite recent short-term momentum weakness... COIN is held at zero due to mixed short-term signals and recent volatility... keeping 5% in cash for flexibility."</a:t>
            </a:r>
          </a:p>
        </p:txBody>
      </p:sp>
    </p:spTree>
    <p:extLst>
      <p:ext uri="{BB962C8B-B14F-4D97-AF65-F5344CB8AC3E}">
        <p14:creationId xmlns:p14="http://schemas.microsoft.com/office/powerpoint/2010/main" val="4217709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02C39A"/>
                </a:solidFill>
                <a:latin typeface="Calibri"/>
              </a:rPr>
              <a:t>WRAP-UP</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FFFFFF"/>
                </a:solidFill>
                <a:latin typeface="Cambria"/>
              </a:rPr>
              <a:t>Lessons &amp; conclusions</a:t>
            </a:r>
          </a:p>
        </p:txBody>
      </p:sp>
      <p:sp>
        <p:nvSpPr>
          <p:cNvPr id="5" name="Rounded Rectangle 4"/>
          <p:cNvSpPr/>
          <p:nvPr/>
        </p:nvSpPr>
        <p:spPr>
          <a:xfrm>
            <a:off x="640080" y="1463040"/>
            <a:ext cx="5394960" cy="2057400"/>
          </a:xfrm>
          <a:prstGeom prst="round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68680" y="1627632"/>
            <a:ext cx="914400" cy="775597"/>
          </a:xfrm>
          <a:prstGeom prst="rect">
            <a:avLst/>
          </a:prstGeom>
          <a:noFill/>
        </p:spPr>
        <p:txBody>
          <a:bodyPr wrap="square" lIns="45720" tIns="18288" rIns="45720" bIns="18288" anchor="t">
            <a:spAutoFit/>
          </a:bodyPr>
          <a:lstStyle/>
          <a:p>
            <a:pPr algn="l">
              <a:spcAft>
                <a:spcPts val="400"/>
              </a:spcAft>
            </a:pPr>
            <a:r>
              <a:rPr sz="4800" b="1" i="0">
                <a:solidFill>
                  <a:srgbClr val="02C39A"/>
                </a:solidFill>
                <a:latin typeface="Cambria"/>
              </a:rPr>
              <a:t>1</a:t>
            </a:r>
          </a:p>
        </p:txBody>
      </p:sp>
      <p:sp>
        <p:nvSpPr>
          <p:cNvPr id="7" name="TextBox 6"/>
          <p:cNvSpPr txBox="1"/>
          <p:nvPr/>
        </p:nvSpPr>
        <p:spPr>
          <a:xfrm>
            <a:off x="1783080" y="1664208"/>
            <a:ext cx="4114800" cy="579902"/>
          </a:xfrm>
          <a:prstGeom prst="rect">
            <a:avLst/>
          </a:prstGeom>
          <a:noFill/>
        </p:spPr>
        <p:txBody>
          <a:bodyPr wrap="square" lIns="45720" tIns="18288" rIns="45720" bIns="18288" anchor="t">
            <a:spAutoFit/>
          </a:bodyPr>
          <a:lstStyle/>
          <a:p>
            <a:pPr algn="l">
              <a:lnSpc>
                <a:spcPct val="98000"/>
              </a:lnSpc>
              <a:spcAft>
                <a:spcPts val="400"/>
              </a:spcAft>
            </a:pPr>
            <a:r>
              <a:rPr b="1" i="0">
                <a:solidFill>
                  <a:srgbClr val="FFFFFF"/>
                </a:solidFill>
                <a:latin typeface="Calibri"/>
              </a:rPr>
              <a:t>The architecture reproduces</a:t>
            </a:r>
            <a:r>
              <a:rPr lang="he-IL" b="1">
                <a:solidFill>
                  <a:srgbClr val="FFFFFF"/>
                </a:solidFill>
                <a:latin typeface="Calibri"/>
              </a:rPr>
              <a:t> </a:t>
            </a:r>
            <a:r>
              <a:rPr lang="en-US" b="1">
                <a:solidFill>
                  <a:srgbClr val="FFFFFF"/>
                </a:solidFill>
                <a:latin typeface="Calibri"/>
              </a:rPr>
              <a:t>but </a:t>
            </a:r>
            <a:br>
              <a:rPr lang="en-US" b="1">
                <a:solidFill>
                  <a:srgbClr val="FFFFFF"/>
                </a:solidFill>
                <a:latin typeface="Calibri"/>
              </a:rPr>
            </a:br>
            <a:r>
              <a:rPr b="1" i="0">
                <a:solidFill>
                  <a:srgbClr val="FFFFFF"/>
                </a:solidFill>
                <a:latin typeface="Calibri"/>
              </a:rPr>
              <a:t>the alpha does not</a:t>
            </a:r>
          </a:p>
        </p:txBody>
      </p:sp>
      <p:sp>
        <p:nvSpPr>
          <p:cNvPr id="8" name="TextBox 7"/>
          <p:cNvSpPr txBox="1"/>
          <p:nvPr/>
        </p:nvSpPr>
        <p:spPr>
          <a:xfrm>
            <a:off x="1783080" y="2450592"/>
            <a:ext cx="4114800" cy="802014"/>
          </a:xfrm>
          <a:prstGeom prst="rect">
            <a:avLst/>
          </a:prstGeom>
          <a:noFill/>
        </p:spPr>
        <p:txBody>
          <a:bodyPr wrap="square" lIns="45720" tIns="18288" rIns="45720" bIns="18288" anchor="t">
            <a:spAutoFit/>
          </a:bodyPr>
          <a:lstStyle/>
          <a:p>
            <a:pPr algn="l">
              <a:lnSpc>
                <a:spcPct val="105000"/>
              </a:lnSpc>
              <a:spcAft>
                <a:spcPts val="400"/>
              </a:spcAft>
            </a:pPr>
            <a:r>
              <a:rPr sz="1600" b="0" i="0">
                <a:solidFill>
                  <a:srgbClr val="CADCFC"/>
                </a:solidFill>
                <a:latin typeface="Calibri"/>
              </a:rPr>
              <a:t>Built honestly, FinMem ties or trails Buy &amp; Hold (mean -5.3% vs -4.1%); no result approaches the paper's Sharpe of 2.67.</a:t>
            </a:r>
          </a:p>
        </p:txBody>
      </p:sp>
      <p:sp>
        <p:nvSpPr>
          <p:cNvPr id="9" name="Rounded Rectangle 8"/>
          <p:cNvSpPr/>
          <p:nvPr/>
        </p:nvSpPr>
        <p:spPr>
          <a:xfrm>
            <a:off x="6263640" y="1463040"/>
            <a:ext cx="5394960" cy="2057400"/>
          </a:xfrm>
          <a:prstGeom prst="round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492240" y="1627632"/>
            <a:ext cx="914400" cy="775597"/>
          </a:xfrm>
          <a:prstGeom prst="rect">
            <a:avLst/>
          </a:prstGeom>
          <a:noFill/>
        </p:spPr>
        <p:txBody>
          <a:bodyPr wrap="square" lIns="45720" tIns="18288" rIns="45720" bIns="18288" anchor="t">
            <a:spAutoFit/>
          </a:bodyPr>
          <a:lstStyle/>
          <a:p>
            <a:pPr algn="l">
              <a:spcAft>
                <a:spcPts val="400"/>
              </a:spcAft>
            </a:pPr>
            <a:r>
              <a:rPr sz="4800" b="1" i="0">
                <a:solidFill>
                  <a:srgbClr val="02C39A"/>
                </a:solidFill>
                <a:latin typeface="Cambria"/>
              </a:rPr>
              <a:t>2</a:t>
            </a:r>
          </a:p>
        </p:txBody>
      </p:sp>
      <p:sp>
        <p:nvSpPr>
          <p:cNvPr id="11" name="TextBox 10"/>
          <p:cNvSpPr txBox="1"/>
          <p:nvPr/>
        </p:nvSpPr>
        <p:spPr>
          <a:xfrm>
            <a:off x="7406640" y="1664208"/>
            <a:ext cx="4114800" cy="308418"/>
          </a:xfrm>
          <a:prstGeom prst="rect">
            <a:avLst/>
          </a:prstGeom>
          <a:noFill/>
        </p:spPr>
        <p:txBody>
          <a:bodyPr wrap="square" lIns="45720" tIns="18288" rIns="45720" bIns="18288" anchor="t">
            <a:spAutoFit/>
          </a:bodyPr>
          <a:lstStyle/>
          <a:p>
            <a:pPr algn="l">
              <a:lnSpc>
                <a:spcPct val="98000"/>
              </a:lnSpc>
              <a:spcAft>
                <a:spcPts val="400"/>
              </a:spcAft>
            </a:pPr>
            <a:r>
              <a:rPr b="1" i="0">
                <a:solidFill>
                  <a:srgbClr val="FFFFFF"/>
                </a:solidFill>
                <a:latin typeface="Calibri"/>
              </a:rPr>
              <a:t>Memory engaged but didn't pay</a:t>
            </a:r>
          </a:p>
        </p:txBody>
      </p:sp>
      <p:sp>
        <p:nvSpPr>
          <p:cNvPr id="12" name="TextBox 11"/>
          <p:cNvSpPr txBox="1"/>
          <p:nvPr/>
        </p:nvSpPr>
        <p:spPr>
          <a:xfrm>
            <a:off x="7257229" y="2325691"/>
            <a:ext cx="4114800" cy="802014"/>
          </a:xfrm>
          <a:prstGeom prst="rect">
            <a:avLst/>
          </a:prstGeom>
          <a:noFill/>
        </p:spPr>
        <p:txBody>
          <a:bodyPr wrap="square" lIns="45720" tIns="18288" rIns="45720" bIns="18288" anchor="t">
            <a:spAutoFit/>
          </a:bodyPr>
          <a:lstStyle/>
          <a:p>
            <a:pPr algn="l">
              <a:lnSpc>
                <a:spcPct val="105000"/>
              </a:lnSpc>
              <a:spcAft>
                <a:spcPts val="400"/>
              </a:spcAft>
            </a:pPr>
            <a:r>
              <a:rPr sz="1600" b="0" i="0">
                <a:solidFill>
                  <a:srgbClr val="CADCFC"/>
                </a:solidFill>
                <a:latin typeface="Calibri"/>
              </a:rPr>
              <a:t>The memory-free agent was the best of three. The layered memory is real, active, self-referential - and net-negative out-of-sample.</a:t>
            </a:r>
          </a:p>
        </p:txBody>
      </p:sp>
      <p:sp>
        <p:nvSpPr>
          <p:cNvPr id="13" name="Rounded Rectangle 12"/>
          <p:cNvSpPr/>
          <p:nvPr/>
        </p:nvSpPr>
        <p:spPr>
          <a:xfrm>
            <a:off x="640080" y="3749039"/>
            <a:ext cx="5394960" cy="2057400"/>
          </a:xfrm>
          <a:prstGeom prst="round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868680" y="3913631"/>
            <a:ext cx="914400" cy="775597"/>
          </a:xfrm>
          <a:prstGeom prst="rect">
            <a:avLst/>
          </a:prstGeom>
          <a:noFill/>
        </p:spPr>
        <p:txBody>
          <a:bodyPr wrap="square" lIns="45720" tIns="18288" rIns="45720" bIns="18288" anchor="t">
            <a:spAutoFit/>
          </a:bodyPr>
          <a:lstStyle/>
          <a:p>
            <a:pPr algn="l">
              <a:spcAft>
                <a:spcPts val="400"/>
              </a:spcAft>
            </a:pPr>
            <a:r>
              <a:rPr sz="4800" b="1">
                <a:solidFill>
                  <a:srgbClr val="02C39A"/>
                </a:solidFill>
                <a:latin typeface="Cambria"/>
              </a:rPr>
              <a:t>3</a:t>
            </a:r>
          </a:p>
        </p:txBody>
      </p:sp>
      <p:sp>
        <p:nvSpPr>
          <p:cNvPr id="15" name="TextBox 14"/>
          <p:cNvSpPr txBox="1"/>
          <p:nvPr/>
        </p:nvSpPr>
        <p:spPr>
          <a:xfrm>
            <a:off x="1783080" y="3950207"/>
            <a:ext cx="4114800" cy="308418"/>
          </a:xfrm>
          <a:prstGeom prst="rect">
            <a:avLst/>
          </a:prstGeom>
          <a:noFill/>
        </p:spPr>
        <p:txBody>
          <a:bodyPr wrap="square" lIns="45720" tIns="18288" rIns="45720" bIns="18288" anchor="t">
            <a:spAutoFit/>
          </a:bodyPr>
          <a:lstStyle/>
          <a:p>
            <a:pPr algn="l">
              <a:lnSpc>
                <a:spcPct val="98000"/>
              </a:lnSpc>
              <a:spcAft>
                <a:spcPts val="400"/>
              </a:spcAft>
            </a:pPr>
            <a:r>
              <a:rPr b="1">
                <a:solidFill>
                  <a:srgbClr val="FFFFFF"/>
                </a:solidFill>
                <a:latin typeface="Calibri"/>
              </a:rPr>
              <a:t>Honest </a:t>
            </a:r>
            <a:r>
              <a:rPr b="1" err="1">
                <a:solidFill>
                  <a:srgbClr val="FFFFFF"/>
                </a:solidFill>
                <a:latin typeface="Calibri"/>
              </a:rPr>
              <a:t>backtesting</a:t>
            </a:r>
            <a:r>
              <a:rPr b="1">
                <a:solidFill>
                  <a:srgbClr val="FFFFFF"/>
                </a:solidFill>
                <a:latin typeface="Calibri"/>
              </a:rPr>
              <a:t> changes the answer</a:t>
            </a:r>
          </a:p>
        </p:txBody>
      </p:sp>
      <p:sp>
        <p:nvSpPr>
          <p:cNvPr id="16" name="TextBox 15"/>
          <p:cNvSpPr txBox="1"/>
          <p:nvPr/>
        </p:nvSpPr>
        <p:spPr>
          <a:xfrm>
            <a:off x="1652046" y="4525131"/>
            <a:ext cx="4114800" cy="802014"/>
          </a:xfrm>
          <a:prstGeom prst="rect">
            <a:avLst/>
          </a:prstGeom>
          <a:noFill/>
        </p:spPr>
        <p:txBody>
          <a:bodyPr wrap="square" lIns="45720" tIns="18288" rIns="45720" bIns="18288" anchor="t">
            <a:spAutoFit/>
          </a:bodyPr>
          <a:lstStyle/>
          <a:p>
            <a:pPr algn="l">
              <a:lnSpc>
                <a:spcPct val="105000"/>
              </a:lnSpc>
              <a:spcAft>
                <a:spcPts val="400"/>
              </a:spcAft>
            </a:pPr>
            <a:r>
              <a:rPr sz="1600" b="0" i="0">
                <a:solidFill>
                  <a:srgbClr val="CADCFC"/>
                </a:solidFill>
                <a:latin typeface="Calibri"/>
              </a:rPr>
              <a:t>Leakage-free dates, real costs, frozen parameters, and a metrics audit each pulled results toward - or below - the benchmark.</a:t>
            </a:r>
          </a:p>
        </p:txBody>
      </p:sp>
      <p:sp>
        <p:nvSpPr>
          <p:cNvPr id="17" name="Rounded Rectangle 16"/>
          <p:cNvSpPr/>
          <p:nvPr/>
        </p:nvSpPr>
        <p:spPr>
          <a:xfrm>
            <a:off x="6263640" y="3749039"/>
            <a:ext cx="5394960" cy="2057400"/>
          </a:xfrm>
          <a:prstGeom prst="round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6492240" y="3913631"/>
            <a:ext cx="914400" cy="775597"/>
          </a:xfrm>
          <a:prstGeom prst="rect">
            <a:avLst/>
          </a:prstGeom>
          <a:noFill/>
        </p:spPr>
        <p:txBody>
          <a:bodyPr wrap="square" lIns="45720" tIns="18288" rIns="45720" bIns="18288" anchor="t">
            <a:spAutoFit/>
          </a:bodyPr>
          <a:lstStyle/>
          <a:p>
            <a:pPr algn="l">
              <a:spcAft>
                <a:spcPts val="400"/>
              </a:spcAft>
            </a:pPr>
            <a:r>
              <a:rPr sz="4800" b="1">
                <a:solidFill>
                  <a:srgbClr val="02C39A"/>
                </a:solidFill>
                <a:latin typeface="Cambria"/>
              </a:rPr>
              <a:t>4</a:t>
            </a:r>
          </a:p>
        </p:txBody>
      </p:sp>
      <p:sp>
        <p:nvSpPr>
          <p:cNvPr id="19" name="TextBox 18"/>
          <p:cNvSpPr txBox="1"/>
          <p:nvPr/>
        </p:nvSpPr>
        <p:spPr>
          <a:xfrm>
            <a:off x="7406640" y="3950207"/>
            <a:ext cx="4114800" cy="308418"/>
          </a:xfrm>
          <a:prstGeom prst="rect">
            <a:avLst/>
          </a:prstGeom>
          <a:noFill/>
        </p:spPr>
        <p:txBody>
          <a:bodyPr wrap="square" lIns="45720" tIns="18288" rIns="45720" bIns="18288" anchor="t">
            <a:spAutoFit/>
          </a:bodyPr>
          <a:lstStyle/>
          <a:p>
            <a:pPr algn="l">
              <a:lnSpc>
                <a:spcPct val="98000"/>
              </a:lnSpc>
              <a:spcAft>
                <a:spcPts val="400"/>
              </a:spcAft>
            </a:pPr>
            <a:r>
              <a:rPr b="1">
                <a:solidFill>
                  <a:srgbClr val="FFFFFF"/>
                </a:solidFill>
                <a:latin typeface="Calibri"/>
              </a:rPr>
              <a:t>Where this goes next</a:t>
            </a:r>
          </a:p>
        </p:txBody>
      </p:sp>
      <p:sp>
        <p:nvSpPr>
          <p:cNvPr id="20" name="TextBox 19"/>
          <p:cNvSpPr txBox="1"/>
          <p:nvPr/>
        </p:nvSpPr>
        <p:spPr>
          <a:xfrm>
            <a:off x="7188649" y="4363445"/>
            <a:ext cx="4251960" cy="1319079"/>
          </a:xfrm>
          <a:prstGeom prst="rect">
            <a:avLst/>
          </a:prstGeom>
          <a:noFill/>
        </p:spPr>
        <p:txBody>
          <a:bodyPr wrap="square" lIns="45720" tIns="18288" rIns="45720" bIns="18288" anchor="t">
            <a:spAutoFit/>
          </a:bodyPr>
          <a:lstStyle/>
          <a:p>
            <a:pPr algn="l">
              <a:lnSpc>
                <a:spcPct val="105000"/>
              </a:lnSpc>
              <a:spcAft>
                <a:spcPts val="400"/>
              </a:spcAft>
            </a:pPr>
            <a:r>
              <a:rPr sz="1600" b="0" i="0">
                <a:solidFill>
                  <a:srgbClr val="CADCFC"/>
                </a:solidFill>
                <a:latin typeface="Calibri"/>
              </a:rPr>
              <a:t>Situation-aware retrieval queries, multi-agent role </a:t>
            </a:r>
            <a:r>
              <a:rPr sz="1600" b="0" i="0" err="1">
                <a:solidFill>
                  <a:srgbClr val="CADCFC"/>
                </a:solidFill>
                <a:latin typeface="Calibri"/>
              </a:rPr>
              <a:t>specialisation</a:t>
            </a:r>
            <a:r>
              <a:rPr sz="1600" b="0" i="0">
                <a:solidFill>
                  <a:srgbClr val="CADCFC"/>
                </a:solidFill>
                <a:latin typeface="Calibri"/>
              </a:rPr>
              <a:t>, richer cost / turnover / capacity modelling, and longer post-cutoff windows are the natural next tests of whether layered memory can be made to pay.</a:t>
            </a:r>
          </a:p>
        </p:txBody>
      </p:sp>
      <p:sp>
        <p:nvSpPr>
          <p:cNvPr id="21" name="TextBox 20"/>
          <p:cNvSpPr txBox="1"/>
          <p:nvPr/>
        </p:nvSpPr>
        <p:spPr>
          <a:xfrm>
            <a:off x="548640" y="6473952"/>
            <a:ext cx="8229600" cy="190821"/>
          </a:xfrm>
          <a:prstGeom prst="rect">
            <a:avLst/>
          </a:prstGeom>
          <a:noFill/>
        </p:spPr>
        <p:txBody>
          <a:bodyPr wrap="square" lIns="45720" tIns="18288" rIns="45720" bIns="18288" anchor="t">
            <a:spAutoFit/>
          </a:bodyPr>
          <a:lstStyle/>
          <a:p>
            <a:pPr algn="l">
              <a:spcAft>
                <a:spcPts val="400"/>
              </a:spcAft>
            </a:pPr>
            <a:r>
              <a:rPr sz="1000" b="0" i="0">
                <a:solidFill>
                  <a:srgbClr val="CADCFC"/>
                </a:solidFill>
                <a:latin typeface="Calibri"/>
              </a:rPr>
              <a:t>FinMem - Implementation  -  Shoshan &amp; Sagi</a:t>
            </a:r>
          </a:p>
        </p:txBody>
      </p:sp>
      <p:sp>
        <p:nvSpPr>
          <p:cNvPr id="22" name="TextBox 21"/>
          <p:cNvSpPr txBox="1"/>
          <p:nvPr/>
        </p:nvSpPr>
        <p:spPr>
          <a:xfrm>
            <a:off x="10972800" y="6473952"/>
            <a:ext cx="731520" cy="198516"/>
          </a:xfrm>
          <a:prstGeom prst="rect">
            <a:avLst/>
          </a:prstGeom>
          <a:noFill/>
        </p:spPr>
        <p:txBody>
          <a:bodyPr wrap="square" lIns="45720" tIns="18288" rIns="45720" bIns="18288" anchor="t">
            <a:spAutoFit/>
          </a:bodyPr>
          <a:lstStyle/>
          <a:p>
            <a:pPr algn="r">
              <a:spcAft>
                <a:spcPts val="400"/>
              </a:spcAft>
            </a:pPr>
            <a:r>
              <a:rPr sz="1050" b="0" i="0">
                <a:solidFill>
                  <a:srgbClr val="CADCFC"/>
                </a:solidFill>
                <a:latin typeface="Calibri"/>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194560"/>
            <a:ext cx="10698480" cy="1335943"/>
          </a:xfrm>
          <a:prstGeom prst="rect">
            <a:avLst/>
          </a:prstGeom>
          <a:noFill/>
        </p:spPr>
        <p:txBody>
          <a:bodyPr wrap="square" lIns="45720" tIns="18288" rIns="45720" bIns="18288" anchor="t">
            <a:spAutoFit/>
          </a:bodyPr>
          <a:lstStyle/>
          <a:p>
            <a:pPr algn="l">
              <a:lnSpc>
                <a:spcPct val="105000"/>
              </a:lnSpc>
              <a:spcAft>
                <a:spcPts val="400"/>
              </a:spcAft>
            </a:pPr>
            <a:r>
              <a:rPr sz="4000" b="1" i="0">
                <a:solidFill>
                  <a:srgbClr val="FFFFFF"/>
                </a:solidFill>
                <a:latin typeface="Cambria"/>
              </a:rPr>
              <a:t>Trust nothing in a </a:t>
            </a:r>
            <a:r>
              <a:rPr lang="en-US" sz="4000" b="1" i="0" err="1">
                <a:solidFill>
                  <a:srgbClr val="FFFFFF"/>
                </a:solidFill>
                <a:latin typeface="Cambria"/>
              </a:rPr>
              <a:t>backtest</a:t>
            </a:r>
            <a:endParaRPr sz="4000" b="1" i="0">
              <a:solidFill>
                <a:srgbClr val="FFFFFF"/>
              </a:solidFill>
              <a:latin typeface="Cambria"/>
            </a:endParaRPr>
          </a:p>
          <a:p>
            <a:pPr algn="l">
              <a:lnSpc>
                <a:spcPct val="105000"/>
              </a:lnSpc>
              <a:spcAft>
                <a:spcPts val="400"/>
              </a:spcAft>
            </a:pPr>
            <a:r>
              <a:rPr sz="4000" b="1" i="0">
                <a:solidFill>
                  <a:srgbClr val="FFFFFF"/>
                </a:solidFill>
                <a:latin typeface="Cambria"/>
              </a:rPr>
              <a:t>you haven't audited - </a:t>
            </a:r>
            <a:r>
              <a:rPr sz="4000" b="1" i="0">
                <a:solidFill>
                  <a:srgbClr val="02C39A"/>
                </a:solidFill>
                <a:latin typeface="Cambria"/>
              </a:rPr>
              <a:t>including your own.</a:t>
            </a:r>
          </a:p>
        </p:txBody>
      </p:sp>
      <p:sp>
        <p:nvSpPr>
          <p:cNvPr id="4" name="TextBox 3"/>
          <p:cNvSpPr txBox="1"/>
          <p:nvPr/>
        </p:nvSpPr>
        <p:spPr>
          <a:xfrm>
            <a:off x="731520" y="4069080"/>
            <a:ext cx="10698480" cy="457200"/>
          </a:xfrm>
          <a:prstGeom prst="rect">
            <a:avLst/>
          </a:prstGeom>
          <a:noFill/>
        </p:spPr>
        <p:txBody>
          <a:bodyPr wrap="square" lIns="45720" tIns="18288" rIns="45720" bIns="18288" anchor="t">
            <a:spAutoFit/>
          </a:bodyPr>
          <a:lstStyle/>
          <a:p>
            <a:pPr algn="l">
              <a:spcAft>
                <a:spcPts val="400"/>
              </a:spcAft>
            </a:pPr>
            <a:r>
              <a:rPr sz="1600" b="0" i="1">
                <a:solidFill>
                  <a:srgbClr val="CADCFC"/>
                </a:solidFill>
                <a:latin typeface="Calibri"/>
              </a:rPr>
              <a:t>FinMem, rebuilt as described and tested honestly: a real cognitive architecture, an unproven edge.</a:t>
            </a:r>
          </a:p>
        </p:txBody>
      </p:sp>
      <p:sp>
        <p:nvSpPr>
          <p:cNvPr id="5" name="TextBox 4"/>
          <p:cNvSpPr txBox="1"/>
          <p:nvPr/>
        </p:nvSpPr>
        <p:spPr>
          <a:xfrm>
            <a:off x="731520" y="5166360"/>
            <a:ext cx="10698480" cy="365760"/>
          </a:xfrm>
          <a:prstGeom prst="rect">
            <a:avLst/>
          </a:prstGeom>
          <a:noFill/>
        </p:spPr>
        <p:txBody>
          <a:bodyPr wrap="square" lIns="45720" tIns="18288" rIns="45720" bIns="18288" anchor="t">
            <a:spAutoFit/>
          </a:bodyPr>
          <a:lstStyle/>
          <a:p>
            <a:pPr algn="l">
              <a:spcAft>
                <a:spcPts val="400"/>
              </a:spcAft>
            </a:pPr>
            <a:r>
              <a:rPr sz="1500" b="1" i="0">
                <a:solidFill>
                  <a:srgbClr val="FFFFFF"/>
                </a:solidFill>
                <a:latin typeface="Calibri"/>
              </a:rPr>
              <a:t>Dan Shoshan   -   Nimrod Sagi        Thank you - questions welcome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74320"/>
          </a:xfrm>
          <a:prstGeom prst="rect">
            <a:avLst/>
          </a:prstGeom>
          <a:noFill/>
        </p:spPr>
        <p:txBody>
          <a:bodyPr wrap="square" lIns="45720" tIns="18288" rIns="45720" bIns="18288" anchor="t">
            <a:spAutoFit/>
          </a:bodyPr>
          <a:lstStyle/>
          <a:p>
            <a:pPr algn="l">
              <a:spcAft>
                <a:spcPts val="400"/>
              </a:spcAft>
            </a:pPr>
            <a:r>
              <a:rPr sz="1200" b="1" i="0">
                <a:solidFill>
                  <a:srgbClr val="02C39A"/>
                </a:solidFill>
                <a:latin typeface="Calibri"/>
              </a:rPr>
              <a:t>20-SECOND SLIDE</a:t>
            </a:r>
          </a:p>
        </p:txBody>
      </p:sp>
      <p:sp>
        <p:nvSpPr>
          <p:cNvPr id="4" name="TextBox 3"/>
          <p:cNvSpPr txBox="1"/>
          <p:nvPr/>
        </p:nvSpPr>
        <p:spPr>
          <a:xfrm>
            <a:off x="548640" y="548640"/>
            <a:ext cx="11064240" cy="777240"/>
          </a:xfrm>
          <a:prstGeom prst="rect">
            <a:avLst/>
          </a:prstGeom>
          <a:noFill/>
        </p:spPr>
        <p:txBody>
          <a:bodyPr wrap="square" lIns="45720" tIns="18288" rIns="45720" bIns="18288" anchor="t">
            <a:spAutoFit/>
          </a:bodyPr>
          <a:lstStyle/>
          <a:p>
            <a:pPr algn="l">
              <a:spcAft>
                <a:spcPts val="400"/>
              </a:spcAft>
            </a:pPr>
            <a:r>
              <a:rPr sz="2900" b="1" i="0">
                <a:solidFill>
                  <a:srgbClr val="FFFFFF"/>
                </a:solidFill>
                <a:latin typeface="Cambria"/>
              </a:rPr>
              <a:t>What they shipped vs. what the paper claims</a:t>
            </a:r>
          </a:p>
        </p:txBody>
      </p:sp>
      <p:sp>
        <p:nvSpPr>
          <p:cNvPr id="5" name="TextBox 4"/>
          <p:cNvSpPr txBox="1"/>
          <p:nvPr/>
        </p:nvSpPr>
        <p:spPr>
          <a:xfrm>
            <a:off x="548640" y="1298448"/>
            <a:ext cx="11064240" cy="411480"/>
          </a:xfrm>
          <a:prstGeom prst="rect">
            <a:avLst/>
          </a:prstGeom>
          <a:noFill/>
        </p:spPr>
        <p:txBody>
          <a:bodyPr wrap="square" lIns="45720" tIns="18288" rIns="45720" bIns="18288" anchor="t">
            <a:spAutoFit/>
          </a:bodyPr>
          <a:lstStyle/>
          <a:p>
            <a:pPr algn="l">
              <a:spcAft>
                <a:spcPts val="400"/>
              </a:spcAft>
            </a:pPr>
            <a:r>
              <a:rPr sz="1500" b="0" i="0">
                <a:solidFill>
                  <a:srgbClr val="CADCFC"/>
                </a:solidFill>
                <a:latin typeface="Calibri"/>
              </a:rPr>
              <a:t>Seven places where the released GitHub code diverges from the paper's description:</a:t>
            </a:r>
          </a:p>
        </p:txBody>
      </p:sp>
      <p:sp>
        <p:nvSpPr>
          <p:cNvPr id="6" name="Rectangle 5"/>
          <p:cNvSpPr/>
          <p:nvPr/>
        </p:nvSpPr>
        <p:spPr>
          <a:xfrm>
            <a:off x="548640" y="1828800"/>
            <a:ext cx="11091672"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28800"/>
            <a:ext cx="1097280" cy="457200"/>
          </a:xfrm>
          <a:prstGeom prst="rect">
            <a:avLst/>
          </a:prstGeom>
          <a:noFill/>
        </p:spPr>
        <p:txBody>
          <a:bodyPr wrap="square" lIns="45720" tIns="18288" rIns="45720" bIns="18288" anchor="ctr">
            <a:spAutoFit/>
          </a:bodyPr>
          <a:lstStyle/>
          <a:p>
            <a:pPr algn="l">
              <a:spcAft>
                <a:spcPts val="400"/>
              </a:spcAft>
            </a:pPr>
            <a:r>
              <a:rPr sz="1200" b="1" i="0">
                <a:solidFill>
                  <a:srgbClr val="FFFFFF"/>
                </a:solidFill>
                <a:latin typeface="Calibri"/>
              </a:rPr>
              <a:t>TAG</a:t>
            </a:r>
          </a:p>
        </p:txBody>
      </p:sp>
      <p:sp>
        <p:nvSpPr>
          <p:cNvPr id="8" name="TextBox 7"/>
          <p:cNvSpPr txBox="1"/>
          <p:nvPr/>
        </p:nvSpPr>
        <p:spPr>
          <a:xfrm>
            <a:off x="1828800" y="1828800"/>
            <a:ext cx="4572000" cy="457200"/>
          </a:xfrm>
          <a:prstGeom prst="rect">
            <a:avLst/>
          </a:prstGeom>
          <a:noFill/>
        </p:spPr>
        <p:txBody>
          <a:bodyPr wrap="square" lIns="45720" tIns="18288" rIns="45720" bIns="18288" anchor="ctr">
            <a:spAutoFit/>
          </a:bodyPr>
          <a:lstStyle/>
          <a:p>
            <a:pPr algn="l">
              <a:spcAft>
                <a:spcPts val="400"/>
              </a:spcAft>
            </a:pPr>
            <a:r>
              <a:rPr sz="1200" b="1" i="0">
                <a:solidFill>
                  <a:srgbClr val="FFFFFF"/>
                </a:solidFill>
                <a:latin typeface="Calibri"/>
              </a:rPr>
              <a:t>PAPER IMPLIES</a:t>
            </a:r>
          </a:p>
        </p:txBody>
      </p:sp>
      <p:sp>
        <p:nvSpPr>
          <p:cNvPr id="9" name="TextBox 8"/>
          <p:cNvSpPr txBox="1"/>
          <p:nvPr/>
        </p:nvSpPr>
        <p:spPr>
          <a:xfrm>
            <a:off x="6583680" y="1828800"/>
            <a:ext cx="4937760" cy="457200"/>
          </a:xfrm>
          <a:prstGeom prst="rect">
            <a:avLst/>
          </a:prstGeom>
          <a:noFill/>
        </p:spPr>
        <p:txBody>
          <a:bodyPr wrap="square" lIns="45720" tIns="18288" rIns="45720" bIns="18288" anchor="ctr">
            <a:spAutoFit/>
          </a:bodyPr>
          <a:lstStyle/>
          <a:p>
            <a:pPr algn="l">
              <a:spcAft>
                <a:spcPts val="400"/>
              </a:spcAft>
            </a:pPr>
            <a:r>
              <a:rPr sz="1200" b="1" i="0">
                <a:solidFill>
                  <a:srgbClr val="FFFFFF"/>
                </a:solidFill>
                <a:latin typeface="Calibri"/>
              </a:rPr>
              <a:t>SHIPPED CODE ACTUALLY DOES</a:t>
            </a:r>
          </a:p>
        </p:txBody>
      </p:sp>
      <p:sp>
        <p:nvSpPr>
          <p:cNvPr id="10" name="Rectangle 9"/>
          <p:cNvSpPr/>
          <p:nvPr/>
        </p:nvSpPr>
        <p:spPr>
          <a:xfrm>
            <a:off x="548640" y="2286000"/>
            <a:ext cx="11091672" cy="548640"/>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8600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B7</a:t>
            </a:r>
          </a:p>
        </p:txBody>
      </p:sp>
      <p:sp>
        <p:nvSpPr>
          <p:cNvPr id="12" name="TextBox 11"/>
          <p:cNvSpPr txBox="1"/>
          <p:nvPr/>
        </p:nvSpPr>
        <p:spPr>
          <a:xfrm>
            <a:off x="1828800" y="2449520"/>
            <a:ext cx="4572000" cy="221599"/>
          </a:xfrm>
          <a:prstGeom prst="rect">
            <a:avLst/>
          </a:prstGeom>
          <a:noFill/>
        </p:spPr>
        <p:txBody>
          <a:bodyPr wrap="square" lIns="45720" tIns="18288" rIns="45720" bIns="18288" anchor="ctr">
            <a:spAutoFit/>
          </a:bodyPr>
          <a:lstStyle/>
          <a:p>
            <a:pPr algn="l">
              <a:spcAft>
                <a:spcPts val="400"/>
              </a:spcAft>
            </a:pPr>
            <a:r>
              <a:rPr lang="en-US" sz="1200" b="0" i="0" err="1">
                <a:solidFill>
                  <a:srgbClr val="CADCFC"/>
                </a:solidFill>
                <a:latin typeface="Calibri"/>
              </a:rPr>
              <a:t>FinBERT</a:t>
            </a:r>
            <a:r>
              <a:rPr sz="1200" b="0" i="0">
                <a:solidFill>
                  <a:srgbClr val="CADCFC"/>
                </a:solidFill>
                <a:latin typeface="Calibri"/>
              </a:rPr>
              <a:t> labels read correctly</a:t>
            </a:r>
          </a:p>
        </p:txBody>
      </p:sp>
      <p:sp>
        <p:nvSpPr>
          <p:cNvPr id="13" name="TextBox 12"/>
          <p:cNvSpPr txBox="1"/>
          <p:nvPr/>
        </p:nvSpPr>
        <p:spPr>
          <a:xfrm>
            <a:off x="6583680" y="228600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Fed P(Negative) as the “positive” score</a:t>
            </a:r>
          </a:p>
        </p:txBody>
      </p:sp>
      <p:sp>
        <p:nvSpPr>
          <p:cNvPr id="14" name="Rectangle 13"/>
          <p:cNvSpPr/>
          <p:nvPr/>
        </p:nvSpPr>
        <p:spPr>
          <a:xfrm>
            <a:off x="548640" y="2834640"/>
            <a:ext cx="11091672" cy="548640"/>
          </a:xfrm>
          <a:prstGeom prst="rect">
            <a:avLst/>
          </a:prstGeom>
          <a:solidFill>
            <a:srgbClr val="2B3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83464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B8</a:t>
            </a:r>
          </a:p>
        </p:txBody>
      </p:sp>
      <p:sp>
        <p:nvSpPr>
          <p:cNvPr id="16" name="TextBox 15"/>
          <p:cNvSpPr txBox="1"/>
          <p:nvPr/>
        </p:nvSpPr>
        <p:spPr>
          <a:xfrm>
            <a:off x="1828800" y="2834640"/>
            <a:ext cx="4572000" cy="548640"/>
          </a:xfrm>
          <a:prstGeom prst="rect">
            <a:avLst/>
          </a:prstGeom>
          <a:noFill/>
        </p:spPr>
        <p:txBody>
          <a:bodyPr wrap="square" lIns="45720" tIns="18288" rIns="45720" bIns="18288" anchor="ctr">
            <a:spAutoFit/>
          </a:bodyPr>
          <a:lstStyle/>
          <a:p>
            <a:pPr algn="l">
              <a:spcAft>
                <a:spcPts val="400"/>
              </a:spcAft>
            </a:pPr>
            <a:r>
              <a:rPr sz="1200" b="0" i="0">
                <a:solidFill>
                  <a:srgbClr val="CADCFC"/>
                </a:solidFill>
                <a:latin typeface="Calibri"/>
              </a:rPr>
              <a:t>Self-adaptive risk persona</a:t>
            </a:r>
          </a:p>
        </p:txBody>
      </p:sp>
      <p:sp>
        <p:nvSpPr>
          <p:cNvPr id="17" name="TextBox 16"/>
          <p:cNvSpPr txBox="1"/>
          <p:nvPr/>
        </p:nvSpPr>
        <p:spPr>
          <a:xfrm>
            <a:off x="6583680" y="283464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Only a static risk-seeking line ships</a:t>
            </a:r>
          </a:p>
        </p:txBody>
      </p:sp>
      <p:sp>
        <p:nvSpPr>
          <p:cNvPr id="18" name="Rectangle 17"/>
          <p:cNvSpPr/>
          <p:nvPr/>
        </p:nvSpPr>
        <p:spPr>
          <a:xfrm>
            <a:off x="548640" y="3383280"/>
            <a:ext cx="11091672" cy="548640"/>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38328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F2</a:t>
            </a:r>
          </a:p>
        </p:txBody>
      </p:sp>
      <p:sp>
        <p:nvSpPr>
          <p:cNvPr id="20" name="TextBox 19"/>
          <p:cNvSpPr txBox="1"/>
          <p:nvPr/>
        </p:nvSpPr>
        <p:spPr>
          <a:xfrm>
            <a:off x="1828800" y="3383280"/>
            <a:ext cx="4572000" cy="548640"/>
          </a:xfrm>
          <a:prstGeom prst="rect">
            <a:avLst/>
          </a:prstGeom>
          <a:noFill/>
        </p:spPr>
        <p:txBody>
          <a:bodyPr wrap="square" lIns="45720" tIns="18288" rIns="45720" bIns="18288" anchor="ctr">
            <a:spAutoFit/>
          </a:bodyPr>
          <a:lstStyle/>
          <a:p>
            <a:pPr algn="l">
              <a:spcAft>
                <a:spcPts val="400"/>
              </a:spcAft>
            </a:pPr>
            <a:r>
              <a:rPr sz="1200" b="0" i="0">
                <a:solidFill>
                  <a:srgbClr val="CADCFC"/>
                </a:solidFill>
                <a:latin typeface="Calibri"/>
              </a:rPr>
              <a:t>Deep memory retains key info</a:t>
            </a:r>
          </a:p>
        </p:txBody>
      </p:sp>
      <p:sp>
        <p:nvSpPr>
          <p:cNvPr id="21" name="TextBox 20"/>
          <p:cNvSpPr txBox="1"/>
          <p:nvPr/>
        </p:nvSpPr>
        <p:spPr>
          <a:xfrm>
            <a:off x="6583680" y="338328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3-day revolving door - zero filings kept</a:t>
            </a:r>
          </a:p>
        </p:txBody>
      </p:sp>
      <p:sp>
        <p:nvSpPr>
          <p:cNvPr id="22" name="Rectangle 21"/>
          <p:cNvSpPr/>
          <p:nvPr/>
        </p:nvSpPr>
        <p:spPr>
          <a:xfrm>
            <a:off x="548640" y="3931920"/>
            <a:ext cx="11091672" cy="548640"/>
          </a:xfrm>
          <a:prstGeom prst="rect">
            <a:avLst/>
          </a:prstGeom>
          <a:solidFill>
            <a:srgbClr val="2B3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93192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D20</a:t>
            </a:r>
          </a:p>
        </p:txBody>
      </p:sp>
      <p:sp>
        <p:nvSpPr>
          <p:cNvPr id="24" name="TextBox 23"/>
          <p:cNvSpPr txBox="1"/>
          <p:nvPr/>
        </p:nvSpPr>
        <p:spPr>
          <a:xfrm>
            <a:off x="1828800" y="3931920"/>
            <a:ext cx="4572000" cy="548640"/>
          </a:xfrm>
          <a:prstGeom prst="rect">
            <a:avLst/>
          </a:prstGeom>
          <a:noFill/>
        </p:spPr>
        <p:txBody>
          <a:bodyPr wrap="square" lIns="45720" tIns="18288" rIns="45720" bIns="18288" anchor="ctr">
            <a:spAutoFit/>
          </a:bodyPr>
          <a:lstStyle/>
          <a:p>
            <a:pPr algn="l">
              <a:spcAft>
                <a:spcPts val="400"/>
              </a:spcAft>
            </a:pPr>
            <a:r>
              <a:rPr sz="1200" b="0" i="0">
                <a:solidFill>
                  <a:srgbClr val="CADCFC"/>
                </a:solidFill>
                <a:latin typeface="Calibri"/>
              </a:rPr>
              <a:t>Shallow decay Q = 14 (justified)</a:t>
            </a:r>
          </a:p>
        </p:txBody>
      </p:sp>
      <p:sp>
        <p:nvSpPr>
          <p:cNvPr id="25" name="TextBox 24"/>
          <p:cNvSpPr txBox="1"/>
          <p:nvPr/>
        </p:nvSpPr>
        <p:spPr>
          <a:xfrm>
            <a:off x="6583680" y="393192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Repo ships Q = 3</a:t>
            </a:r>
          </a:p>
        </p:txBody>
      </p:sp>
      <p:sp>
        <p:nvSpPr>
          <p:cNvPr id="26" name="Rectangle 25"/>
          <p:cNvSpPr/>
          <p:nvPr/>
        </p:nvSpPr>
        <p:spPr>
          <a:xfrm>
            <a:off x="548640" y="4480560"/>
            <a:ext cx="11091672" cy="548640"/>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448056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a:t>
            </a:r>
          </a:p>
        </p:txBody>
      </p:sp>
      <p:sp>
        <p:nvSpPr>
          <p:cNvPr id="28" name="TextBox 27"/>
          <p:cNvSpPr txBox="1"/>
          <p:nvPr/>
        </p:nvSpPr>
        <p:spPr>
          <a:xfrm>
            <a:off x="1828800" y="4480560"/>
            <a:ext cx="4572000" cy="548640"/>
          </a:xfrm>
          <a:prstGeom prst="rect">
            <a:avLst/>
          </a:prstGeom>
          <a:noFill/>
        </p:spPr>
        <p:txBody>
          <a:bodyPr wrap="square" lIns="45720" tIns="18288" rIns="45720" bIns="18288" anchor="ctr">
            <a:spAutoFit/>
          </a:bodyPr>
          <a:lstStyle/>
          <a:p>
            <a:pPr algn="l">
              <a:spcAft>
                <a:spcPts val="400"/>
              </a:spcAft>
            </a:pPr>
            <a:r>
              <a:rPr sz="1200" b="0" i="0">
                <a:solidFill>
                  <a:srgbClr val="CADCFC"/>
                </a:solidFill>
                <a:latin typeface="Calibri"/>
              </a:rPr>
              <a:t>Long-only narrative</a:t>
            </a:r>
          </a:p>
        </p:txBody>
      </p:sp>
      <p:sp>
        <p:nvSpPr>
          <p:cNvPr id="29" name="TextBox 28"/>
          <p:cNvSpPr txBox="1"/>
          <p:nvPr/>
        </p:nvSpPr>
        <p:spPr>
          <a:xfrm>
            <a:off x="6583680" y="448056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Sell opens a costless short</a:t>
            </a:r>
          </a:p>
        </p:txBody>
      </p:sp>
      <p:sp>
        <p:nvSpPr>
          <p:cNvPr id="30" name="Rectangle 29"/>
          <p:cNvSpPr/>
          <p:nvPr/>
        </p:nvSpPr>
        <p:spPr>
          <a:xfrm>
            <a:off x="548640" y="5029200"/>
            <a:ext cx="11091672" cy="548640"/>
          </a:xfrm>
          <a:prstGeom prst="rect">
            <a:avLst/>
          </a:prstGeom>
          <a:solidFill>
            <a:srgbClr val="2B3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02920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a:t>
            </a:r>
          </a:p>
        </p:txBody>
      </p:sp>
      <p:sp>
        <p:nvSpPr>
          <p:cNvPr id="32" name="TextBox 31"/>
          <p:cNvSpPr txBox="1"/>
          <p:nvPr/>
        </p:nvSpPr>
        <p:spPr>
          <a:xfrm>
            <a:off x="1828800" y="5029200"/>
            <a:ext cx="4572000" cy="548640"/>
          </a:xfrm>
          <a:prstGeom prst="rect">
            <a:avLst/>
          </a:prstGeom>
          <a:noFill/>
        </p:spPr>
        <p:txBody>
          <a:bodyPr wrap="square" lIns="45720" tIns="18288" rIns="45720" bIns="18288" anchor="ctr">
            <a:spAutoFit/>
          </a:bodyPr>
          <a:lstStyle/>
          <a:p>
            <a:pPr algn="l">
              <a:spcAft>
                <a:spcPts val="400"/>
              </a:spcAft>
            </a:pPr>
            <a:r>
              <a:rPr sz="1200" b="0" i="0">
                <a:solidFill>
                  <a:srgbClr val="CADCFC"/>
                </a:solidFill>
                <a:latin typeface="Calibri"/>
              </a:rPr>
              <a:t>10-K/10-Q inform decisions</a:t>
            </a:r>
          </a:p>
        </p:txBody>
      </p:sp>
      <p:sp>
        <p:nvSpPr>
          <p:cNvPr id="33" name="TextBox 32"/>
          <p:cNvSpPr txBox="1"/>
          <p:nvPr/>
        </p:nvSpPr>
        <p:spPr>
          <a:xfrm>
            <a:off x="6583680" y="502920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Filings before the window never ingested</a:t>
            </a:r>
          </a:p>
        </p:txBody>
      </p:sp>
      <p:sp>
        <p:nvSpPr>
          <p:cNvPr id="34" name="Rectangle 33"/>
          <p:cNvSpPr/>
          <p:nvPr/>
        </p:nvSpPr>
        <p:spPr>
          <a:xfrm>
            <a:off x="548640" y="5577840"/>
            <a:ext cx="11091672" cy="548640"/>
          </a:xfrm>
          <a:prstGeom prst="rect">
            <a:avLst/>
          </a:prstGeom>
          <a:solidFill>
            <a:srgbClr val="242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5577840"/>
            <a:ext cx="1097280" cy="548640"/>
          </a:xfrm>
          <a:prstGeom prst="rect">
            <a:avLst/>
          </a:prstGeom>
          <a:noFill/>
        </p:spPr>
        <p:txBody>
          <a:bodyPr wrap="square" lIns="45720" tIns="18288" rIns="45720" bIns="18288" anchor="ctr">
            <a:spAutoFit/>
          </a:bodyPr>
          <a:lstStyle/>
          <a:p>
            <a:pPr algn="l">
              <a:spcAft>
                <a:spcPts val="400"/>
              </a:spcAft>
            </a:pPr>
            <a:r>
              <a:rPr sz="1200" b="1" i="0">
                <a:solidFill>
                  <a:srgbClr val="02C39A"/>
                </a:solidFill>
                <a:latin typeface="Calibri"/>
              </a:rPr>
              <a:t>-</a:t>
            </a:r>
          </a:p>
        </p:txBody>
      </p:sp>
      <p:sp>
        <p:nvSpPr>
          <p:cNvPr id="36" name="TextBox 35"/>
          <p:cNvSpPr txBox="1"/>
          <p:nvPr/>
        </p:nvSpPr>
        <p:spPr>
          <a:xfrm>
            <a:off x="1828800" y="5577840"/>
            <a:ext cx="4572000" cy="548640"/>
          </a:xfrm>
          <a:prstGeom prst="rect">
            <a:avLst/>
          </a:prstGeom>
          <a:noFill/>
        </p:spPr>
        <p:txBody>
          <a:bodyPr wrap="square" lIns="45720" tIns="18288" rIns="45720" bIns="18288" anchor="ctr">
            <a:spAutoFit/>
          </a:bodyPr>
          <a:lstStyle/>
          <a:p>
            <a:pPr algn="l">
              <a:spcAft>
                <a:spcPts val="400"/>
              </a:spcAft>
            </a:pPr>
            <a:r>
              <a:rPr sz="1200" b="0" i="0">
                <a:solidFill>
                  <a:srgbClr val="CADCFC"/>
                </a:solidFill>
                <a:latin typeface="Calibri"/>
              </a:rPr>
              <a:t>Momentum window as described</a:t>
            </a:r>
          </a:p>
        </p:txBody>
      </p:sp>
      <p:sp>
        <p:nvSpPr>
          <p:cNvPr id="37" name="TextBox 36"/>
          <p:cNvSpPr txBox="1"/>
          <p:nvPr/>
        </p:nvSpPr>
        <p:spPr>
          <a:xfrm>
            <a:off x="6583680" y="5577840"/>
            <a:ext cx="4937760" cy="548640"/>
          </a:xfrm>
          <a:prstGeom prst="rect">
            <a:avLst/>
          </a:prstGeom>
          <a:noFill/>
        </p:spPr>
        <p:txBody>
          <a:bodyPr wrap="square" lIns="45720" tIns="18288" rIns="45720" bIns="18288" anchor="ctr">
            <a:spAutoFit/>
          </a:bodyPr>
          <a:lstStyle/>
          <a:p>
            <a:pPr algn="l">
              <a:spcAft>
                <a:spcPts val="400"/>
              </a:spcAft>
            </a:pPr>
            <a:r>
              <a:rPr sz="1200" b="0" i="0">
                <a:solidFill>
                  <a:srgbClr val="FFFFFF"/>
                </a:solidFill>
                <a:latin typeface="Calibri"/>
              </a:rPr>
              <a:t>Hard-coded 3-day vs 7-day, inconsistent</a:t>
            </a:r>
          </a:p>
        </p:txBody>
      </p:sp>
      <p:sp>
        <p:nvSpPr>
          <p:cNvPr id="38" name="TextBox 37"/>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CADCFC"/>
                </a:solidFill>
                <a:latin typeface="Calibri"/>
              </a:rPr>
              <a:t>FinMem - Implementation  -  Shoshan &amp; Sagi</a:t>
            </a:r>
          </a:p>
        </p:txBody>
      </p:sp>
      <p:sp>
        <p:nvSpPr>
          <p:cNvPr id="39" name="TextBox 38"/>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endParaRPr/>
          </a:p>
        </p:txBody>
      </p:sp>
    </p:spTree>
    <p:extLst>
      <p:ext uri="{BB962C8B-B14F-4D97-AF65-F5344CB8AC3E}">
        <p14:creationId xmlns:p14="http://schemas.microsoft.com/office/powerpoint/2010/main" val="2836975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74320"/>
          </a:xfrm>
          <a:prstGeom prst="rect">
            <a:avLst/>
          </a:prstGeom>
          <a:noFill/>
        </p:spPr>
        <p:txBody>
          <a:bodyPr wrap="square" lIns="45720" tIns="18288" rIns="45720" bIns="18288" anchor="t">
            <a:spAutoFit/>
          </a:bodyPr>
          <a:lstStyle/>
          <a:p>
            <a:pPr algn="l">
              <a:spcAft>
                <a:spcPts val="400"/>
              </a:spcAft>
            </a:pPr>
            <a:r>
              <a:rPr sz="1200" b="1" i="0">
                <a:solidFill>
                  <a:srgbClr val="1C7293"/>
                </a:solidFill>
                <a:latin typeface="Calibri"/>
              </a:rPr>
              <a:t>RESULTS</a:t>
            </a:r>
          </a:p>
        </p:txBody>
      </p:sp>
      <p:sp>
        <p:nvSpPr>
          <p:cNvPr id="4" name="TextBox 3"/>
          <p:cNvSpPr txBox="1"/>
          <p:nvPr/>
        </p:nvSpPr>
        <p:spPr>
          <a:xfrm>
            <a:off x="548640" y="548640"/>
            <a:ext cx="11064240" cy="777240"/>
          </a:xfrm>
          <a:prstGeom prst="rect">
            <a:avLst/>
          </a:prstGeom>
          <a:noFill/>
        </p:spPr>
        <p:txBody>
          <a:bodyPr wrap="square" lIns="45720" tIns="18288" rIns="45720" bIns="18288" anchor="t">
            <a:spAutoFit/>
          </a:bodyPr>
          <a:lstStyle/>
          <a:p>
            <a:pPr algn="l">
              <a:spcAft>
                <a:spcPts val="400"/>
              </a:spcAft>
            </a:pPr>
            <a:r>
              <a:rPr sz="2900" b="1" i="0">
                <a:solidFill>
                  <a:srgbClr val="21295C"/>
                </a:solidFill>
                <a:latin typeface="Cambria"/>
              </a:rPr>
              <a:t>Headline results - leakage-free, costs included</a:t>
            </a:r>
          </a:p>
        </p:txBody>
      </p:sp>
      <p:sp>
        <p:nvSpPr>
          <p:cNvPr id="5" name="TextBox 4"/>
          <p:cNvSpPr txBox="1"/>
          <p:nvPr/>
        </p:nvSpPr>
        <p:spPr>
          <a:xfrm>
            <a:off x="548640" y="1280160"/>
            <a:ext cx="11064240" cy="320040"/>
          </a:xfrm>
          <a:prstGeom prst="rect">
            <a:avLst/>
          </a:prstGeom>
          <a:noFill/>
        </p:spPr>
        <p:txBody>
          <a:bodyPr wrap="square" lIns="45720" tIns="18288" rIns="45720" bIns="18288" anchor="t">
            <a:spAutoFit/>
          </a:bodyPr>
          <a:lstStyle/>
          <a:p>
            <a:pPr algn="l">
              <a:spcAft>
                <a:spcPts val="400"/>
              </a:spcAft>
            </a:pPr>
            <a:r>
              <a:rPr sz="1200" b="0" i="0">
                <a:solidFill>
                  <a:srgbClr val="64748B"/>
                </a:solidFill>
                <a:latin typeface="Calibri"/>
              </a:rPr>
              <a:t>Cumulative return over the test window (Jan-Jun 2026), unit long-only, full-window pricing. Four strategies.</a:t>
            </a:r>
          </a:p>
        </p:txBody>
      </p:sp>
      <p:sp>
        <p:nvSpPr>
          <p:cNvPr id="49" name="TextBox 48"/>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50" name="TextBox 49"/>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endParaRPr/>
          </a:p>
        </p:txBody>
      </p:sp>
      <p:sp>
        <p:nvSpPr>
          <p:cNvPr id="51" name="Rectangle 50"/>
          <p:cNvSpPr/>
          <p:nvPr/>
        </p:nvSpPr>
        <p:spPr>
          <a:xfrm>
            <a:off x="548640" y="1627632"/>
            <a:ext cx="1088136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21792" y="1627632"/>
            <a:ext cx="1280160" cy="502920"/>
          </a:xfrm>
          <a:prstGeom prst="rect">
            <a:avLst/>
          </a:prstGeom>
          <a:noFill/>
        </p:spPr>
        <p:txBody>
          <a:bodyPr wrap="square" anchor="ctr">
            <a:spAutoFit/>
          </a:bodyPr>
          <a:lstStyle/>
          <a:p>
            <a:pPr algn="l"/>
            <a:r>
              <a:rPr sz="1300" b="1">
                <a:solidFill>
                  <a:srgbClr val="FFFFFF"/>
                </a:solidFill>
                <a:latin typeface="Calibri"/>
              </a:rPr>
              <a:t>Ticker</a:t>
            </a:r>
          </a:p>
        </p:txBody>
      </p:sp>
      <p:sp>
        <p:nvSpPr>
          <p:cNvPr id="53" name="TextBox 52"/>
          <p:cNvSpPr txBox="1"/>
          <p:nvPr/>
        </p:nvSpPr>
        <p:spPr>
          <a:xfrm>
            <a:off x="1993392" y="1627632"/>
            <a:ext cx="1737360" cy="502920"/>
          </a:xfrm>
          <a:prstGeom prst="rect">
            <a:avLst/>
          </a:prstGeom>
          <a:noFill/>
        </p:spPr>
        <p:txBody>
          <a:bodyPr wrap="square" anchor="ctr">
            <a:spAutoFit/>
          </a:bodyPr>
          <a:lstStyle/>
          <a:p>
            <a:pPr algn="l"/>
            <a:r>
              <a:rPr sz="1300" b="1">
                <a:solidFill>
                  <a:srgbClr val="FFFFFF"/>
                </a:solidFill>
                <a:latin typeface="Calibri"/>
              </a:rPr>
              <a:t>FinMem-Ours</a:t>
            </a:r>
          </a:p>
        </p:txBody>
      </p:sp>
      <p:sp>
        <p:nvSpPr>
          <p:cNvPr id="54" name="TextBox 53"/>
          <p:cNvSpPr txBox="1"/>
          <p:nvPr/>
        </p:nvSpPr>
        <p:spPr>
          <a:xfrm>
            <a:off x="3822191" y="1627632"/>
            <a:ext cx="1737360" cy="502920"/>
          </a:xfrm>
          <a:prstGeom prst="rect">
            <a:avLst/>
          </a:prstGeom>
          <a:noFill/>
        </p:spPr>
        <p:txBody>
          <a:bodyPr wrap="square" anchor="ctr">
            <a:spAutoFit/>
          </a:bodyPr>
          <a:lstStyle/>
          <a:p>
            <a:pPr algn="l"/>
            <a:r>
              <a:rPr sz="1300" b="1">
                <a:solidFill>
                  <a:srgbClr val="FFFFFF"/>
                </a:solidFill>
                <a:latin typeface="Calibri"/>
              </a:rPr>
              <a:t>No-memory</a:t>
            </a:r>
          </a:p>
        </p:txBody>
      </p:sp>
      <p:sp>
        <p:nvSpPr>
          <p:cNvPr id="55" name="TextBox 54"/>
          <p:cNvSpPr txBox="1"/>
          <p:nvPr/>
        </p:nvSpPr>
        <p:spPr>
          <a:xfrm>
            <a:off x="5650992" y="1627632"/>
            <a:ext cx="1737360" cy="502920"/>
          </a:xfrm>
          <a:prstGeom prst="rect">
            <a:avLst/>
          </a:prstGeom>
          <a:noFill/>
        </p:spPr>
        <p:txBody>
          <a:bodyPr wrap="square" anchor="ctr">
            <a:spAutoFit/>
          </a:bodyPr>
          <a:lstStyle/>
          <a:p>
            <a:pPr algn="l"/>
            <a:r>
              <a:rPr sz="1300" b="1">
                <a:solidFill>
                  <a:srgbClr val="FFFFFF"/>
                </a:solidFill>
                <a:latin typeface="Calibri"/>
              </a:rPr>
              <a:t>LC-Trader</a:t>
            </a:r>
          </a:p>
        </p:txBody>
      </p:sp>
      <p:sp>
        <p:nvSpPr>
          <p:cNvPr id="56" name="TextBox 55"/>
          <p:cNvSpPr txBox="1"/>
          <p:nvPr/>
        </p:nvSpPr>
        <p:spPr>
          <a:xfrm>
            <a:off x="7479792" y="1627632"/>
            <a:ext cx="1737360" cy="502920"/>
          </a:xfrm>
          <a:prstGeom prst="rect">
            <a:avLst/>
          </a:prstGeom>
          <a:noFill/>
        </p:spPr>
        <p:txBody>
          <a:bodyPr wrap="square" anchor="ctr">
            <a:spAutoFit/>
          </a:bodyPr>
          <a:lstStyle/>
          <a:p>
            <a:pPr algn="l"/>
            <a:r>
              <a:rPr sz="1300" b="1">
                <a:solidFill>
                  <a:srgbClr val="FFFFFF"/>
                </a:solidFill>
                <a:latin typeface="Calibri"/>
              </a:rPr>
              <a:t>Buy &amp; Hold</a:t>
            </a:r>
          </a:p>
        </p:txBody>
      </p:sp>
      <p:sp>
        <p:nvSpPr>
          <p:cNvPr id="57" name="TextBox 56"/>
          <p:cNvSpPr txBox="1"/>
          <p:nvPr/>
        </p:nvSpPr>
        <p:spPr>
          <a:xfrm>
            <a:off x="9308592" y="1627632"/>
            <a:ext cx="2103120" cy="502920"/>
          </a:xfrm>
          <a:prstGeom prst="rect">
            <a:avLst/>
          </a:prstGeom>
          <a:noFill/>
        </p:spPr>
        <p:txBody>
          <a:bodyPr wrap="square" anchor="ctr">
            <a:spAutoFit/>
          </a:bodyPr>
          <a:lstStyle/>
          <a:p>
            <a:pPr algn="l"/>
            <a:r>
              <a:rPr sz="1300" b="1">
                <a:solidFill>
                  <a:srgbClr val="FFFFFF"/>
                </a:solidFill>
                <a:latin typeface="Calibri"/>
              </a:rPr>
              <a:t>Winner</a:t>
            </a:r>
          </a:p>
        </p:txBody>
      </p:sp>
      <p:sp>
        <p:nvSpPr>
          <p:cNvPr id="58" name="Rectangle 57"/>
          <p:cNvSpPr/>
          <p:nvPr/>
        </p:nvSpPr>
        <p:spPr>
          <a:xfrm>
            <a:off x="548640" y="2130552"/>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1792" y="2130552"/>
            <a:ext cx="1280160" cy="502920"/>
          </a:xfrm>
          <a:prstGeom prst="rect">
            <a:avLst/>
          </a:prstGeom>
          <a:noFill/>
        </p:spPr>
        <p:txBody>
          <a:bodyPr wrap="square" anchor="ctr">
            <a:spAutoFit/>
          </a:bodyPr>
          <a:lstStyle/>
          <a:p>
            <a:pPr algn="l"/>
            <a:r>
              <a:rPr sz="1400" b="1">
                <a:solidFill>
                  <a:srgbClr val="1E293B"/>
                </a:solidFill>
                <a:latin typeface="Calibri"/>
              </a:rPr>
              <a:t>TSLA</a:t>
            </a:r>
          </a:p>
        </p:txBody>
      </p:sp>
      <p:sp>
        <p:nvSpPr>
          <p:cNvPr id="60" name="TextBox 59"/>
          <p:cNvSpPr txBox="1"/>
          <p:nvPr/>
        </p:nvSpPr>
        <p:spPr>
          <a:xfrm>
            <a:off x="1993392" y="2130552"/>
            <a:ext cx="1737360" cy="502920"/>
          </a:xfrm>
          <a:prstGeom prst="rect">
            <a:avLst/>
          </a:prstGeom>
          <a:noFill/>
        </p:spPr>
        <p:txBody>
          <a:bodyPr wrap="square" anchor="ctr">
            <a:spAutoFit/>
          </a:bodyPr>
          <a:lstStyle/>
          <a:p>
            <a:pPr algn="l"/>
            <a:r>
              <a:rPr sz="1400" b="0">
                <a:solidFill>
                  <a:srgbClr val="E24B4A"/>
                </a:solidFill>
                <a:latin typeface="Calibri"/>
              </a:rPr>
              <a:t>-23.1%</a:t>
            </a:r>
          </a:p>
        </p:txBody>
      </p:sp>
      <p:sp>
        <p:nvSpPr>
          <p:cNvPr id="61" name="TextBox 60"/>
          <p:cNvSpPr txBox="1"/>
          <p:nvPr/>
        </p:nvSpPr>
        <p:spPr>
          <a:xfrm>
            <a:off x="3822191" y="2130552"/>
            <a:ext cx="1737360" cy="502920"/>
          </a:xfrm>
          <a:prstGeom prst="rect">
            <a:avLst/>
          </a:prstGeom>
          <a:noFill/>
        </p:spPr>
        <p:txBody>
          <a:bodyPr wrap="square" anchor="ctr">
            <a:spAutoFit/>
          </a:bodyPr>
          <a:lstStyle/>
          <a:p>
            <a:pPr algn="l"/>
            <a:r>
              <a:rPr sz="1400" b="0">
                <a:solidFill>
                  <a:srgbClr val="E24B4A"/>
                </a:solidFill>
                <a:latin typeface="Calibri"/>
              </a:rPr>
              <a:t>-5.5%</a:t>
            </a:r>
          </a:p>
        </p:txBody>
      </p:sp>
      <p:sp>
        <p:nvSpPr>
          <p:cNvPr id="62" name="TextBox 61"/>
          <p:cNvSpPr txBox="1"/>
          <p:nvPr/>
        </p:nvSpPr>
        <p:spPr>
          <a:xfrm>
            <a:off x="5650992" y="2130552"/>
            <a:ext cx="1737360" cy="502920"/>
          </a:xfrm>
          <a:prstGeom prst="rect">
            <a:avLst/>
          </a:prstGeom>
          <a:noFill/>
        </p:spPr>
        <p:txBody>
          <a:bodyPr wrap="square" anchor="ctr">
            <a:spAutoFit/>
          </a:bodyPr>
          <a:lstStyle/>
          <a:p>
            <a:pPr algn="l"/>
            <a:r>
              <a:rPr sz="1400" b="0">
                <a:solidFill>
                  <a:srgbClr val="E24B4A"/>
                </a:solidFill>
                <a:latin typeface="Calibri"/>
              </a:rPr>
              <a:t>-7.9%</a:t>
            </a:r>
          </a:p>
        </p:txBody>
      </p:sp>
      <p:sp>
        <p:nvSpPr>
          <p:cNvPr id="63" name="TextBox 62"/>
          <p:cNvSpPr txBox="1"/>
          <p:nvPr/>
        </p:nvSpPr>
        <p:spPr>
          <a:xfrm>
            <a:off x="7479792" y="2130552"/>
            <a:ext cx="1737360" cy="502920"/>
          </a:xfrm>
          <a:prstGeom prst="rect">
            <a:avLst/>
          </a:prstGeom>
          <a:noFill/>
        </p:spPr>
        <p:txBody>
          <a:bodyPr wrap="square" anchor="ctr">
            <a:spAutoFit/>
          </a:bodyPr>
          <a:lstStyle/>
          <a:p>
            <a:pPr algn="l"/>
            <a:r>
              <a:rPr sz="1400" b="0">
                <a:solidFill>
                  <a:srgbClr val="E24B4A"/>
                </a:solidFill>
                <a:latin typeface="Calibri"/>
              </a:rPr>
              <a:t>-5.1%</a:t>
            </a:r>
          </a:p>
        </p:txBody>
      </p:sp>
      <p:sp>
        <p:nvSpPr>
          <p:cNvPr id="64" name="TextBox 63"/>
          <p:cNvSpPr txBox="1"/>
          <p:nvPr/>
        </p:nvSpPr>
        <p:spPr>
          <a:xfrm>
            <a:off x="9308592" y="2130552"/>
            <a:ext cx="2103120" cy="502920"/>
          </a:xfrm>
          <a:prstGeom prst="rect">
            <a:avLst/>
          </a:prstGeom>
          <a:noFill/>
        </p:spPr>
        <p:txBody>
          <a:bodyPr wrap="square" anchor="ctr">
            <a:spAutoFit/>
          </a:bodyPr>
          <a:lstStyle/>
          <a:p>
            <a:pPr algn="l"/>
            <a:r>
              <a:rPr sz="1400" b="1">
                <a:solidFill>
                  <a:srgbClr val="64748B"/>
                </a:solidFill>
                <a:latin typeface="Calibri"/>
              </a:rPr>
              <a:t>B&amp;H</a:t>
            </a:r>
          </a:p>
        </p:txBody>
      </p:sp>
      <p:sp>
        <p:nvSpPr>
          <p:cNvPr id="65" name="Rectangle 64"/>
          <p:cNvSpPr/>
          <p:nvPr/>
        </p:nvSpPr>
        <p:spPr>
          <a:xfrm>
            <a:off x="548640" y="2633472"/>
            <a:ext cx="10881360"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21792" y="2633472"/>
            <a:ext cx="1280160" cy="502920"/>
          </a:xfrm>
          <a:prstGeom prst="rect">
            <a:avLst/>
          </a:prstGeom>
          <a:noFill/>
        </p:spPr>
        <p:txBody>
          <a:bodyPr wrap="square" anchor="ctr">
            <a:spAutoFit/>
          </a:bodyPr>
          <a:lstStyle/>
          <a:p>
            <a:pPr algn="l"/>
            <a:r>
              <a:rPr sz="1400" b="1">
                <a:solidFill>
                  <a:srgbClr val="1E293B"/>
                </a:solidFill>
                <a:latin typeface="Calibri"/>
              </a:rPr>
              <a:t>NFLX</a:t>
            </a:r>
          </a:p>
        </p:txBody>
      </p:sp>
      <p:sp>
        <p:nvSpPr>
          <p:cNvPr id="67" name="TextBox 66"/>
          <p:cNvSpPr txBox="1"/>
          <p:nvPr/>
        </p:nvSpPr>
        <p:spPr>
          <a:xfrm>
            <a:off x="1993392" y="2633472"/>
            <a:ext cx="1737360" cy="502920"/>
          </a:xfrm>
          <a:prstGeom prst="rect">
            <a:avLst/>
          </a:prstGeom>
          <a:noFill/>
        </p:spPr>
        <p:txBody>
          <a:bodyPr wrap="square" anchor="ctr">
            <a:spAutoFit/>
          </a:bodyPr>
          <a:lstStyle/>
          <a:p>
            <a:pPr algn="l"/>
            <a:r>
              <a:rPr sz="1400" b="0">
                <a:solidFill>
                  <a:srgbClr val="02C39A"/>
                </a:solidFill>
                <a:latin typeface="Calibri"/>
              </a:rPr>
              <a:t>+3.8%</a:t>
            </a:r>
          </a:p>
        </p:txBody>
      </p:sp>
      <p:sp>
        <p:nvSpPr>
          <p:cNvPr id="68" name="TextBox 67"/>
          <p:cNvSpPr txBox="1"/>
          <p:nvPr/>
        </p:nvSpPr>
        <p:spPr>
          <a:xfrm>
            <a:off x="3822191" y="2633472"/>
            <a:ext cx="1737360" cy="502920"/>
          </a:xfrm>
          <a:prstGeom prst="rect">
            <a:avLst/>
          </a:prstGeom>
          <a:noFill/>
        </p:spPr>
        <p:txBody>
          <a:bodyPr wrap="square" anchor="ctr">
            <a:spAutoFit/>
          </a:bodyPr>
          <a:lstStyle/>
          <a:p>
            <a:pPr algn="l"/>
            <a:r>
              <a:rPr sz="1400" b="0">
                <a:solidFill>
                  <a:srgbClr val="02C39A"/>
                </a:solidFill>
                <a:latin typeface="Calibri"/>
              </a:rPr>
              <a:t>+19.8%</a:t>
            </a:r>
          </a:p>
        </p:txBody>
      </p:sp>
      <p:sp>
        <p:nvSpPr>
          <p:cNvPr id="69" name="TextBox 68"/>
          <p:cNvSpPr txBox="1"/>
          <p:nvPr/>
        </p:nvSpPr>
        <p:spPr>
          <a:xfrm>
            <a:off x="5650992" y="2633472"/>
            <a:ext cx="1737360" cy="502920"/>
          </a:xfrm>
          <a:prstGeom prst="rect">
            <a:avLst/>
          </a:prstGeom>
          <a:noFill/>
        </p:spPr>
        <p:txBody>
          <a:bodyPr wrap="square" anchor="ctr">
            <a:spAutoFit/>
          </a:bodyPr>
          <a:lstStyle/>
          <a:p>
            <a:pPr algn="l"/>
            <a:r>
              <a:rPr sz="1400" b="0">
                <a:solidFill>
                  <a:srgbClr val="02C39A"/>
                </a:solidFill>
                <a:latin typeface="Calibri"/>
              </a:rPr>
              <a:t>+2.1%</a:t>
            </a:r>
          </a:p>
        </p:txBody>
      </p:sp>
      <p:sp>
        <p:nvSpPr>
          <p:cNvPr id="70" name="TextBox 69"/>
          <p:cNvSpPr txBox="1"/>
          <p:nvPr/>
        </p:nvSpPr>
        <p:spPr>
          <a:xfrm>
            <a:off x="7479792" y="2633472"/>
            <a:ext cx="1737360" cy="502920"/>
          </a:xfrm>
          <a:prstGeom prst="rect">
            <a:avLst/>
          </a:prstGeom>
          <a:noFill/>
        </p:spPr>
        <p:txBody>
          <a:bodyPr wrap="square" anchor="ctr">
            <a:spAutoFit/>
          </a:bodyPr>
          <a:lstStyle/>
          <a:p>
            <a:pPr algn="l"/>
            <a:r>
              <a:rPr sz="1400" b="0">
                <a:solidFill>
                  <a:srgbClr val="E24B4A"/>
                </a:solidFill>
                <a:latin typeface="Calibri"/>
              </a:rPr>
              <a:t>-5.6%</a:t>
            </a:r>
          </a:p>
        </p:txBody>
      </p:sp>
      <p:sp>
        <p:nvSpPr>
          <p:cNvPr id="71" name="TextBox 70"/>
          <p:cNvSpPr txBox="1"/>
          <p:nvPr/>
        </p:nvSpPr>
        <p:spPr>
          <a:xfrm>
            <a:off x="9308592" y="2633472"/>
            <a:ext cx="2103120" cy="502920"/>
          </a:xfrm>
          <a:prstGeom prst="rect">
            <a:avLst/>
          </a:prstGeom>
          <a:noFill/>
        </p:spPr>
        <p:txBody>
          <a:bodyPr wrap="square" anchor="ctr">
            <a:spAutoFit/>
          </a:bodyPr>
          <a:lstStyle/>
          <a:p>
            <a:pPr algn="l"/>
            <a:r>
              <a:rPr sz="1400" b="1">
                <a:solidFill>
                  <a:srgbClr val="EF9F27"/>
                </a:solidFill>
                <a:latin typeface="Calibri"/>
              </a:rPr>
              <a:t>No-mem</a:t>
            </a:r>
          </a:p>
        </p:txBody>
      </p:sp>
      <p:sp>
        <p:nvSpPr>
          <p:cNvPr id="72" name="Rectangle 71"/>
          <p:cNvSpPr/>
          <p:nvPr/>
        </p:nvSpPr>
        <p:spPr>
          <a:xfrm>
            <a:off x="548640" y="3136391"/>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21792" y="3136391"/>
            <a:ext cx="1280160" cy="502920"/>
          </a:xfrm>
          <a:prstGeom prst="rect">
            <a:avLst/>
          </a:prstGeom>
          <a:noFill/>
        </p:spPr>
        <p:txBody>
          <a:bodyPr wrap="square" anchor="ctr">
            <a:spAutoFit/>
          </a:bodyPr>
          <a:lstStyle/>
          <a:p>
            <a:pPr algn="l"/>
            <a:r>
              <a:rPr sz="1400" b="1">
                <a:solidFill>
                  <a:srgbClr val="1E293B"/>
                </a:solidFill>
                <a:latin typeface="Calibri"/>
              </a:rPr>
              <a:t>AMZN</a:t>
            </a:r>
          </a:p>
        </p:txBody>
      </p:sp>
      <p:sp>
        <p:nvSpPr>
          <p:cNvPr id="74" name="TextBox 73"/>
          <p:cNvSpPr txBox="1"/>
          <p:nvPr/>
        </p:nvSpPr>
        <p:spPr>
          <a:xfrm>
            <a:off x="1993392" y="3136391"/>
            <a:ext cx="1737360" cy="502920"/>
          </a:xfrm>
          <a:prstGeom prst="rect">
            <a:avLst/>
          </a:prstGeom>
          <a:noFill/>
        </p:spPr>
        <p:txBody>
          <a:bodyPr wrap="square" anchor="ctr">
            <a:spAutoFit/>
          </a:bodyPr>
          <a:lstStyle/>
          <a:p>
            <a:pPr algn="l"/>
            <a:r>
              <a:rPr sz="1400" b="0">
                <a:solidFill>
                  <a:srgbClr val="02C39A"/>
                </a:solidFill>
                <a:latin typeface="Calibri"/>
              </a:rPr>
              <a:t>+15.5%</a:t>
            </a:r>
          </a:p>
        </p:txBody>
      </p:sp>
      <p:sp>
        <p:nvSpPr>
          <p:cNvPr id="75" name="TextBox 74"/>
          <p:cNvSpPr txBox="1"/>
          <p:nvPr/>
        </p:nvSpPr>
        <p:spPr>
          <a:xfrm>
            <a:off x="3822191" y="3136391"/>
            <a:ext cx="1737360" cy="502920"/>
          </a:xfrm>
          <a:prstGeom prst="rect">
            <a:avLst/>
          </a:prstGeom>
          <a:noFill/>
        </p:spPr>
        <p:txBody>
          <a:bodyPr wrap="square" anchor="ctr">
            <a:spAutoFit/>
          </a:bodyPr>
          <a:lstStyle/>
          <a:p>
            <a:pPr algn="l"/>
            <a:r>
              <a:rPr sz="1400" b="0">
                <a:solidFill>
                  <a:srgbClr val="02C39A"/>
                </a:solidFill>
                <a:latin typeface="Calibri"/>
              </a:rPr>
              <a:t>+24.5%</a:t>
            </a:r>
          </a:p>
        </p:txBody>
      </p:sp>
      <p:sp>
        <p:nvSpPr>
          <p:cNvPr id="76" name="TextBox 75"/>
          <p:cNvSpPr txBox="1"/>
          <p:nvPr/>
        </p:nvSpPr>
        <p:spPr>
          <a:xfrm>
            <a:off x="5650992" y="3136391"/>
            <a:ext cx="1737360" cy="502920"/>
          </a:xfrm>
          <a:prstGeom prst="rect">
            <a:avLst/>
          </a:prstGeom>
          <a:noFill/>
        </p:spPr>
        <p:txBody>
          <a:bodyPr wrap="square" anchor="ctr">
            <a:spAutoFit/>
          </a:bodyPr>
          <a:lstStyle/>
          <a:p>
            <a:pPr algn="l"/>
            <a:r>
              <a:rPr sz="1400" b="0">
                <a:solidFill>
                  <a:srgbClr val="02C39A"/>
                </a:solidFill>
                <a:latin typeface="Calibri"/>
              </a:rPr>
              <a:t>+15.3%</a:t>
            </a:r>
          </a:p>
        </p:txBody>
      </p:sp>
      <p:sp>
        <p:nvSpPr>
          <p:cNvPr id="77" name="TextBox 76"/>
          <p:cNvSpPr txBox="1"/>
          <p:nvPr/>
        </p:nvSpPr>
        <p:spPr>
          <a:xfrm>
            <a:off x="7479792" y="3136391"/>
            <a:ext cx="1737360" cy="502920"/>
          </a:xfrm>
          <a:prstGeom prst="rect">
            <a:avLst/>
          </a:prstGeom>
          <a:noFill/>
        </p:spPr>
        <p:txBody>
          <a:bodyPr wrap="square" anchor="ctr">
            <a:spAutoFit/>
          </a:bodyPr>
          <a:lstStyle/>
          <a:p>
            <a:pPr algn="l"/>
            <a:r>
              <a:rPr sz="1400" b="0">
                <a:solidFill>
                  <a:srgbClr val="02C39A"/>
                </a:solidFill>
                <a:latin typeface="Calibri"/>
              </a:rPr>
              <a:t>+15.3%</a:t>
            </a:r>
          </a:p>
        </p:txBody>
      </p:sp>
      <p:sp>
        <p:nvSpPr>
          <p:cNvPr id="78" name="TextBox 77"/>
          <p:cNvSpPr txBox="1"/>
          <p:nvPr/>
        </p:nvSpPr>
        <p:spPr>
          <a:xfrm>
            <a:off x="9308592" y="3136391"/>
            <a:ext cx="2103120" cy="502920"/>
          </a:xfrm>
          <a:prstGeom prst="rect">
            <a:avLst/>
          </a:prstGeom>
          <a:noFill/>
        </p:spPr>
        <p:txBody>
          <a:bodyPr wrap="square" anchor="ctr">
            <a:spAutoFit/>
          </a:bodyPr>
          <a:lstStyle/>
          <a:p>
            <a:pPr algn="l"/>
            <a:r>
              <a:rPr sz="1400" b="1">
                <a:solidFill>
                  <a:srgbClr val="EF9F27"/>
                </a:solidFill>
                <a:latin typeface="Calibri"/>
              </a:rPr>
              <a:t>No-mem</a:t>
            </a:r>
          </a:p>
        </p:txBody>
      </p:sp>
      <p:sp>
        <p:nvSpPr>
          <p:cNvPr id="79" name="Rectangle 78"/>
          <p:cNvSpPr/>
          <p:nvPr/>
        </p:nvSpPr>
        <p:spPr>
          <a:xfrm>
            <a:off x="548640" y="3639311"/>
            <a:ext cx="10881360"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21792" y="3639311"/>
            <a:ext cx="1280160" cy="502920"/>
          </a:xfrm>
          <a:prstGeom prst="rect">
            <a:avLst/>
          </a:prstGeom>
          <a:noFill/>
        </p:spPr>
        <p:txBody>
          <a:bodyPr wrap="square" anchor="ctr">
            <a:spAutoFit/>
          </a:bodyPr>
          <a:lstStyle/>
          <a:p>
            <a:pPr algn="l"/>
            <a:r>
              <a:rPr sz="1400" b="1">
                <a:solidFill>
                  <a:srgbClr val="1E293B"/>
                </a:solidFill>
                <a:latin typeface="Calibri"/>
              </a:rPr>
              <a:t>MSFT</a:t>
            </a:r>
          </a:p>
        </p:txBody>
      </p:sp>
      <p:sp>
        <p:nvSpPr>
          <p:cNvPr id="81" name="TextBox 80"/>
          <p:cNvSpPr txBox="1"/>
          <p:nvPr/>
        </p:nvSpPr>
        <p:spPr>
          <a:xfrm>
            <a:off x="1993392" y="3639311"/>
            <a:ext cx="1737360" cy="502920"/>
          </a:xfrm>
          <a:prstGeom prst="rect">
            <a:avLst/>
          </a:prstGeom>
          <a:noFill/>
        </p:spPr>
        <p:txBody>
          <a:bodyPr wrap="square" anchor="ctr">
            <a:spAutoFit/>
          </a:bodyPr>
          <a:lstStyle/>
          <a:p>
            <a:pPr algn="l"/>
            <a:r>
              <a:rPr sz="1400" b="0">
                <a:solidFill>
                  <a:srgbClr val="E24B4A"/>
                </a:solidFill>
                <a:latin typeface="Calibri"/>
              </a:rPr>
              <a:t>-3.9%</a:t>
            </a:r>
          </a:p>
        </p:txBody>
      </p:sp>
      <p:sp>
        <p:nvSpPr>
          <p:cNvPr id="82" name="TextBox 81"/>
          <p:cNvSpPr txBox="1"/>
          <p:nvPr/>
        </p:nvSpPr>
        <p:spPr>
          <a:xfrm>
            <a:off x="3822191" y="3639311"/>
            <a:ext cx="1737360" cy="502920"/>
          </a:xfrm>
          <a:prstGeom prst="rect">
            <a:avLst/>
          </a:prstGeom>
          <a:noFill/>
        </p:spPr>
        <p:txBody>
          <a:bodyPr wrap="square" anchor="ctr">
            <a:spAutoFit/>
          </a:bodyPr>
          <a:lstStyle/>
          <a:p>
            <a:pPr algn="l"/>
            <a:r>
              <a:rPr sz="1400" b="0">
                <a:solidFill>
                  <a:srgbClr val="E24B4A"/>
                </a:solidFill>
                <a:latin typeface="Calibri"/>
              </a:rPr>
              <a:t>-6.0%</a:t>
            </a:r>
          </a:p>
        </p:txBody>
      </p:sp>
      <p:sp>
        <p:nvSpPr>
          <p:cNvPr id="83" name="TextBox 82"/>
          <p:cNvSpPr txBox="1"/>
          <p:nvPr/>
        </p:nvSpPr>
        <p:spPr>
          <a:xfrm>
            <a:off x="5650992" y="3639311"/>
            <a:ext cx="1737360" cy="502920"/>
          </a:xfrm>
          <a:prstGeom prst="rect">
            <a:avLst/>
          </a:prstGeom>
          <a:noFill/>
        </p:spPr>
        <p:txBody>
          <a:bodyPr wrap="square" anchor="ctr">
            <a:spAutoFit/>
          </a:bodyPr>
          <a:lstStyle/>
          <a:p>
            <a:pPr algn="l"/>
            <a:r>
              <a:rPr sz="1400" b="0">
                <a:solidFill>
                  <a:srgbClr val="E24B4A"/>
                </a:solidFill>
                <a:latin typeface="Calibri"/>
              </a:rPr>
              <a:t>-3.6%</a:t>
            </a:r>
          </a:p>
        </p:txBody>
      </p:sp>
      <p:sp>
        <p:nvSpPr>
          <p:cNvPr id="84" name="TextBox 83"/>
          <p:cNvSpPr txBox="1"/>
          <p:nvPr/>
        </p:nvSpPr>
        <p:spPr>
          <a:xfrm>
            <a:off x="7479792" y="3639311"/>
            <a:ext cx="1737360" cy="502920"/>
          </a:xfrm>
          <a:prstGeom prst="rect">
            <a:avLst/>
          </a:prstGeom>
          <a:noFill/>
        </p:spPr>
        <p:txBody>
          <a:bodyPr wrap="square" anchor="ctr">
            <a:spAutoFit/>
          </a:bodyPr>
          <a:lstStyle/>
          <a:p>
            <a:pPr algn="l"/>
            <a:r>
              <a:rPr sz="1400" b="0">
                <a:solidFill>
                  <a:srgbClr val="E24B4A"/>
                </a:solidFill>
                <a:latin typeface="Calibri"/>
              </a:rPr>
              <a:t>-2.2%</a:t>
            </a:r>
          </a:p>
        </p:txBody>
      </p:sp>
      <p:sp>
        <p:nvSpPr>
          <p:cNvPr id="85" name="TextBox 84"/>
          <p:cNvSpPr txBox="1"/>
          <p:nvPr/>
        </p:nvSpPr>
        <p:spPr>
          <a:xfrm>
            <a:off x="9308592" y="3639311"/>
            <a:ext cx="2103120" cy="502920"/>
          </a:xfrm>
          <a:prstGeom prst="rect">
            <a:avLst/>
          </a:prstGeom>
          <a:noFill/>
        </p:spPr>
        <p:txBody>
          <a:bodyPr wrap="square" anchor="ctr">
            <a:spAutoFit/>
          </a:bodyPr>
          <a:lstStyle/>
          <a:p>
            <a:pPr algn="l"/>
            <a:r>
              <a:rPr sz="1400" b="1">
                <a:solidFill>
                  <a:srgbClr val="64748B"/>
                </a:solidFill>
                <a:latin typeface="Calibri"/>
              </a:rPr>
              <a:t>B&amp;H</a:t>
            </a:r>
          </a:p>
        </p:txBody>
      </p:sp>
      <p:sp>
        <p:nvSpPr>
          <p:cNvPr id="86" name="Rectangle 85"/>
          <p:cNvSpPr/>
          <p:nvPr/>
        </p:nvSpPr>
        <p:spPr>
          <a:xfrm>
            <a:off x="548640" y="4142231"/>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1792" y="4142231"/>
            <a:ext cx="1280160" cy="502920"/>
          </a:xfrm>
          <a:prstGeom prst="rect">
            <a:avLst/>
          </a:prstGeom>
          <a:noFill/>
        </p:spPr>
        <p:txBody>
          <a:bodyPr wrap="square" anchor="ctr">
            <a:spAutoFit/>
          </a:bodyPr>
          <a:lstStyle/>
          <a:p>
            <a:pPr algn="l"/>
            <a:r>
              <a:rPr sz="1400" b="1">
                <a:solidFill>
                  <a:srgbClr val="1E293B"/>
                </a:solidFill>
                <a:latin typeface="Calibri"/>
              </a:rPr>
              <a:t>COIN</a:t>
            </a:r>
          </a:p>
        </p:txBody>
      </p:sp>
      <p:sp>
        <p:nvSpPr>
          <p:cNvPr id="88" name="TextBox 87"/>
          <p:cNvSpPr txBox="1"/>
          <p:nvPr/>
        </p:nvSpPr>
        <p:spPr>
          <a:xfrm>
            <a:off x="1993392" y="4142231"/>
            <a:ext cx="1737360" cy="502920"/>
          </a:xfrm>
          <a:prstGeom prst="rect">
            <a:avLst/>
          </a:prstGeom>
          <a:noFill/>
        </p:spPr>
        <p:txBody>
          <a:bodyPr wrap="square" anchor="ctr">
            <a:spAutoFit/>
          </a:bodyPr>
          <a:lstStyle/>
          <a:p>
            <a:pPr algn="l"/>
            <a:r>
              <a:rPr sz="1400" b="0">
                <a:solidFill>
                  <a:srgbClr val="E24B4A"/>
                </a:solidFill>
                <a:latin typeface="Calibri"/>
              </a:rPr>
              <a:t>-18.5%</a:t>
            </a:r>
          </a:p>
        </p:txBody>
      </p:sp>
      <p:sp>
        <p:nvSpPr>
          <p:cNvPr id="89" name="TextBox 88"/>
          <p:cNvSpPr txBox="1"/>
          <p:nvPr/>
        </p:nvSpPr>
        <p:spPr>
          <a:xfrm>
            <a:off x="3822191" y="4142231"/>
            <a:ext cx="1737360" cy="502920"/>
          </a:xfrm>
          <a:prstGeom prst="rect">
            <a:avLst/>
          </a:prstGeom>
          <a:noFill/>
        </p:spPr>
        <p:txBody>
          <a:bodyPr wrap="square" anchor="ctr">
            <a:spAutoFit/>
          </a:bodyPr>
          <a:lstStyle/>
          <a:p>
            <a:pPr algn="l"/>
            <a:r>
              <a:rPr sz="1400" b="0">
                <a:solidFill>
                  <a:srgbClr val="E24B4A"/>
                </a:solidFill>
                <a:latin typeface="Calibri"/>
              </a:rPr>
              <a:t>-24.2%</a:t>
            </a:r>
          </a:p>
        </p:txBody>
      </p:sp>
      <p:sp>
        <p:nvSpPr>
          <p:cNvPr id="90" name="TextBox 89"/>
          <p:cNvSpPr txBox="1"/>
          <p:nvPr/>
        </p:nvSpPr>
        <p:spPr>
          <a:xfrm>
            <a:off x="5650992" y="4142231"/>
            <a:ext cx="1737360" cy="502920"/>
          </a:xfrm>
          <a:prstGeom prst="rect">
            <a:avLst/>
          </a:prstGeom>
          <a:noFill/>
        </p:spPr>
        <p:txBody>
          <a:bodyPr wrap="square" anchor="ctr">
            <a:spAutoFit/>
          </a:bodyPr>
          <a:lstStyle/>
          <a:p>
            <a:pPr algn="l"/>
            <a:r>
              <a:rPr sz="1400" b="0">
                <a:solidFill>
                  <a:srgbClr val="E24B4A"/>
                </a:solidFill>
                <a:latin typeface="Calibri"/>
              </a:rPr>
              <a:t>-20.7%</a:t>
            </a:r>
          </a:p>
        </p:txBody>
      </p:sp>
      <p:sp>
        <p:nvSpPr>
          <p:cNvPr id="91" name="TextBox 90"/>
          <p:cNvSpPr txBox="1"/>
          <p:nvPr/>
        </p:nvSpPr>
        <p:spPr>
          <a:xfrm>
            <a:off x="7479792" y="4142231"/>
            <a:ext cx="1737360" cy="502920"/>
          </a:xfrm>
          <a:prstGeom prst="rect">
            <a:avLst/>
          </a:prstGeom>
          <a:noFill/>
        </p:spPr>
        <p:txBody>
          <a:bodyPr wrap="square" anchor="ctr">
            <a:spAutoFit/>
          </a:bodyPr>
          <a:lstStyle/>
          <a:p>
            <a:pPr algn="l"/>
            <a:r>
              <a:rPr sz="1400" b="0">
                <a:solidFill>
                  <a:srgbClr val="E24B4A"/>
                </a:solidFill>
                <a:latin typeface="Calibri"/>
              </a:rPr>
              <a:t>-22.8%</a:t>
            </a:r>
          </a:p>
        </p:txBody>
      </p:sp>
      <p:sp>
        <p:nvSpPr>
          <p:cNvPr id="92" name="TextBox 91"/>
          <p:cNvSpPr txBox="1"/>
          <p:nvPr/>
        </p:nvSpPr>
        <p:spPr>
          <a:xfrm>
            <a:off x="9308592" y="4142231"/>
            <a:ext cx="2103120" cy="502920"/>
          </a:xfrm>
          <a:prstGeom prst="rect">
            <a:avLst/>
          </a:prstGeom>
          <a:noFill/>
        </p:spPr>
        <p:txBody>
          <a:bodyPr wrap="square" anchor="ctr">
            <a:spAutoFit/>
          </a:bodyPr>
          <a:lstStyle/>
          <a:p>
            <a:pPr algn="l"/>
            <a:r>
              <a:rPr sz="1400" b="1">
                <a:solidFill>
                  <a:srgbClr val="1C7293"/>
                </a:solidFill>
                <a:latin typeface="Calibri"/>
              </a:rPr>
              <a:t>Ours</a:t>
            </a:r>
          </a:p>
        </p:txBody>
      </p:sp>
      <p:sp>
        <p:nvSpPr>
          <p:cNvPr id="93" name="Rectangle 92"/>
          <p:cNvSpPr/>
          <p:nvPr/>
        </p:nvSpPr>
        <p:spPr>
          <a:xfrm>
            <a:off x="548640" y="4645151"/>
            <a:ext cx="10881360" cy="502920"/>
          </a:xfrm>
          <a:prstGeom prst="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21792" y="4645151"/>
            <a:ext cx="1280160" cy="502920"/>
          </a:xfrm>
          <a:prstGeom prst="rect">
            <a:avLst/>
          </a:prstGeom>
          <a:noFill/>
        </p:spPr>
        <p:txBody>
          <a:bodyPr wrap="square" anchor="ctr">
            <a:spAutoFit/>
          </a:bodyPr>
          <a:lstStyle/>
          <a:p>
            <a:pPr algn="l"/>
            <a:r>
              <a:rPr sz="1500" b="1">
                <a:solidFill>
                  <a:srgbClr val="1E293B"/>
                </a:solidFill>
                <a:latin typeface="Calibri"/>
              </a:rPr>
              <a:t>MEAN</a:t>
            </a:r>
          </a:p>
        </p:txBody>
      </p:sp>
      <p:sp>
        <p:nvSpPr>
          <p:cNvPr id="95" name="TextBox 94"/>
          <p:cNvSpPr txBox="1"/>
          <p:nvPr/>
        </p:nvSpPr>
        <p:spPr>
          <a:xfrm>
            <a:off x="1993392" y="4645151"/>
            <a:ext cx="1737360" cy="502920"/>
          </a:xfrm>
          <a:prstGeom prst="rect">
            <a:avLst/>
          </a:prstGeom>
          <a:noFill/>
        </p:spPr>
        <p:txBody>
          <a:bodyPr wrap="square" anchor="ctr">
            <a:spAutoFit/>
          </a:bodyPr>
          <a:lstStyle/>
          <a:p>
            <a:pPr algn="l"/>
            <a:r>
              <a:rPr sz="1500" b="1">
                <a:solidFill>
                  <a:srgbClr val="E24B4A"/>
                </a:solidFill>
                <a:latin typeface="Calibri"/>
              </a:rPr>
              <a:t>-5.3%</a:t>
            </a:r>
          </a:p>
        </p:txBody>
      </p:sp>
      <p:sp>
        <p:nvSpPr>
          <p:cNvPr id="96" name="TextBox 95"/>
          <p:cNvSpPr txBox="1"/>
          <p:nvPr/>
        </p:nvSpPr>
        <p:spPr>
          <a:xfrm>
            <a:off x="3822191" y="4645151"/>
            <a:ext cx="1737360" cy="502920"/>
          </a:xfrm>
          <a:prstGeom prst="rect">
            <a:avLst/>
          </a:prstGeom>
          <a:noFill/>
        </p:spPr>
        <p:txBody>
          <a:bodyPr wrap="square" anchor="ctr">
            <a:spAutoFit/>
          </a:bodyPr>
          <a:lstStyle/>
          <a:p>
            <a:pPr algn="l"/>
            <a:r>
              <a:rPr sz="1500" b="1">
                <a:solidFill>
                  <a:srgbClr val="02C39A"/>
                </a:solidFill>
                <a:latin typeface="Calibri"/>
              </a:rPr>
              <a:t>+1.7%</a:t>
            </a:r>
          </a:p>
        </p:txBody>
      </p:sp>
      <p:sp>
        <p:nvSpPr>
          <p:cNvPr id="97" name="TextBox 96"/>
          <p:cNvSpPr txBox="1"/>
          <p:nvPr/>
        </p:nvSpPr>
        <p:spPr>
          <a:xfrm>
            <a:off x="5650992" y="4645151"/>
            <a:ext cx="1737360" cy="502920"/>
          </a:xfrm>
          <a:prstGeom prst="rect">
            <a:avLst/>
          </a:prstGeom>
          <a:noFill/>
        </p:spPr>
        <p:txBody>
          <a:bodyPr wrap="square" anchor="ctr">
            <a:spAutoFit/>
          </a:bodyPr>
          <a:lstStyle/>
          <a:p>
            <a:pPr algn="l"/>
            <a:r>
              <a:rPr sz="1500" b="1">
                <a:solidFill>
                  <a:srgbClr val="E24B4A"/>
                </a:solidFill>
                <a:latin typeface="Calibri"/>
              </a:rPr>
              <a:t>-2.9%</a:t>
            </a:r>
          </a:p>
        </p:txBody>
      </p:sp>
      <p:sp>
        <p:nvSpPr>
          <p:cNvPr id="98" name="TextBox 97"/>
          <p:cNvSpPr txBox="1"/>
          <p:nvPr/>
        </p:nvSpPr>
        <p:spPr>
          <a:xfrm>
            <a:off x="7479792" y="4645151"/>
            <a:ext cx="1737360" cy="502920"/>
          </a:xfrm>
          <a:prstGeom prst="rect">
            <a:avLst/>
          </a:prstGeom>
          <a:noFill/>
        </p:spPr>
        <p:txBody>
          <a:bodyPr wrap="square" anchor="ctr">
            <a:spAutoFit/>
          </a:bodyPr>
          <a:lstStyle/>
          <a:p>
            <a:pPr algn="l"/>
            <a:r>
              <a:rPr sz="1500" b="1">
                <a:solidFill>
                  <a:srgbClr val="E24B4A"/>
                </a:solidFill>
                <a:latin typeface="Calibri"/>
              </a:rPr>
              <a:t>-4.1%</a:t>
            </a:r>
          </a:p>
        </p:txBody>
      </p:sp>
      <p:sp>
        <p:nvSpPr>
          <p:cNvPr id="99" name="TextBox 98"/>
          <p:cNvSpPr txBox="1"/>
          <p:nvPr/>
        </p:nvSpPr>
        <p:spPr>
          <a:xfrm>
            <a:off x="9308592" y="4645151"/>
            <a:ext cx="2103120" cy="502920"/>
          </a:xfrm>
          <a:prstGeom prst="rect">
            <a:avLst/>
          </a:prstGeom>
          <a:noFill/>
        </p:spPr>
        <p:txBody>
          <a:bodyPr wrap="square" anchor="ctr">
            <a:spAutoFit/>
          </a:bodyPr>
          <a:lstStyle/>
          <a:p>
            <a:pPr algn="l"/>
            <a:r>
              <a:rPr sz="1500" b="1">
                <a:solidFill>
                  <a:srgbClr val="EF9F27"/>
                </a:solidFill>
                <a:latin typeface="Calibri"/>
              </a:rPr>
              <a:t>No-mem</a:t>
            </a:r>
          </a:p>
        </p:txBody>
      </p:sp>
      <p:sp>
        <p:nvSpPr>
          <p:cNvPr id="100" name="TextBox 99"/>
          <p:cNvSpPr txBox="1"/>
          <p:nvPr/>
        </p:nvSpPr>
        <p:spPr>
          <a:xfrm>
            <a:off x="548640" y="5257799"/>
            <a:ext cx="10881360" cy="502920"/>
          </a:xfrm>
          <a:prstGeom prst="rect">
            <a:avLst/>
          </a:prstGeom>
          <a:noFill/>
        </p:spPr>
        <p:txBody>
          <a:bodyPr wrap="square" anchor="t">
            <a:spAutoFit/>
          </a:bodyPr>
          <a:lstStyle/>
          <a:p>
            <a:pPr algn="l"/>
            <a:r>
              <a:rPr sz="1150" b="0">
                <a:solidFill>
                  <a:srgbClr val="1E293B"/>
                </a:solidFill>
                <a:latin typeface="Calibri"/>
              </a:rPr>
              <a:t>Both stripped-down baselines beat the full FinMem apparatus on the mean. </a:t>
            </a:r>
            <a:r>
              <a:rPr sz="1150" b="1">
                <a:solidFill>
                  <a:srgbClr val="21295C"/>
                </a:solidFill>
                <a:latin typeface="Calibri"/>
              </a:rPr>
              <a:t>Ranking: No-memory +1.7% &gt; LC-Trader -2.9% &gt; Buy &amp; Hold -4.1% &gt; FinMem-Ours -5.3%. </a:t>
            </a:r>
            <a:r>
              <a:rPr sz="1150" b="0">
                <a:solidFill>
                  <a:srgbClr val="1E293B"/>
                </a:solidFill>
                <a:latin typeface="Calibri"/>
              </a:rPr>
              <a:t>Ours vs B&amp;H Wilcoxon p=0.69 (n.s.); Ours vs No-mem p=0.075.</a:t>
            </a:r>
          </a:p>
        </p:txBody>
      </p:sp>
    </p:spTree>
    <p:extLst>
      <p:ext uri="{BB962C8B-B14F-4D97-AF65-F5344CB8AC3E}">
        <p14:creationId xmlns:p14="http://schemas.microsoft.com/office/powerpoint/2010/main" val="3833229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274320"/>
          </a:xfrm>
          <a:prstGeom prst="rect">
            <a:avLst/>
          </a:prstGeom>
          <a:noFill/>
        </p:spPr>
        <p:txBody>
          <a:bodyPr wrap="square" anchor="t">
            <a:spAutoFit/>
          </a:bodyPr>
          <a:lstStyle/>
          <a:p>
            <a:pPr algn="l">
              <a:spcBef>
                <a:spcPts val="0"/>
              </a:spcBef>
              <a:spcAft>
                <a:spcPts val="200"/>
              </a:spcAft>
            </a:pPr>
            <a:r>
              <a:rPr sz="1200" b="1">
                <a:solidFill>
                  <a:srgbClr val="1C7293"/>
                </a:solidFill>
                <a:latin typeface="Calibri"/>
              </a:rPr>
              <a:t>RESULTS</a:t>
            </a:r>
          </a:p>
        </p:txBody>
      </p:sp>
      <p:sp>
        <p:nvSpPr>
          <p:cNvPr id="4" name="TextBox 3"/>
          <p:cNvSpPr txBox="1"/>
          <p:nvPr/>
        </p:nvSpPr>
        <p:spPr>
          <a:xfrm>
            <a:off x="548640" y="530352"/>
            <a:ext cx="11064240" cy="777240"/>
          </a:xfrm>
          <a:prstGeom prst="rect">
            <a:avLst/>
          </a:prstGeom>
          <a:noFill/>
        </p:spPr>
        <p:txBody>
          <a:bodyPr wrap="square" anchor="t">
            <a:spAutoFit/>
          </a:bodyPr>
          <a:lstStyle/>
          <a:p>
            <a:pPr algn="l">
              <a:spcBef>
                <a:spcPts val="0"/>
              </a:spcBef>
              <a:spcAft>
                <a:spcPts val="200"/>
              </a:spcAft>
            </a:pPr>
            <a:r>
              <a:rPr sz="2800" b="1">
                <a:solidFill>
                  <a:srgbClr val="21295C"/>
                </a:solidFill>
                <a:latin typeface="Cambria"/>
              </a:rPr>
              <a:t>Risk-adjusted return - Sharpe ratio by ticker</a:t>
            </a:r>
          </a:p>
        </p:txBody>
      </p:sp>
      <p:sp>
        <p:nvSpPr>
          <p:cNvPr id="5" name="TextBox 4"/>
          <p:cNvSpPr txBox="1"/>
          <p:nvPr/>
        </p:nvSpPr>
        <p:spPr>
          <a:xfrm>
            <a:off x="548640" y="6473952"/>
            <a:ext cx="8229600" cy="274320"/>
          </a:xfrm>
          <a:prstGeom prst="rect">
            <a:avLst/>
          </a:prstGeom>
          <a:noFill/>
        </p:spPr>
        <p:txBody>
          <a:bodyPr wrap="square" anchor="t">
            <a:spAutoFit/>
          </a:bodyPr>
          <a:lstStyle/>
          <a:p>
            <a:pPr algn="l">
              <a:spcBef>
                <a:spcPts val="0"/>
              </a:spcBef>
              <a:spcAft>
                <a:spcPts val="200"/>
              </a:spcAft>
            </a:pPr>
            <a:r>
              <a:rPr sz="900" b="0">
                <a:solidFill>
                  <a:srgbClr val="64748B"/>
                </a:solidFill>
                <a:latin typeface="Calibri"/>
              </a:rPr>
              <a:t>FinMem - Implementation  -  Shoshan &amp; Sagi</a:t>
            </a:r>
          </a:p>
        </p:txBody>
      </p:sp>
      <p:sp>
        <p:nvSpPr>
          <p:cNvPr id="6" name="TextBox 5"/>
          <p:cNvSpPr txBox="1"/>
          <p:nvPr/>
        </p:nvSpPr>
        <p:spPr>
          <a:xfrm>
            <a:off x="10972800" y="6473952"/>
            <a:ext cx="731520" cy="274320"/>
          </a:xfrm>
          <a:prstGeom prst="rect">
            <a:avLst/>
          </a:prstGeom>
          <a:noFill/>
        </p:spPr>
        <p:txBody>
          <a:bodyPr wrap="square" anchor="t">
            <a:spAutoFit/>
          </a:bodyPr>
          <a:lstStyle/>
          <a:p>
            <a:pPr algn="l">
              <a:spcBef>
                <a:spcPts val="0"/>
              </a:spcBef>
              <a:spcAft>
                <a:spcPts val="200"/>
              </a:spcAft>
            </a:pPr>
            <a:endParaRPr/>
          </a:p>
        </p:txBody>
      </p:sp>
      <p:pic>
        <p:nvPicPr>
          <p:cNvPr id="7" name="Picture 6" descr="image.png"/>
          <p:cNvPicPr>
            <a:picLocks noChangeAspect="1"/>
          </p:cNvPicPr>
          <p:nvPr/>
        </p:nvPicPr>
        <p:blipFill>
          <a:blip r:embed="rId2"/>
          <a:stretch>
            <a:fillRect/>
          </a:stretch>
        </p:blipFill>
        <p:spPr>
          <a:xfrm>
            <a:off x="548640" y="1554480"/>
            <a:ext cx="7552113" cy="4206240"/>
          </a:xfrm>
          <a:prstGeom prst="rect">
            <a:avLst/>
          </a:prstGeom>
        </p:spPr>
      </p:pic>
      <p:sp>
        <p:nvSpPr>
          <p:cNvPr id="8" name="Rounded Rectangle 7"/>
          <p:cNvSpPr/>
          <p:nvPr/>
        </p:nvSpPr>
        <p:spPr>
          <a:xfrm>
            <a:off x="8595360" y="1737360"/>
            <a:ext cx="3017520" cy="3291840"/>
          </a:xfrm>
          <a:prstGeom prst="roundRect">
            <a:avLst/>
          </a:prstGeom>
          <a:solidFill>
            <a:srgbClr val="F4F7FA"/>
          </a:solidFill>
          <a:ln w="12700">
            <a:solidFill>
              <a:srgbClr val="E4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1874519"/>
            <a:ext cx="2697480" cy="2174954"/>
          </a:xfrm>
          <a:prstGeom prst="rect">
            <a:avLst/>
          </a:prstGeom>
          <a:noFill/>
        </p:spPr>
        <p:txBody>
          <a:bodyPr wrap="square" anchor="t">
            <a:spAutoFit/>
          </a:bodyPr>
          <a:lstStyle/>
          <a:p>
            <a:pPr algn="l">
              <a:spcBef>
                <a:spcPts val="0"/>
              </a:spcBef>
              <a:spcAft>
                <a:spcPts val="800"/>
              </a:spcAft>
            </a:pPr>
            <a:r>
              <a:rPr sz="1300" b="1">
                <a:solidFill>
                  <a:srgbClr val="21295C"/>
                </a:solidFill>
                <a:latin typeface="Calibri"/>
              </a:rPr>
              <a:t>The Sharpe picture mirrors the returns.</a:t>
            </a:r>
          </a:p>
          <a:p>
            <a:pPr algn="l">
              <a:spcBef>
                <a:spcPts val="0"/>
              </a:spcBef>
              <a:spcAft>
                <a:spcPts val="800"/>
              </a:spcAft>
            </a:pPr>
            <a:r>
              <a:rPr sz="1200" b="0">
                <a:solidFill>
                  <a:srgbClr val="1E293B"/>
                </a:solidFill>
                <a:latin typeface="Calibri"/>
              </a:rPr>
              <a:t>No-memory has the highest mean Sharpe (0.38); Buy &amp; Hold 0.11; LC-Trader 0.16; </a:t>
            </a:r>
            <a:r>
              <a:rPr lang="en-US" sz="1200" b="0" err="1">
                <a:solidFill>
                  <a:srgbClr val="1E293B"/>
                </a:solidFill>
                <a:latin typeface="Calibri"/>
              </a:rPr>
              <a:t>FinMem</a:t>
            </a:r>
            <a:r>
              <a:rPr sz="1200" b="0">
                <a:solidFill>
                  <a:srgbClr val="1E293B"/>
                </a:solidFill>
                <a:latin typeface="Calibri"/>
              </a:rPr>
              <a:t>-Ours is lowest at -0.15.</a:t>
            </a:r>
          </a:p>
          <a:p>
            <a:pPr algn="l">
              <a:spcBef>
                <a:spcPts val="0"/>
              </a:spcBef>
              <a:spcAft>
                <a:spcPts val="800"/>
              </a:spcAft>
            </a:pPr>
            <a:r>
              <a:rPr sz="1200" b="0">
                <a:solidFill>
                  <a:srgbClr val="1E293B"/>
                </a:solidFill>
                <a:latin typeface="Calibri"/>
              </a:rPr>
              <a:t>Only AMZN and NFLX clear 0 for </a:t>
            </a:r>
            <a:r>
              <a:rPr lang="en-US" sz="1200" b="0" err="1">
                <a:solidFill>
                  <a:srgbClr val="1E293B"/>
                </a:solidFill>
                <a:latin typeface="Calibri"/>
              </a:rPr>
              <a:t>FinMem</a:t>
            </a:r>
            <a:r>
              <a:rPr sz="1200" b="0">
                <a:solidFill>
                  <a:srgbClr val="1E293B"/>
                </a:solidFill>
                <a:latin typeface="Calibri"/>
              </a:rPr>
              <a:t>-Ours; the full memory apparatus does not improve risk-adjusted return out-of-sample.</a:t>
            </a:r>
          </a:p>
        </p:txBody>
      </p:sp>
      <p:sp>
        <p:nvSpPr>
          <p:cNvPr id="10" name="Rectangle 7">
            <a:extLst>
              <a:ext uri="{FF2B5EF4-FFF2-40B4-BE49-F238E27FC236}">
                <a16:creationId xmlns:a16="http://schemas.microsoft.com/office/drawing/2014/main" id="{1300AE08-707B-C274-7D68-1C281E03DFD1}"/>
              </a:ext>
            </a:extLst>
          </p:cNvPr>
          <p:cNvSpPr/>
          <p:nvPr/>
        </p:nvSpPr>
        <p:spPr>
          <a:xfrm>
            <a:off x="548640" y="1938405"/>
            <a:ext cx="1088136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8">
            <a:extLst>
              <a:ext uri="{FF2B5EF4-FFF2-40B4-BE49-F238E27FC236}">
                <a16:creationId xmlns:a16="http://schemas.microsoft.com/office/drawing/2014/main" id="{36E7863D-BAEE-345E-6E31-1D523B0361BD}"/>
              </a:ext>
            </a:extLst>
          </p:cNvPr>
          <p:cNvSpPr txBox="1"/>
          <p:nvPr/>
        </p:nvSpPr>
        <p:spPr>
          <a:xfrm>
            <a:off x="621792" y="2020588"/>
            <a:ext cx="1280160" cy="338554"/>
          </a:xfrm>
          <a:prstGeom prst="rect">
            <a:avLst/>
          </a:prstGeom>
          <a:noFill/>
        </p:spPr>
        <p:txBody>
          <a:bodyPr wrap="square" anchor="ctr">
            <a:spAutoFit/>
          </a:bodyPr>
          <a:lstStyle/>
          <a:p>
            <a:pPr algn="l"/>
            <a:r>
              <a:rPr sz="1600" b="1">
                <a:solidFill>
                  <a:srgbClr val="FFFFFF"/>
                </a:solidFill>
                <a:latin typeface="Calibri"/>
              </a:rPr>
              <a:t>Ticker</a:t>
            </a:r>
          </a:p>
        </p:txBody>
      </p:sp>
      <p:sp>
        <p:nvSpPr>
          <p:cNvPr id="12" name="TextBox 9">
            <a:extLst>
              <a:ext uri="{FF2B5EF4-FFF2-40B4-BE49-F238E27FC236}">
                <a16:creationId xmlns:a16="http://schemas.microsoft.com/office/drawing/2014/main" id="{ADF300EB-AF97-1991-DC02-D678C7C86A13}"/>
              </a:ext>
            </a:extLst>
          </p:cNvPr>
          <p:cNvSpPr txBox="1"/>
          <p:nvPr/>
        </p:nvSpPr>
        <p:spPr>
          <a:xfrm>
            <a:off x="1993392" y="2020588"/>
            <a:ext cx="1737360" cy="338554"/>
          </a:xfrm>
          <a:prstGeom prst="rect">
            <a:avLst/>
          </a:prstGeom>
          <a:noFill/>
        </p:spPr>
        <p:txBody>
          <a:bodyPr wrap="square" anchor="ctr">
            <a:spAutoFit/>
          </a:bodyPr>
          <a:lstStyle/>
          <a:p>
            <a:pPr algn="l"/>
            <a:r>
              <a:rPr sz="1600" b="1">
                <a:solidFill>
                  <a:srgbClr val="FFFFFF"/>
                </a:solidFill>
                <a:latin typeface="Calibri"/>
              </a:rPr>
              <a:t>FinMem-Ours</a:t>
            </a:r>
          </a:p>
        </p:txBody>
      </p:sp>
      <p:sp>
        <p:nvSpPr>
          <p:cNvPr id="13" name="TextBox 10">
            <a:extLst>
              <a:ext uri="{FF2B5EF4-FFF2-40B4-BE49-F238E27FC236}">
                <a16:creationId xmlns:a16="http://schemas.microsoft.com/office/drawing/2014/main" id="{03D75CDB-DE48-8DD8-430F-2ECE9623F320}"/>
              </a:ext>
            </a:extLst>
          </p:cNvPr>
          <p:cNvSpPr txBox="1"/>
          <p:nvPr/>
        </p:nvSpPr>
        <p:spPr>
          <a:xfrm>
            <a:off x="3822191" y="2020588"/>
            <a:ext cx="1737360" cy="338554"/>
          </a:xfrm>
          <a:prstGeom prst="rect">
            <a:avLst/>
          </a:prstGeom>
          <a:noFill/>
        </p:spPr>
        <p:txBody>
          <a:bodyPr wrap="square" anchor="ctr">
            <a:spAutoFit/>
          </a:bodyPr>
          <a:lstStyle/>
          <a:p>
            <a:pPr algn="l"/>
            <a:r>
              <a:rPr sz="1600" b="1">
                <a:solidFill>
                  <a:srgbClr val="FFFFFF"/>
                </a:solidFill>
                <a:latin typeface="Calibri"/>
              </a:rPr>
              <a:t>No-memory</a:t>
            </a:r>
          </a:p>
        </p:txBody>
      </p:sp>
      <p:sp>
        <p:nvSpPr>
          <p:cNvPr id="14" name="TextBox 11">
            <a:extLst>
              <a:ext uri="{FF2B5EF4-FFF2-40B4-BE49-F238E27FC236}">
                <a16:creationId xmlns:a16="http://schemas.microsoft.com/office/drawing/2014/main" id="{4FBF4BAF-5DD9-2670-4728-09F8DE4F2A9B}"/>
              </a:ext>
            </a:extLst>
          </p:cNvPr>
          <p:cNvSpPr txBox="1"/>
          <p:nvPr/>
        </p:nvSpPr>
        <p:spPr>
          <a:xfrm>
            <a:off x="5650992" y="2020588"/>
            <a:ext cx="1737360" cy="338554"/>
          </a:xfrm>
          <a:prstGeom prst="rect">
            <a:avLst/>
          </a:prstGeom>
          <a:noFill/>
        </p:spPr>
        <p:txBody>
          <a:bodyPr wrap="square" anchor="ctr">
            <a:spAutoFit/>
          </a:bodyPr>
          <a:lstStyle/>
          <a:p>
            <a:pPr algn="l"/>
            <a:r>
              <a:rPr sz="1600" b="1">
                <a:solidFill>
                  <a:srgbClr val="FFFFFF"/>
                </a:solidFill>
                <a:latin typeface="Calibri"/>
              </a:rPr>
              <a:t>LC-Trader</a:t>
            </a:r>
          </a:p>
        </p:txBody>
      </p:sp>
      <p:sp>
        <p:nvSpPr>
          <p:cNvPr id="15" name="TextBox 12">
            <a:extLst>
              <a:ext uri="{FF2B5EF4-FFF2-40B4-BE49-F238E27FC236}">
                <a16:creationId xmlns:a16="http://schemas.microsoft.com/office/drawing/2014/main" id="{27541E30-A1BF-03A1-448F-0AC22503D088}"/>
              </a:ext>
            </a:extLst>
          </p:cNvPr>
          <p:cNvSpPr txBox="1"/>
          <p:nvPr/>
        </p:nvSpPr>
        <p:spPr>
          <a:xfrm>
            <a:off x="7479792" y="2020588"/>
            <a:ext cx="1737360" cy="338554"/>
          </a:xfrm>
          <a:prstGeom prst="rect">
            <a:avLst/>
          </a:prstGeom>
          <a:noFill/>
        </p:spPr>
        <p:txBody>
          <a:bodyPr wrap="square" anchor="ctr">
            <a:spAutoFit/>
          </a:bodyPr>
          <a:lstStyle/>
          <a:p>
            <a:pPr algn="l"/>
            <a:r>
              <a:rPr sz="1600" b="1">
                <a:solidFill>
                  <a:srgbClr val="FFFFFF"/>
                </a:solidFill>
                <a:latin typeface="Calibri"/>
              </a:rPr>
              <a:t>Buy &amp; Hold</a:t>
            </a:r>
          </a:p>
        </p:txBody>
      </p:sp>
      <p:sp>
        <p:nvSpPr>
          <p:cNvPr id="16" name="TextBox 13">
            <a:extLst>
              <a:ext uri="{FF2B5EF4-FFF2-40B4-BE49-F238E27FC236}">
                <a16:creationId xmlns:a16="http://schemas.microsoft.com/office/drawing/2014/main" id="{526FA782-33EF-257E-C7D2-93102EF66B78}"/>
              </a:ext>
            </a:extLst>
          </p:cNvPr>
          <p:cNvSpPr txBox="1"/>
          <p:nvPr/>
        </p:nvSpPr>
        <p:spPr>
          <a:xfrm>
            <a:off x="9308592" y="2020588"/>
            <a:ext cx="2103120" cy="338554"/>
          </a:xfrm>
          <a:prstGeom prst="rect">
            <a:avLst/>
          </a:prstGeom>
          <a:noFill/>
        </p:spPr>
        <p:txBody>
          <a:bodyPr wrap="square" anchor="ctr">
            <a:spAutoFit/>
          </a:bodyPr>
          <a:lstStyle/>
          <a:p>
            <a:pPr algn="l"/>
            <a:r>
              <a:rPr sz="1600" b="1">
                <a:solidFill>
                  <a:srgbClr val="FFFFFF"/>
                </a:solidFill>
                <a:latin typeface="Calibri"/>
              </a:rPr>
              <a:t>Winner</a:t>
            </a:r>
          </a:p>
        </p:txBody>
      </p:sp>
      <p:sp>
        <p:nvSpPr>
          <p:cNvPr id="17" name="Rectangle 14">
            <a:extLst>
              <a:ext uri="{FF2B5EF4-FFF2-40B4-BE49-F238E27FC236}">
                <a16:creationId xmlns:a16="http://schemas.microsoft.com/office/drawing/2014/main" id="{1A43A079-6897-C4A9-B1D4-C8646521B838}"/>
              </a:ext>
            </a:extLst>
          </p:cNvPr>
          <p:cNvSpPr/>
          <p:nvPr/>
        </p:nvSpPr>
        <p:spPr>
          <a:xfrm>
            <a:off x="548640" y="2441325"/>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5">
            <a:extLst>
              <a:ext uri="{FF2B5EF4-FFF2-40B4-BE49-F238E27FC236}">
                <a16:creationId xmlns:a16="http://schemas.microsoft.com/office/drawing/2014/main" id="{C5DDF977-7515-B9E5-E4A0-DD7E83670C02}"/>
              </a:ext>
            </a:extLst>
          </p:cNvPr>
          <p:cNvSpPr txBox="1"/>
          <p:nvPr/>
        </p:nvSpPr>
        <p:spPr>
          <a:xfrm>
            <a:off x="621792" y="2508119"/>
            <a:ext cx="1280160" cy="369332"/>
          </a:xfrm>
          <a:prstGeom prst="rect">
            <a:avLst/>
          </a:prstGeom>
          <a:noFill/>
        </p:spPr>
        <p:txBody>
          <a:bodyPr wrap="square" anchor="ctr">
            <a:spAutoFit/>
          </a:bodyPr>
          <a:lstStyle/>
          <a:p>
            <a:pPr algn="l"/>
            <a:r>
              <a:rPr b="1">
                <a:solidFill>
                  <a:srgbClr val="1E293B"/>
                </a:solidFill>
                <a:latin typeface="Calibri"/>
              </a:rPr>
              <a:t>TSLA</a:t>
            </a:r>
          </a:p>
        </p:txBody>
      </p:sp>
      <p:sp>
        <p:nvSpPr>
          <p:cNvPr id="19" name="TextBox 16">
            <a:extLst>
              <a:ext uri="{FF2B5EF4-FFF2-40B4-BE49-F238E27FC236}">
                <a16:creationId xmlns:a16="http://schemas.microsoft.com/office/drawing/2014/main" id="{87546E8E-C6AD-3E5B-87D4-2BA4871D104F}"/>
              </a:ext>
            </a:extLst>
          </p:cNvPr>
          <p:cNvSpPr txBox="1"/>
          <p:nvPr/>
        </p:nvSpPr>
        <p:spPr>
          <a:xfrm>
            <a:off x="1993392" y="2508119"/>
            <a:ext cx="1737360" cy="369332"/>
          </a:xfrm>
          <a:prstGeom prst="rect">
            <a:avLst/>
          </a:prstGeom>
          <a:noFill/>
        </p:spPr>
        <p:txBody>
          <a:bodyPr wrap="square" anchor="ctr">
            <a:spAutoFit/>
          </a:bodyPr>
          <a:lstStyle/>
          <a:p>
            <a:pPr algn="l"/>
            <a:r>
              <a:rPr b="0">
                <a:solidFill>
                  <a:srgbClr val="E24B4A"/>
                </a:solidFill>
                <a:latin typeface="Calibri"/>
              </a:rPr>
              <a:t>-1.92</a:t>
            </a:r>
          </a:p>
        </p:txBody>
      </p:sp>
      <p:sp>
        <p:nvSpPr>
          <p:cNvPr id="20" name="TextBox 17">
            <a:extLst>
              <a:ext uri="{FF2B5EF4-FFF2-40B4-BE49-F238E27FC236}">
                <a16:creationId xmlns:a16="http://schemas.microsoft.com/office/drawing/2014/main" id="{A5C0E553-6083-B0AA-C5A7-D1EFD28BD8A8}"/>
              </a:ext>
            </a:extLst>
          </p:cNvPr>
          <p:cNvSpPr txBox="1"/>
          <p:nvPr/>
        </p:nvSpPr>
        <p:spPr>
          <a:xfrm>
            <a:off x="3822191" y="2508119"/>
            <a:ext cx="1737360" cy="369332"/>
          </a:xfrm>
          <a:prstGeom prst="rect">
            <a:avLst/>
          </a:prstGeom>
          <a:noFill/>
        </p:spPr>
        <p:txBody>
          <a:bodyPr wrap="square" anchor="ctr">
            <a:spAutoFit/>
          </a:bodyPr>
          <a:lstStyle/>
          <a:p>
            <a:pPr algn="l"/>
            <a:r>
              <a:rPr b="0">
                <a:solidFill>
                  <a:srgbClr val="E24B4A"/>
                </a:solidFill>
                <a:latin typeface="Calibri"/>
              </a:rPr>
              <a:t>-0.37</a:t>
            </a:r>
          </a:p>
        </p:txBody>
      </p:sp>
      <p:sp>
        <p:nvSpPr>
          <p:cNvPr id="21" name="TextBox 18">
            <a:extLst>
              <a:ext uri="{FF2B5EF4-FFF2-40B4-BE49-F238E27FC236}">
                <a16:creationId xmlns:a16="http://schemas.microsoft.com/office/drawing/2014/main" id="{90303AA9-3C3D-C2DF-2463-8519CC177EF7}"/>
              </a:ext>
            </a:extLst>
          </p:cNvPr>
          <p:cNvSpPr txBox="1"/>
          <p:nvPr/>
        </p:nvSpPr>
        <p:spPr>
          <a:xfrm>
            <a:off x="5650992" y="2508119"/>
            <a:ext cx="1737360" cy="369332"/>
          </a:xfrm>
          <a:prstGeom prst="rect">
            <a:avLst/>
          </a:prstGeom>
          <a:noFill/>
        </p:spPr>
        <p:txBody>
          <a:bodyPr wrap="square" anchor="ctr">
            <a:spAutoFit/>
          </a:bodyPr>
          <a:lstStyle/>
          <a:p>
            <a:pPr algn="l"/>
            <a:r>
              <a:rPr b="0">
                <a:solidFill>
                  <a:srgbClr val="E24B4A"/>
                </a:solidFill>
                <a:latin typeface="Calibri"/>
              </a:rPr>
              <a:t>-0.33</a:t>
            </a:r>
          </a:p>
        </p:txBody>
      </p:sp>
      <p:sp>
        <p:nvSpPr>
          <p:cNvPr id="22" name="TextBox 19">
            <a:extLst>
              <a:ext uri="{FF2B5EF4-FFF2-40B4-BE49-F238E27FC236}">
                <a16:creationId xmlns:a16="http://schemas.microsoft.com/office/drawing/2014/main" id="{CB14F288-2C76-74AE-DCE3-BA6AC130FFCD}"/>
              </a:ext>
            </a:extLst>
          </p:cNvPr>
          <p:cNvSpPr txBox="1"/>
          <p:nvPr/>
        </p:nvSpPr>
        <p:spPr>
          <a:xfrm>
            <a:off x="7479792" y="2508119"/>
            <a:ext cx="1737360" cy="369332"/>
          </a:xfrm>
          <a:prstGeom prst="rect">
            <a:avLst/>
          </a:prstGeom>
          <a:noFill/>
        </p:spPr>
        <p:txBody>
          <a:bodyPr wrap="square" anchor="ctr">
            <a:spAutoFit/>
          </a:bodyPr>
          <a:lstStyle/>
          <a:p>
            <a:pPr algn="l"/>
            <a:r>
              <a:rPr b="0">
                <a:solidFill>
                  <a:srgbClr val="E24B4A"/>
                </a:solidFill>
                <a:latin typeface="Calibri"/>
              </a:rPr>
              <a:t>-0.14</a:t>
            </a:r>
          </a:p>
        </p:txBody>
      </p:sp>
      <p:sp>
        <p:nvSpPr>
          <p:cNvPr id="23" name="TextBox 20">
            <a:extLst>
              <a:ext uri="{FF2B5EF4-FFF2-40B4-BE49-F238E27FC236}">
                <a16:creationId xmlns:a16="http://schemas.microsoft.com/office/drawing/2014/main" id="{760E4678-E300-6D77-4EE9-B08594751842}"/>
              </a:ext>
            </a:extLst>
          </p:cNvPr>
          <p:cNvSpPr txBox="1"/>
          <p:nvPr/>
        </p:nvSpPr>
        <p:spPr>
          <a:xfrm>
            <a:off x="9308592" y="2508119"/>
            <a:ext cx="2103120" cy="369332"/>
          </a:xfrm>
          <a:prstGeom prst="rect">
            <a:avLst/>
          </a:prstGeom>
          <a:noFill/>
        </p:spPr>
        <p:txBody>
          <a:bodyPr wrap="square" anchor="ctr">
            <a:spAutoFit/>
          </a:bodyPr>
          <a:lstStyle/>
          <a:p>
            <a:pPr algn="l"/>
            <a:r>
              <a:rPr b="1">
                <a:solidFill>
                  <a:srgbClr val="64748B"/>
                </a:solidFill>
                <a:latin typeface="Calibri"/>
              </a:rPr>
              <a:t>B&amp;H</a:t>
            </a:r>
          </a:p>
        </p:txBody>
      </p:sp>
      <p:sp>
        <p:nvSpPr>
          <p:cNvPr id="24" name="Rectangle 21">
            <a:extLst>
              <a:ext uri="{FF2B5EF4-FFF2-40B4-BE49-F238E27FC236}">
                <a16:creationId xmlns:a16="http://schemas.microsoft.com/office/drawing/2014/main" id="{C7AFD5C2-544A-EE12-2E16-1C1F6D5AC078}"/>
              </a:ext>
            </a:extLst>
          </p:cNvPr>
          <p:cNvSpPr/>
          <p:nvPr/>
        </p:nvSpPr>
        <p:spPr>
          <a:xfrm>
            <a:off x="548640" y="2944245"/>
            <a:ext cx="10881360"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2">
            <a:extLst>
              <a:ext uri="{FF2B5EF4-FFF2-40B4-BE49-F238E27FC236}">
                <a16:creationId xmlns:a16="http://schemas.microsoft.com/office/drawing/2014/main" id="{71F98E13-F2DD-6133-B8D5-93DDAEE5EF9B}"/>
              </a:ext>
            </a:extLst>
          </p:cNvPr>
          <p:cNvSpPr txBox="1"/>
          <p:nvPr/>
        </p:nvSpPr>
        <p:spPr>
          <a:xfrm>
            <a:off x="621792" y="3011039"/>
            <a:ext cx="1280160" cy="369332"/>
          </a:xfrm>
          <a:prstGeom prst="rect">
            <a:avLst/>
          </a:prstGeom>
          <a:noFill/>
        </p:spPr>
        <p:txBody>
          <a:bodyPr wrap="square" anchor="ctr">
            <a:spAutoFit/>
          </a:bodyPr>
          <a:lstStyle/>
          <a:p>
            <a:pPr algn="l"/>
            <a:r>
              <a:rPr b="1">
                <a:solidFill>
                  <a:srgbClr val="1E293B"/>
                </a:solidFill>
                <a:latin typeface="Calibri"/>
              </a:rPr>
              <a:t>NFLX</a:t>
            </a:r>
          </a:p>
        </p:txBody>
      </p:sp>
      <p:sp>
        <p:nvSpPr>
          <p:cNvPr id="26" name="TextBox 23">
            <a:extLst>
              <a:ext uri="{FF2B5EF4-FFF2-40B4-BE49-F238E27FC236}">
                <a16:creationId xmlns:a16="http://schemas.microsoft.com/office/drawing/2014/main" id="{6A8EA125-4ACA-B326-94E7-701102FCBD58}"/>
              </a:ext>
            </a:extLst>
          </p:cNvPr>
          <p:cNvSpPr txBox="1"/>
          <p:nvPr/>
        </p:nvSpPr>
        <p:spPr>
          <a:xfrm>
            <a:off x="1993392" y="3011039"/>
            <a:ext cx="1737360" cy="369332"/>
          </a:xfrm>
          <a:prstGeom prst="rect">
            <a:avLst/>
          </a:prstGeom>
          <a:noFill/>
        </p:spPr>
        <p:txBody>
          <a:bodyPr wrap="square" anchor="ctr">
            <a:spAutoFit/>
          </a:bodyPr>
          <a:lstStyle/>
          <a:p>
            <a:pPr algn="l"/>
            <a:r>
              <a:rPr b="0">
                <a:solidFill>
                  <a:srgbClr val="02C39A"/>
                </a:solidFill>
                <a:latin typeface="Calibri"/>
              </a:rPr>
              <a:t>+0.44</a:t>
            </a:r>
          </a:p>
        </p:txBody>
      </p:sp>
      <p:sp>
        <p:nvSpPr>
          <p:cNvPr id="27" name="TextBox 24">
            <a:extLst>
              <a:ext uri="{FF2B5EF4-FFF2-40B4-BE49-F238E27FC236}">
                <a16:creationId xmlns:a16="http://schemas.microsoft.com/office/drawing/2014/main" id="{CD889814-D856-B59A-89D0-8B3FDD815548}"/>
              </a:ext>
            </a:extLst>
          </p:cNvPr>
          <p:cNvSpPr txBox="1"/>
          <p:nvPr/>
        </p:nvSpPr>
        <p:spPr>
          <a:xfrm>
            <a:off x="3822191" y="3011039"/>
            <a:ext cx="1737360" cy="369332"/>
          </a:xfrm>
          <a:prstGeom prst="rect">
            <a:avLst/>
          </a:prstGeom>
          <a:noFill/>
        </p:spPr>
        <p:txBody>
          <a:bodyPr wrap="square" anchor="ctr">
            <a:spAutoFit/>
          </a:bodyPr>
          <a:lstStyle/>
          <a:p>
            <a:pPr algn="l"/>
            <a:r>
              <a:rPr b="0">
                <a:solidFill>
                  <a:srgbClr val="02C39A"/>
                </a:solidFill>
                <a:latin typeface="Calibri"/>
              </a:rPr>
              <a:t>+1.56</a:t>
            </a:r>
          </a:p>
        </p:txBody>
      </p:sp>
      <p:sp>
        <p:nvSpPr>
          <p:cNvPr id="28" name="TextBox 25">
            <a:extLst>
              <a:ext uri="{FF2B5EF4-FFF2-40B4-BE49-F238E27FC236}">
                <a16:creationId xmlns:a16="http://schemas.microsoft.com/office/drawing/2014/main" id="{B8CFB3D1-DF7E-2908-161F-7D3CD2F9F77A}"/>
              </a:ext>
            </a:extLst>
          </p:cNvPr>
          <p:cNvSpPr txBox="1"/>
          <p:nvPr/>
        </p:nvSpPr>
        <p:spPr>
          <a:xfrm>
            <a:off x="5650992" y="3011039"/>
            <a:ext cx="1737360" cy="369332"/>
          </a:xfrm>
          <a:prstGeom prst="rect">
            <a:avLst/>
          </a:prstGeom>
          <a:noFill/>
        </p:spPr>
        <p:txBody>
          <a:bodyPr wrap="square" anchor="ctr">
            <a:spAutoFit/>
          </a:bodyPr>
          <a:lstStyle/>
          <a:p>
            <a:pPr algn="l"/>
            <a:r>
              <a:rPr b="0">
                <a:solidFill>
                  <a:srgbClr val="02C39A"/>
                </a:solidFill>
                <a:latin typeface="Calibri"/>
              </a:rPr>
              <a:t>+0.32</a:t>
            </a:r>
          </a:p>
        </p:txBody>
      </p:sp>
      <p:sp>
        <p:nvSpPr>
          <p:cNvPr id="29" name="TextBox 26">
            <a:extLst>
              <a:ext uri="{FF2B5EF4-FFF2-40B4-BE49-F238E27FC236}">
                <a16:creationId xmlns:a16="http://schemas.microsoft.com/office/drawing/2014/main" id="{64859114-D039-2B07-AC55-987AE2EA1D66}"/>
              </a:ext>
            </a:extLst>
          </p:cNvPr>
          <p:cNvSpPr txBox="1"/>
          <p:nvPr/>
        </p:nvSpPr>
        <p:spPr>
          <a:xfrm>
            <a:off x="7479792" y="3011039"/>
            <a:ext cx="1737360" cy="369332"/>
          </a:xfrm>
          <a:prstGeom prst="rect">
            <a:avLst/>
          </a:prstGeom>
          <a:noFill/>
        </p:spPr>
        <p:txBody>
          <a:bodyPr wrap="square" anchor="ctr">
            <a:spAutoFit/>
          </a:bodyPr>
          <a:lstStyle/>
          <a:p>
            <a:pPr algn="l"/>
            <a:r>
              <a:rPr b="0">
                <a:solidFill>
                  <a:srgbClr val="E24B4A"/>
                </a:solidFill>
                <a:latin typeface="Calibri"/>
              </a:rPr>
              <a:t>-0.19</a:t>
            </a:r>
          </a:p>
        </p:txBody>
      </p:sp>
      <p:sp>
        <p:nvSpPr>
          <p:cNvPr id="30" name="TextBox 27">
            <a:extLst>
              <a:ext uri="{FF2B5EF4-FFF2-40B4-BE49-F238E27FC236}">
                <a16:creationId xmlns:a16="http://schemas.microsoft.com/office/drawing/2014/main" id="{70A2A5BA-65A5-EC92-D889-6FA01D3CB71F}"/>
              </a:ext>
            </a:extLst>
          </p:cNvPr>
          <p:cNvSpPr txBox="1"/>
          <p:nvPr/>
        </p:nvSpPr>
        <p:spPr>
          <a:xfrm>
            <a:off x="9308592" y="3011039"/>
            <a:ext cx="2103120" cy="369332"/>
          </a:xfrm>
          <a:prstGeom prst="rect">
            <a:avLst/>
          </a:prstGeom>
          <a:noFill/>
        </p:spPr>
        <p:txBody>
          <a:bodyPr wrap="square" anchor="ctr">
            <a:spAutoFit/>
          </a:bodyPr>
          <a:lstStyle/>
          <a:p>
            <a:pPr algn="l"/>
            <a:r>
              <a:rPr b="1">
                <a:solidFill>
                  <a:srgbClr val="EF9F27"/>
                </a:solidFill>
                <a:latin typeface="Calibri"/>
              </a:rPr>
              <a:t>No-mem</a:t>
            </a:r>
          </a:p>
        </p:txBody>
      </p:sp>
      <p:sp>
        <p:nvSpPr>
          <p:cNvPr id="31" name="Rectangle 28">
            <a:extLst>
              <a:ext uri="{FF2B5EF4-FFF2-40B4-BE49-F238E27FC236}">
                <a16:creationId xmlns:a16="http://schemas.microsoft.com/office/drawing/2014/main" id="{3433B864-3A2E-84D3-DC35-58EE08937C54}"/>
              </a:ext>
            </a:extLst>
          </p:cNvPr>
          <p:cNvSpPr/>
          <p:nvPr/>
        </p:nvSpPr>
        <p:spPr>
          <a:xfrm>
            <a:off x="548640" y="3447164"/>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29">
            <a:extLst>
              <a:ext uri="{FF2B5EF4-FFF2-40B4-BE49-F238E27FC236}">
                <a16:creationId xmlns:a16="http://schemas.microsoft.com/office/drawing/2014/main" id="{8FAA4631-4556-6141-2DE0-DD04547E4CE5}"/>
              </a:ext>
            </a:extLst>
          </p:cNvPr>
          <p:cNvSpPr txBox="1"/>
          <p:nvPr/>
        </p:nvSpPr>
        <p:spPr>
          <a:xfrm>
            <a:off x="621792" y="3513958"/>
            <a:ext cx="1280160" cy="369332"/>
          </a:xfrm>
          <a:prstGeom prst="rect">
            <a:avLst/>
          </a:prstGeom>
          <a:noFill/>
        </p:spPr>
        <p:txBody>
          <a:bodyPr wrap="square" anchor="ctr">
            <a:spAutoFit/>
          </a:bodyPr>
          <a:lstStyle/>
          <a:p>
            <a:pPr algn="l"/>
            <a:r>
              <a:rPr b="1">
                <a:solidFill>
                  <a:srgbClr val="1E293B"/>
                </a:solidFill>
                <a:latin typeface="Calibri"/>
              </a:rPr>
              <a:t>AMZN</a:t>
            </a:r>
          </a:p>
        </p:txBody>
      </p:sp>
      <p:sp>
        <p:nvSpPr>
          <p:cNvPr id="33" name="TextBox 30">
            <a:extLst>
              <a:ext uri="{FF2B5EF4-FFF2-40B4-BE49-F238E27FC236}">
                <a16:creationId xmlns:a16="http://schemas.microsoft.com/office/drawing/2014/main" id="{CD3469D5-E15B-F6FC-9851-1066F114E622}"/>
              </a:ext>
            </a:extLst>
          </p:cNvPr>
          <p:cNvSpPr txBox="1"/>
          <p:nvPr/>
        </p:nvSpPr>
        <p:spPr>
          <a:xfrm>
            <a:off x="1993392" y="3513958"/>
            <a:ext cx="1737360" cy="369332"/>
          </a:xfrm>
          <a:prstGeom prst="rect">
            <a:avLst/>
          </a:prstGeom>
          <a:noFill/>
        </p:spPr>
        <p:txBody>
          <a:bodyPr wrap="square" anchor="ctr">
            <a:spAutoFit/>
          </a:bodyPr>
          <a:lstStyle/>
          <a:p>
            <a:pPr algn="l"/>
            <a:r>
              <a:rPr b="0">
                <a:solidFill>
                  <a:srgbClr val="02C39A"/>
                </a:solidFill>
                <a:latin typeface="Calibri"/>
              </a:rPr>
              <a:t>+1.67</a:t>
            </a:r>
          </a:p>
        </p:txBody>
      </p:sp>
      <p:sp>
        <p:nvSpPr>
          <p:cNvPr id="34" name="TextBox 31">
            <a:extLst>
              <a:ext uri="{FF2B5EF4-FFF2-40B4-BE49-F238E27FC236}">
                <a16:creationId xmlns:a16="http://schemas.microsoft.com/office/drawing/2014/main" id="{4B7952A1-250B-BDCC-2D60-A52930C43496}"/>
              </a:ext>
            </a:extLst>
          </p:cNvPr>
          <p:cNvSpPr txBox="1"/>
          <p:nvPr/>
        </p:nvSpPr>
        <p:spPr>
          <a:xfrm>
            <a:off x="3822191" y="3513958"/>
            <a:ext cx="1737360" cy="369332"/>
          </a:xfrm>
          <a:prstGeom prst="rect">
            <a:avLst/>
          </a:prstGeom>
          <a:noFill/>
        </p:spPr>
        <p:txBody>
          <a:bodyPr wrap="square" anchor="ctr">
            <a:spAutoFit/>
          </a:bodyPr>
          <a:lstStyle/>
          <a:p>
            <a:pPr algn="l"/>
            <a:r>
              <a:rPr b="0">
                <a:solidFill>
                  <a:srgbClr val="02C39A"/>
                </a:solidFill>
                <a:latin typeface="Calibri"/>
              </a:rPr>
              <a:t>+2.74</a:t>
            </a:r>
          </a:p>
        </p:txBody>
      </p:sp>
      <p:sp>
        <p:nvSpPr>
          <p:cNvPr id="35" name="TextBox 32">
            <a:extLst>
              <a:ext uri="{FF2B5EF4-FFF2-40B4-BE49-F238E27FC236}">
                <a16:creationId xmlns:a16="http://schemas.microsoft.com/office/drawing/2014/main" id="{6DC145B2-603E-568B-792F-16D067D75E44}"/>
              </a:ext>
            </a:extLst>
          </p:cNvPr>
          <p:cNvSpPr txBox="1"/>
          <p:nvPr/>
        </p:nvSpPr>
        <p:spPr>
          <a:xfrm>
            <a:off x="5650992" y="3513958"/>
            <a:ext cx="1737360" cy="369332"/>
          </a:xfrm>
          <a:prstGeom prst="rect">
            <a:avLst/>
          </a:prstGeom>
          <a:noFill/>
        </p:spPr>
        <p:txBody>
          <a:bodyPr wrap="square" anchor="ctr">
            <a:spAutoFit/>
          </a:bodyPr>
          <a:lstStyle/>
          <a:p>
            <a:pPr algn="l"/>
            <a:r>
              <a:rPr b="0">
                <a:solidFill>
                  <a:srgbClr val="02C39A"/>
                </a:solidFill>
                <a:latin typeface="Calibri"/>
              </a:rPr>
              <a:t>+1.31</a:t>
            </a:r>
          </a:p>
        </p:txBody>
      </p:sp>
      <p:sp>
        <p:nvSpPr>
          <p:cNvPr id="36" name="TextBox 33">
            <a:extLst>
              <a:ext uri="{FF2B5EF4-FFF2-40B4-BE49-F238E27FC236}">
                <a16:creationId xmlns:a16="http://schemas.microsoft.com/office/drawing/2014/main" id="{A4EE5410-2EF4-17FE-0761-B424FEBBB0C4}"/>
              </a:ext>
            </a:extLst>
          </p:cNvPr>
          <p:cNvSpPr txBox="1"/>
          <p:nvPr/>
        </p:nvSpPr>
        <p:spPr>
          <a:xfrm>
            <a:off x="7479792" y="3513958"/>
            <a:ext cx="1737360" cy="369332"/>
          </a:xfrm>
          <a:prstGeom prst="rect">
            <a:avLst/>
          </a:prstGeom>
          <a:noFill/>
        </p:spPr>
        <p:txBody>
          <a:bodyPr wrap="square" anchor="ctr">
            <a:spAutoFit/>
          </a:bodyPr>
          <a:lstStyle/>
          <a:p>
            <a:pPr algn="l"/>
            <a:r>
              <a:rPr b="0">
                <a:solidFill>
                  <a:srgbClr val="02C39A"/>
                </a:solidFill>
                <a:latin typeface="Calibri"/>
              </a:rPr>
              <a:t>+1.31</a:t>
            </a:r>
          </a:p>
        </p:txBody>
      </p:sp>
      <p:sp>
        <p:nvSpPr>
          <p:cNvPr id="37" name="TextBox 34">
            <a:extLst>
              <a:ext uri="{FF2B5EF4-FFF2-40B4-BE49-F238E27FC236}">
                <a16:creationId xmlns:a16="http://schemas.microsoft.com/office/drawing/2014/main" id="{D276E8A0-736E-3546-BCC7-269575B98F5E}"/>
              </a:ext>
            </a:extLst>
          </p:cNvPr>
          <p:cNvSpPr txBox="1"/>
          <p:nvPr/>
        </p:nvSpPr>
        <p:spPr>
          <a:xfrm>
            <a:off x="9308592" y="3513958"/>
            <a:ext cx="2103120" cy="369332"/>
          </a:xfrm>
          <a:prstGeom prst="rect">
            <a:avLst/>
          </a:prstGeom>
          <a:noFill/>
        </p:spPr>
        <p:txBody>
          <a:bodyPr wrap="square" anchor="ctr">
            <a:spAutoFit/>
          </a:bodyPr>
          <a:lstStyle/>
          <a:p>
            <a:pPr algn="l"/>
            <a:r>
              <a:rPr b="1">
                <a:solidFill>
                  <a:srgbClr val="EF9F27"/>
                </a:solidFill>
                <a:latin typeface="Calibri"/>
              </a:rPr>
              <a:t>No-mem</a:t>
            </a:r>
          </a:p>
        </p:txBody>
      </p:sp>
      <p:sp>
        <p:nvSpPr>
          <p:cNvPr id="38" name="Rectangle 35">
            <a:extLst>
              <a:ext uri="{FF2B5EF4-FFF2-40B4-BE49-F238E27FC236}">
                <a16:creationId xmlns:a16="http://schemas.microsoft.com/office/drawing/2014/main" id="{D66BCC6C-DE7B-B0EA-0E4A-05E0982823B7}"/>
              </a:ext>
            </a:extLst>
          </p:cNvPr>
          <p:cNvSpPr/>
          <p:nvPr/>
        </p:nvSpPr>
        <p:spPr>
          <a:xfrm>
            <a:off x="548640" y="3950084"/>
            <a:ext cx="10881360"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6">
            <a:extLst>
              <a:ext uri="{FF2B5EF4-FFF2-40B4-BE49-F238E27FC236}">
                <a16:creationId xmlns:a16="http://schemas.microsoft.com/office/drawing/2014/main" id="{4B346A40-DC77-0791-0B42-206BABC743C3}"/>
              </a:ext>
            </a:extLst>
          </p:cNvPr>
          <p:cNvSpPr txBox="1"/>
          <p:nvPr/>
        </p:nvSpPr>
        <p:spPr>
          <a:xfrm>
            <a:off x="621792" y="4016878"/>
            <a:ext cx="1280160" cy="369332"/>
          </a:xfrm>
          <a:prstGeom prst="rect">
            <a:avLst/>
          </a:prstGeom>
          <a:noFill/>
        </p:spPr>
        <p:txBody>
          <a:bodyPr wrap="square" anchor="ctr">
            <a:spAutoFit/>
          </a:bodyPr>
          <a:lstStyle/>
          <a:p>
            <a:pPr algn="l"/>
            <a:r>
              <a:rPr b="1">
                <a:solidFill>
                  <a:srgbClr val="1E293B"/>
                </a:solidFill>
                <a:latin typeface="Calibri"/>
              </a:rPr>
              <a:t>MSFT</a:t>
            </a:r>
          </a:p>
        </p:txBody>
      </p:sp>
      <p:sp>
        <p:nvSpPr>
          <p:cNvPr id="40" name="TextBox 37">
            <a:extLst>
              <a:ext uri="{FF2B5EF4-FFF2-40B4-BE49-F238E27FC236}">
                <a16:creationId xmlns:a16="http://schemas.microsoft.com/office/drawing/2014/main" id="{E801ED42-275E-8965-6470-A040FE3E1FBF}"/>
              </a:ext>
            </a:extLst>
          </p:cNvPr>
          <p:cNvSpPr txBox="1"/>
          <p:nvPr/>
        </p:nvSpPr>
        <p:spPr>
          <a:xfrm>
            <a:off x="1993392" y="4016878"/>
            <a:ext cx="1737360" cy="369332"/>
          </a:xfrm>
          <a:prstGeom prst="rect">
            <a:avLst/>
          </a:prstGeom>
          <a:noFill/>
        </p:spPr>
        <p:txBody>
          <a:bodyPr wrap="square" anchor="ctr">
            <a:spAutoFit/>
          </a:bodyPr>
          <a:lstStyle/>
          <a:p>
            <a:pPr algn="l"/>
            <a:r>
              <a:rPr b="0">
                <a:solidFill>
                  <a:srgbClr val="E24B4A"/>
                </a:solidFill>
                <a:latin typeface="Calibri"/>
              </a:rPr>
              <a:t>-0.20</a:t>
            </a:r>
          </a:p>
        </p:txBody>
      </p:sp>
      <p:sp>
        <p:nvSpPr>
          <p:cNvPr id="41" name="TextBox 38">
            <a:extLst>
              <a:ext uri="{FF2B5EF4-FFF2-40B4-BE49-F238E27FC236}">
                <a16:creationId xmlns:a16="http://schemas.microsoft.com/office/drawing/2014/main" id="{34CB32C0-0FAB-FB0A-452E-E78C2BB51E56}"/>
              </a:ext>
            </a:extLst>
          </p:cNvPr>
          <p:cNvSpPr txBox="1"/>
          <p:nvPr/>
        </p:nvSpPr>
        <p:spPr>
          <a:xfrm>
            <a:off x="3822191" y="4016878"/>
            <a:ext cx="1737360" cy="369332"/>
          </a:xfrm>
          <a:prstGeom prst="rect">
            <a:avLst/>
          </a:prstGeom>
          <a:noFill/>
        </p:spPr>
        <p:txBody>
          <a:bodyPr wrap="square" anchor="ctr">
            <a:spAutoFit/>
          </a:bodyPr>
          <a:lstStyle/>
          <a:p>
            <a:pPr algn="l"/>
            <a:r>
              <a:rPr b="0">
                <a:solidFill>
                  <a:srgbClr val="E24B4A"/>
                </a:solidFill>
                <a:latin typeface="Calibri"/>
              </a:rPr>
              <a:t>-0.56</a:t>
            </a:r>
          </a:p>
        </p:txBody>
      </p:sp>
      <p:sp>
        <p:nvSpPr>
          <p:cNvPr id="42" name="TextBox 39">
            <a:extLst>
              <a:ext uri="{FF2B5EF4-FFF2-40B4-BE49-F238E27FC236}">
                <a16:creationId xmlns:a16="http://schemas.microsoft.com/office/drawing/2014/main" id="{2708CCE7-54BD-3EDA-354A-952A8775B923}"/>
              </a:ext>
            </a:extLst>
          </p:cNvPr>
          <p:cNvSpPr txBox="1"/>
          <p:nvPr/>
        </p:nvSpPr>
        <p:spPr>
          <a:xfrm>
            <a:off x="5650992" y="4016878"/>
            <a:ext cx="1737360" cy="369332"/>
          </a:xfrm>
          <a:prstGeom prst="rect">
            <a:avLst/>
          </a:prstGeom>
          <a:noFill/>
        </p:spPr>
        <p:txBody>
          <a:bodyPr wrap="square" anchor="ctr">
            <a:spAutoFit/>
          </a:bodyPr>
          <a:lstStyle/>
          <a:p>
            <a:pPr algn="l"/>
            <a:r>
              <a:rPr b="0">
                <a:solidFill>
                  <a:srgbClr val="E24B4A"/>
                </a:solidFill>
                <a:latin typeface="Calibri"/>
              </a:rPr>
              <a:t>-0.12</a:t>
            </a:r>
          </a:p>
        </p:txBody>
      </p:sp>
      <p:sp>
        <p:nvSpPr>
          <p:cNvPr id="43" name="TextBox 40">
            <a:extLst>
              <a:ext uri="{FF2B5EF4-FFF2-40B4-BE49-F238E27FC236}">
                <a16:creationId xmlns:a16="http://schemas.microsoft.com/office/drawing/2014/main" id="{5AB6578A-39EA-6AA8-BC5D-756B79324CF6}"/>
              </a:ext>
            </a:extLst>
          </p:cNvPr>
          <p:cNvSpPr txBox="1"/>
          <p:nvPr/>
        </p:nvSpPr>
        <p:spPr>
          <a:xfrm>
            <a:off x="7479792" y="4016878"/>
            <a:ext cx="1737360" cy="369332"/>
          </a:xfrm>
          <a:prstGeom prst="rect">
            <a:avLst/>
          </a:prstGeom>
          <a:noFill/>
        </p:spPr>
        <p:txBody>
          <a:bodyPr wrap="square" anchor="ctr">
            <a:spAutoFit/>
          </a:bodyPr>
          <a:lstStyle/>
          <a:p>
            <a:pPr algn="l"/>
            <a:r>
              <a:rPr b="0">
                <a:solidFill>
                  <a:srgbClr val="64748B"/>
                </a:solidFill>
                <a:latin typeface="Calibri"/>
              </a:rPr>
              <a:t>0.00</a:t>
            </a:r>
          </a:p>
        </p:txBody>
      </p:sp>
      <p:sp>
        <p:nvSpPr>
          <p:cNvPr id="44" name="TextBox 41">
            <a:extLst>
              <a:ext uri="{FF2B5EF4-FFF2-40B4-BE49-F238E27FC236}">
                <a16:creationId xmlns:a16="http://schemas.microsoft.com/office/drawing/2014/main" id="{3DECE67B-8E6E-2478-F73F-1F509C6230A9}"/>
              </a:ext>
            </a:extLst>
          </p:cNvPr>
          <p:cNvSpPr txBox="1"/>
          <p:nvPr/>
        </p:nvSpPr>
        <p:spPr>
          <a:xfrm>
            <a:off x="9308592" y="4016878"/>
            <a:ext cx="2103120" cy="369332"/>
          </a:xfrm>
          <a:prstGeom prst="rect">
            <a:avLst/>
          </a:prstGeom>
          <a:noFill/>
        </p:spPr>
        <p:txBody>
          <a:bodyPr wrap="square" anchor="ctr">
            <a:spAutoFit/>
          </a:bodyPr>
          <a:lstStyle/>
          <a:p>
            <a:pPr algn="l"/>
            <a:r>
              <a:rPr b="1">
                <a:solidFill>
                  <a:srgbClr val="64748B"/>
                </a:solidFill>
                <a:latin typeface="Calibri"/>
              </a:rPr>
              <a:t>B&amp;H</a:t>
            </a:r>
          </a:p>
        </p:txBody>
      </p:sp>
      <p:sp>
        <p:nvSpPr>
          <p:cNvPr id="45" name="Rectangle 42">
            <a:extLst>
              <a:ext uri="{FF2B5EF4-FFF2-40B4-BE49-F238E27FC236}">
                <a16:creationId xmlns:a16="http://schemas.microsoft.com/office/drawing/2014/main" id="{6A200483-B78B-D290-7A3A-8C700B10C734}"/>
              </a:ext>
            </a:extLst>
          </p:cNvPr>
          <p:cNvSpPr/>
          <p:nvPr/>
        </p:nvSpPr>
        <p:spPr>
          <a:xfrm>
            <a:off x="548640" y="4453004"/>
            <a:ext cx="10881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3">
            <a:extLst>
              <a:ext uri="{FF2B5EF4-FFF2-40B4-BE49-F238E27FC236}">
                <a16:creationId xmlns:a16="http://schemas.microsoft.com/office/drawing/2014/main" id="{37FB6A04-17C9-42CA-7283-A011EEC6C2C7}"/>
              </a:ext>
            </a:extLst>
          </p:cNvPr>
          <p:cNvSpPr txBox="1"/>
          <p:nvPr/>
        </p:nvSpPr>
        <p:spPr>
          <a:xfrm>
            <a:off x="621792" y="4519798"/>
            <a:ext cx="1280160" cy="369332"/>
          </a:xfrm>
          <a:prstGeom prst="rect">
            <a:avLst/>
          </a:prstGeom>
          <a:noFill/>
        </p:spPr>
        <p:txBody>
          <a:bodyPr wrap="square" anchor="ctr">
            <a:spAutoFit/>
          </a:bodyPr>
          <a:lstStyle/>
          <a:p>
            <a:pPr algn="l"/>
            <a:r>
              <a:rPr b="1">
                <a:solidFill>
                  <a:srgbClr val="1E293B"/>
                </a:solidFill>
                <a:latin typeface="Calibri"/>
              </a:rPr>
              <a:t>COIN</a:t>
            </a:r>
          </a:p>
        </p:txBody>
      </p:sp>
      <p:sp>
        <p:nvSpPr>
          <p:cNvPr id="47" name="TextBox 44">
            <a:extLst>
              <a:ext uri="{FF2B5EF4-FFF2-40B4-BE49-F238E27FC236}">
                <a16:creationId xmlns:a16="http://schemas.microsoft.com/office/drawing/2014/main" id="{52D3DA98-E568-A110-0435-3F2893C6E02B}"/>
              </a:ext>
            </a:extLst>
          </p:cNvPr>
          <p:cNvSpPr txBox="1"/>
          <p:nvPr/>
        </p:nvSpPr>
        <p:spPr>
          <a:xfrm>
            <a:off x="1993392" y="4519798"/>
            <a:ext cx="1737360" cy="369332"/>
          </a:xfrm>
          <a:prstGeom prst="rect">
            <a:avLst/>
          </a:prstGeom>
          <a:noFill/>
        </p:spPr>
        <p:txBody>
          <a:bodyPr wrap="square" anchor="ctr">
            <a:spAutoFit/>
          </a:bodyPr>
          <a:lstStyle/>
          <a:p>
            <a:pPr algn="l"/>
            <a:r>
              <a:rPr b="0">
                <a:solidFill>
                  <a:srgbClr val="E24B4A"/>
                </a:solidFill>
                <a:latin typeface="Calibri"/>
              </a:rPr>
              <a:t>-0.70</a:t>
            </a:r>
          </a:p>
        </p:txBody>
      </p:sp>
      <p:sp>
        <p:nvSpPr>
          <p:cNvPr id="48" name="TextBox 45">
            <a:extLst>
              <a:ext uri="{FF2B5EF4-FFF2-40B4-BE49-F238E27FC236}">
                <a16:creationId xmlns:a16="http://schemas.microsoft.com/office/drawing/2014/main" id="{E92EDEC4-822E-BF2A-D2D6-E40C452B46E3}"/>
              </a:ext>
            </a:extLst>
          </p:cNvPr>
          <p:cNvSpPr txBox="1"/>
          <p:nvPr/>
        </p:nvSpPr>
        <p:spPr>
          <a:xfrm>
            <a:off x="3822191" y="4519798"/>
            <a:ext cx="1737360" cy="369332"/>
          </a:xfrm>
          <a:prstGeom prst="rect">
            <a:avLst/>
          </a:prstGeom>
          <a:noFill/>
        </p:spPr>
        <p:txBody>
          <a:bodyPr wrap="square" anchor="ctr">
            <a:spAutoFit/>
          </a:bodyPr>
          <a:lstStyle/>
          <a:p>
            <a:pPr algn="l"/>
            <a:r>
              <a:rPr b="0">
                <a:solidFill>
                  <a:srgbClr val="E24B4A"/>
                </a:solidFill>
                <a:latin typeface="Calibri"/>
              </a:rPr>
              <a:t>-1.49</a:t>
            </a:r>
          </a:p>
        </p:txBody>
      </p:sp>
      <p:sp>
        <p:nvSpPr>
          <p:cNvPr id="49" name="TextBox 46">
            <a:extLst>
              <a:ext uri="{FF2B5EF4-FFF2-40B4-BE49-F238E27FC236}">
                <a16:creationId xmlns:a16="http://schemas.microsoft.com/office/drawing/2014/main" id="{0596D8C4-A8B2-0AE4-FA09-BA50F1DC8406}"/>
              </a:ext>
            </a:extLst>
          </p:cNvPr>
          <p:cNvSpPr txBox="1"/>
          <p:nvPr/>
        </p:nvSpPr>
        <p:spPr>
          <a:xfrm>
            <a:off x="5650992" y="4519798"/>
            <a:ext cx="1737360" cy="369332"/>
          </a:xfrm>
          <a:prstGeom prst="rect">
            <a:avLst/>
          </a:prstGeom>
          <a:noFill/>
        </p:spPr>
        <p:txBody>
          <a:bodyPr wrap="square" anchor="ctr">
            <a:spAutoFit/>
          </a:bodyPr>
          <a:lstStyle/>
          <a:p>
            <a:pPr algn="l"/>
            <a:r>
              <a:rPr b="0">
                <a:solidFill>
                  <a:srgbClr val="E24B4A"/>
                </a:solidFill>
                <a:latin typeface="Calibri"/>
              </a:rPr>
              <a:t>-0.35</a:t>
            </a:r>
          </a:p>
        </p:txBody>
      </p:sp>
      <p:sp>
        <p:nvSpPr>
          <p:cNvPr id="50" name="TextBox 47">
            <a:extLst>
              <a:ext uri="{FF2B5EF4-FFF2-40B4-BE49-F238E27FC236}">
                <a16:creationId xmlns:a16="http://schemas.microsoft.com/office/drawing/2014/main" id="{227D30DD-7042-932A-D3B0-8AF28208AFFE}"/>
              </a:ext>
            </a:extLst>
          </p:cNvPr>
          <p:cNvSpPr txBox="1"/>
          <p:nvPr/>
        </p:nvSpPr>
        <p:spPr>
          <a:xfrm>
            <a:off x="7479792" y="4519798"/>
            <a:ext cx="1737360" cy="369332"/>
          </a:xfrm>
          <a:prstGeom prst="rect">
            <a:avLst/>
          </a:prstGeom>
          <a:noFill/>
        </p:spPr>
        <p:txBody>
          <a:bodyPr wrap="square" anchor="ctr">
            <a:spAutoFit/>
          </a:bodyPr>
          <a:lstStyle/>
          <a:p>
            <a:pPr algn="l"/>
            <a:r>
              <a:rPr b="0">
                <a:solidFill>
                  <a:srgbClr val="E24B4A"/>
                </a:solidFill>
                <a:latin typeface="Calibri"/>
              </a:rPr>
              <a:t>-0.44</a:t>
            </a:r>
          </a:p>
        </p:txBody>
      </p:sp>
      <p:sp>
        <p:nvSpPr>
          <p:cNvPr id="51" name="TextBox 48">
            <a:extLst>
              <a:ext uri="{FF2B5EF4-FFF2-40B4-BE49-F238E27FC236}">
                <a16:creationId xmlns:a16="http://schemas.microsoft.com/office/drawing/2014/main" id="{7DEFBB81-AD43-F698-7857-6740EDA12456}"/>
              </a:ext>
            </a:extLst>
          </p:cNvPr>
          <p:cNvSpPr txBox="1"/>
          <p:nvPr/>
        </p:nvSpPr>
        <p:spPr>
          <a:xfrm>
            <a:off x="9308592" y="4519798"/>
            <a:ext cx="2103120" cy="369332"/>
          </a:xfrm>
          <a:prstGeom prst="rect">
            <a:avLst/>
          </a:prstGeom>
          <a:noFill/>
        </p:spPr>
        <p:txBody>
          <a:bodyPr wrap="square" anchor="ctr">
            <a:spAutoFit/>
          </a:bodyPr>
          <a:lstStyle/>
          <a:p>
            <a:pPr algn="l"/>
            <a:r>
              <a:rPr b="1">
                <a:solidFill>
                  <a:srgbClr val="1C7293"/>
                </a:solidFill>
                <a:latin typeface="Calibri"/>
              </a:rPr>
              <a:t>LC-Trader</a:t>
            </a:r>
          </a:p>
        </p:txBody>
      </p:sp>
      <p:sp>
        <p:nvSpPr>
          <p:cNvPr id="52" name="Rectangle 49">
            <a:extLst>
              <a:ext uri="{FF2B5EF4-FFF2-40B4-BE49-F238E27FC236}">
                <a16:creationId xmlns:a16="http://schemas.microsoft.com/office/drawing/2014/main" id="{FF4A2F34-B1C0-1D01-AE4D-A3CF16836187}"/>
              </a:ext>
            </a:extLst>
          </p:cNvPr>
          <p:cNvSpPr/>
          <p:nvPr/>
        </p:nvSpPr>
        <p:spPr>
          <a:xfrm>
            <a:off x="548640" y="4955924"/>
            <a:ext cx="10881360" cy="502920"/>
          </a:xfrm>
          <a:prstGeom prst="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3" name="TextBox 50">
            <a:extLst>
              <a:ext uri="{FF2B5EF4-FFF2-40B4-BE49-F238E27FC236}">
                <a16:creationId xmlns:a16="http://schemas.microsoft.com/office/drawing/2014/main" id="{06145514-3978-6E07-8E98-43549056E11E}"/>
              </a:ext>
            </a:extLst>
          </p:cNvPr>
          <p:cNvSpPr txBox="1"/>
          <p:nvPr/>
        </p:nvSpPr>
        <p:spPr>
          <a:xfrm>
            <a:off x="621792" y="5022718"/>
            <a:ext cx="1280160" cy="369332"/>
          </a:xfrm>
          <a:prstGeom prst="rect">
            <a:avLst/>
          </a:prstGeom>
          <a:noFill/>
        </p:spPr>
        <p:txBody>
          <a:bodyPr wrap="square" anchor="ctr">
            <a:spAutoFit/>
          </a:bodyPr>
          <a:lstStyle/>
          <a:p>
            <a:pPr algn="l"/>
            <a:r>
              <a:rPr b="1">
                <a:solidFill>
                  <a:srgbClr val="1E293B"/>
                </a:solidFill>
                <a:latin typeface="Calibri"/>
              </a:rPr>
              <a:t>MEAN</a:t>
            </a:r>
          </a:p>
        </p:txBody>
      </p:sp>
      <p:sp>
        <p:nvSpPr>
          <p:cNvPr id="54" name="TextBox 51">
            <a:extLst>
              <a:ext uri="{FF2B5EF4-FFF2-40B4-BE49-F238E27FC236}">
                <a16:creationId xmlns:a16="http://schemas.microsoft.com/office/drawing/2014/main" id="{1000C885-8157-D85B-0258-EFD97391DEC2}"/>
              </a:ext>
            </a:extLst>
          </p:cNvPr>
          <p:cNvSpPr txBox="1"/>
          <p:nvPr/>
        </p:nvSpPr>
        <p:spPr>
          <a:xfrm>
            <a:off x="1993392" y="5022718"/>
            <a:ext cx="1737360" cy="369332"/>
          </a:xfrm>
          <a:prstGeom prst="rect">
            <a:avLst/>
          </a:prstGeom>
          <a:noFill/>
        </p:spPr>
        <p:txBody>
          <a:bodyPr wrap="square" anchor="ctr">
            <a:spAutoFit/>
          </a:bodyPr>
          <a:lstStyle/>
          <a:p>
            <a:pPr algn="l"/>
            <a:r>
              <a:rPr b="1">
                <a:solidFill>
                  <a:srgbClr val="E24B4A"/>
                </a:solidFill>
                <a:latin typeface="Calibri"/>
              </a:rPr>
              <a:t>-0.15</a:t>
            </a:r>
          </a:p>
        </p:txBody>
      </p:sp>
      <p:sp>
        <p:nvSpPr>
          <p:cNvPr id="55" name="TextBox 52">
            <a:extLst>
              <a:ext uri="{FF2B5EF4-FFF2-40B4-BE49-F238E27FC236}">
                <a16:creationId xmlns:a16="http://schemas.microsoft.com/office/drawing/2014/main" id="{9E12D3AB-185D-B92A-F308-8FC316571C30}"/>
              </a:ext>
            </a:extLst>
          </p:cNvPr>
          <p:cNvSpPr txBox="1"/>
          <p:nvPr/>
        </p:nvSpPr>
        <p:spPr>
          <a:xfrm>
            <a:off x="3822191" y="5022718"/>
            <a:ext cx="1737360" cy="369332"/>
          </a:xfrm>
          <a:prstGeom prst="rect">
            <a:avLst/>
          </a:prstGeom>
          <a:noFill/>
        </p:spPr>
        <p:txBody>
          <a:bodyPr wrap="square" anchor="ctr">
            <a:spAutoFit/>
          </a:bodyPr>
          <a:lstStyle/>
          <a:p>
            <a:pPr algn="l"/>
            <a:r>
              <a:rPr b="1">
                <a:solidFill>
                  <a:srgbClr val="02C39A"/>
                </a:solidFill>
                <a:latin typeface="Calibri"/>
              </a:rPr>
              <a:t>+0.38</a:t>
            </a:r>
          </a:p>
        </p:txBody>
      </p:sp>
      <p:sp>
        <p:nvSpPr>
          <p:cNvPr id="56" name="TextBox 53">
            <a:extLst>
              <a:ext uri="{FF2B5EF4-FFF2-40B4-BE49-F238E27FC236}">
                <a16:creationId xmlns:a16="http://schemas.microsoft.com/office/drawing/2014/main" id="{282FB841-65DF-4967-7F84-AE1273252B64}"/>
              </a:ext>
            </a:extLst>
          </p:cNvPr>
          <p:cNvSpPr txBox="1"/>
          <p:nvPr/>
        </p:nvSpPr>
        <p:spPr>
          <a:xfrm>
            <a:off x="5650992" y="5022718"/>
            <a:ext cx="1737360" cy="369332"/>
          </a:xfrm>
          <a:prstGeom prst="rect">
            <a:avLst/>
          </a:prstGeom>
          <a:noFill/>
        </p:spPr>
        <p:txBody>
          <a:bodyPr wrap="square" anchor="ctr">
            <a:spAutoFit/>
          </a:bodyPr>
          <a:lstStyle/>
          <a:p>
            <a:pPr algn="l"/>
            <a:r>
              <a:rPr b="1">
                <a:solidFill>
                  <a:srgbClr val="02C39A"/>
                </a:solidFill>
                <a:latin typeface="Calibri"/>
              </a:rPr>
              <a:t>+0.16</a:t>
            </a:r>
          </a:p>
        </p:txBody>
      </p:sp>
      <p:sp>
        <p:nvSpPr>
          <p:cNvPr id="57" name="TextBox 54">
            <a:extLst>
              <a:ext uri="{FF2B5EF4-FFF2-40B4-BE49-F238E27FC236}">
                <a16:creationId xmlns:a16="http://schemas.microsoft.com/office/drawing/2014/main" id="{58E8C74D-7057-A0CF-EA15-E5F809919423}"/>
              </a:ext>
            </a:extLst>
          </p:cNvPr>
          <p:cNvSpPr txBox="1"/>
          <p:nvPr/>
        </p:nvSpPr>
        <p:spPr>
          <a:xfrm>
            <a:off x="7479792" y="5022718"/>
            <a:ext cx="1737360" cy="369332"/>
          </a:xfrm>
          <a:prstGeom prst="rect">
            <a:avLst/>
          </a:prstGeom>
          <a:noFill/>
        </p:spPr>
        <p:txBody>
          <a:bodyPr wrap="square" anchor="ctr">
            <a:spAutoFit/>
          </a:bodyPr>
          <a:lstStyle/>
          <a:p>
            <a:pPr algn="l"/>
            <a:r>
              <a:rPr b="1">
                <a:solidFill>
                  <a:srgbClr val="02C39A"/>
                </a:solidFill>
                <a:latin typeface="Calibri"/>
              </a:rPr>
              <a:t>+0.11</a:t>
            </a:r>
          </a:p>
        </p:txBody>
      </p:sp>
      <p:sp>
        <p:nvSpPr>
          <p:cNvPr id="58" name="TextBox 55">
            <a:extLst>
              <a:ext uri="{FF2B5EF4-FFF2-40B4-BE49-F238E27FC236}">
                <a16:creationId xmlns:a16="http://schemas.microsoft.com/office/drawing/2014/main" id="{67F1A316-A880-A19D-32C2-8DB8767ED5A6}"/>
              </a:ext>
            </a:extLst>
          </p:cNvPr>
          <p:cNvSpPr txBox="1"/>
          <p:nvPr/>
        </p:nvSpPr>
        <p:spPr>
          <a:xfrm>
            <a:off x="9308592" y="5022718"/>
            <a:ext cx="2103120" cy="369332"/>
          </a:xfrm>
          <a:prstGeom prst="rect">
            <a:avLst/>
          </a:prstGeom>
          <a:noFill/>
        </p:spPr>
        <p:txBody>
          <a:bodyPr wrap="square" anchor="ctr">
            <a:spAutoFit/>
          </a:bodyPr>
          <a:lstStyle/>
          <a:p>
            <a:pPr algn="l"/>
            <a:r>
              <a:rPr b="1">
                <a:solidFill>
                  <a:srgbClr val="EF9F27"/>
                </a:solidFill>
                <a:latin typeface="Calibri"/>
              </a:rPr>
              <a:t>No-mem</a:t>
            </a:r>
          </a:p>
        </p:txBody>
      </p:sp>
    </p:spTree>
    <p:extLst>
      <p:ext uri="{BB962C8B-B14F-4D97-AF65-F5344CB8AC3E}">
        <p14:creationId xmlns:p14="http://schemas.microsoft.com/office/powerpoint/2010/main" val="2715532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74320"/>
          </a:xfrm>
          <a:prstGeom prst="rect">
            <a:avLst/>
          </a:prstGeom>
          <a:noFill/>
        </p:spPr>
        <p:txBody>
          <a:bodyPr wrap="square" lIns="45720" tIns="18288" rIns="45720" bIns="18288" anchor="t">
            <a:spAutoFit/>
          </a:bodyPr>
          <a:lstStyle/>
          <a:p>
            <a:pPr algn="l">
              <a:spcAft>
                <a:spcPts val="400"/>
              </a:spcAft>
            </a:pPr>
            <a:r>
              <a:rPr sz="1200" b="1" i="0">
                <a:solidFill>
                  <a:srgbClr val="1C7293"/>
                </a:solidFill>
                <a:latin typeface="Calibri"/>
              </a:rPr>
              <a:t>MEMORY</a:t>
            </a:r>
          </a:p>
        </p:txBody>
      </p:sp>
      <p:sp>
        <p:nvSpPr>
          <p:cNvPr id="4" name="TextBox 3"/>
          <p:cNvSpPr txBox="1"/>
          <p:nvPr/>
        </p:nvSpPr>
        <p:spPr>
          <a:xfrm>
            <a:off x="548640" y="548640"/>
            <a:ext cx="11064240" cy="777240"/>
          </a:xfrm>
          <a:prstGeom prst="rect">
            <a:avLst/>
          </a:prstGeom>
          <a:noFill/>
        </p:spPr>
        <p:txBody>
          <a:bodyPr wrap="square" lIns="45720" tIns="18288" rIns="45720" bIns="18288" anchor="t">
            <a:spAutoFit/>
          </a:bodyPr>
          <a:lstStyle/>
          <a:p>
            <a:pPr algn="l">
              <a:spcAft>
                <a:spcPts val="400"/>
              </a:spcAft>
            </a:pPr>
            <a:r>
              <a:rPr sz="2900" b="1" i="0">
                <a:solidFill>
                  <a:srgbClr val="21295C"/>
                </a:solidFill>
                <a:latin typeface="Cambria"/>
              </a:rPr>
              <a:t>Inside the memory: vector store &amp; the retention fix</a:t>
            </a:r>
          </a:p>
        </p:txBody>
      </p:sp>
      <p:pic>
        <p:nvPicPr>
          <p:cNvPr id="5" name="Picture 4" descr="vectordb_NFLX.png"/>
          <p:cNvPicPr>
            <a:picLocks noChangeAspect="1"/>
          </p:cNvPicPr>
          <p:nvPr/>
        </p:nvPicPr>
        <p:blipFill>
          <a:blip r:embed="rId2"/>
          <a:stretch>
            <a:fillRect/>
          </a:stretch>
        </p:blipFill>
        <p:spPr>
          <a:xfrm>
            <a:off x="548640" y="1463040"/>
            <a:ext cx="4297680" cy="3483790"/>
          </a:xfrm>
          <a:prstGeom prst="rect">
            <a:avLst/>
          </a:prstGeom>
        </p:spPr>
      </p:pic>
      <p:sp>
        <p:nvSpPr>
          <p:cNvPr id="6" name="TextBox 5"/>
          <p:cNvSpPr txBox="1"/>
          <p:nvPr/>
        </p:nvSpPr>
        <p:spPr>
          <a:xfrm>
            <a:off x="548640" y="5650992"/>
            <a:ext cx="4297680" cy="365760"/>
          </a:xfrm>
          <a:prstGeom prst="rect">
            <a:avLst/>
          </a:prstGeom>
          <a:noFill/>
        </p:spPr>
        <p:txBody>
          <a:bodyPr wrap="square" lIns="45720" tIns="18288" rIns="45720" bIns="18288" anchor="t">
            <a:spAutoFit/>
          </a:bodyPr>
          <a:lstStyle/>
          <a:p>
            <a:pPr algn="l">
              <a:spcAft>
                <a:spcPts val="400"/>
              </a:spcAft>
            </a:pPr>
            <a:r>
              <a:rPr sz="1100" b="0" i="1">
                <a:solidFill>
                  <a:srgbClr val="64748B"/>
                </a:solidFill>
                <a:latin typeface="Calibri"/>
              </a:rPr>
              <a:t>NFLX memory vectors (PCA), coloured by layer.</a:t>
            </a:r>
          </a:p>
        </p:txBody>
      </p:sp>
      <p:pic>
        <p:nvPicPr>
          <p:cNvPr id="7" name="Picture 6" descr="memory_growth_NFLX.png"/>
          <p:cNvPicPr>
            <a:picLocks noChangeAspect="1"/>
          </p:cNvPicPr>
          <p:nvPr/>
        </p:nvPicPr>
        <p:blipFill>
          <a:blip r:embed="rId3"/>
          <a:stretch>
            <a:fillRect/>
          </a:stretch>
        </p:blipFill>
        <p:spPr>
          <a:xfrm>
            <a:off x="5212080" y="1620455"/>
            <a:ext cx="6400800" cy="3159888"/>
          </a:xfrm>
          <a:prstGeom prst="rect">
            <a:avLst/>
          </a:prstGeom>
        </p:spPr>
      </p:pic>
      <p:sp>
        <p:nvSpPr>
          <p:cNvPr id="8" name="TextBox 7"/>
          <p:cNvSpPr txBox="1"/>
          <p:nvPr/>
        </p:nvSpPr>
        <p:spPr>
          <a:xfrm>
            <a:off x="5212080" y="5029200"/>
            <a:ext cx="6400800" cy="1005840"/>
          </a:xfrm>
          <a:prstGeom prst="rect">
            <a:avLst/>
          </a:prstGeom>
          <a:noFill/>
        </p:spPr>
        <p:txBody>
          <a:bodyPr wrap="square" lIns="45720" tIns="18288" rIns="45720" bIns="18288" anchor="t">
            <a:spAutoFit/>
          </a:bodyPr>
          <a:lstStyle/>
          <a:p>
            <a:pPr algn="l">
              <a:lnSpc>
                <a:spcPct val="110000"/>
              </a:lnSpc>
              <a:spcAft>
                <a:spcPts val="400"/>
              </a:spcAft>
            </a:pPr>
            <a:r>
              <a:rPr sz="1350" b="1" i="0">
                <a:solidFill>
                  <a:srgbClr val="21295C"/>
                </a:solidFill>
                <a:latin typeface="Calibri"/>
              </a:rPr>
              <a:t>The F2 fix in one chart: </a:t>
            </a:r>
            <a:r>
              <a:rPr sz="1300" b="0" i="0">
                <a:solidFill>
                  <a:srgbClr val="1E293B"/>
                </a:solidFill>
                <a:latin typeface="Calibri"/>
              </a:rPr>
              <a:t>the as-shipped deep layer was a 3-day revolving door that kept zero filings; ours retains 1000+ memories so reflections and filings actually accumulate.</a:t>
            </a:r>
          </a:p>
        </p:txBody>
      </p:sp>
      <p:sp>
        <p:nvSpPr>
          <p:cNvPr id="9" name="TextBox 8"/>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10" name="TextBox 9"/>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endParaRPr/>
          </a:p>
        </p:txBody>
      </p:sp>
    </p:spTree>
    <p:extLst>
      <p:ext uri="{BB962C8B-B14F-4D97-AF65-F5344CB8AC3E}">
        <p14:creationId xmlns:p14="http://schemas.microsoft.com/office/powerpoint/2010/main" val="1519531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64240" cy="274320"/>
          </a:xfrm>
          <a:prstGeom prst="rect">
            <a:avLst/>
          </a:prstGeom>
          <a:noFill/>
        </p:spPr>
        <p:txBody>
          <a:bodyPr wrap="square" lIns="45720" tIns="18288" rIns="45720" bIns="18288" anchor="t">
            <a:spAutoFit/>
          </a:bodyPr>
          <a:lstStyle/>
          <a:p>
            <a:pPr algn="l">
              <a:spcAft>
                <a:spcPts val="400"/>
              </a:spcAft>
            </a:pPr>
            <a:r>
              <a:rPr sz="1200" b="1" i="0">
                <a:solidFill>
                  <a:srgbClr val="1C7293"/>
                </a:solidFill>
                <a:latin typeface="Calibri"/>
              </a:rPr>
              <a:t>INTEGRITY</a:t>
            </a:r>
          </a:p>
        </p:txBody>
      </p:sp>
      <p:sp>
        <p:nvSpPr>
          <p:cNvPr id="4" name="TextBox 3"/>
          <p:cNvSpPr txBox="1"/>
          <p:nvPr/>
        </p:nvSpPr>
        <p:spPr>
          <a:xfrm>
            <a:off x="548640" y="548640"/>
            <a:ext cx="11064240" cy="777240"/>
          </a:xfrm>
          <a:prstGeom prst="rect">
            <a:avLst/>
          </a:prstGeom>
          <a:noFill/>
        </p:spPr>
        <p:txBody>
          <a:bodyPr wrap="square" lIns="45720" tIns="18288" rIns="45720" bIns="18288" anchor="t">
            <a:spAutoFit/>
          </a:bodyPr>
          <a:lstStyle/>
          <a:p>
            <a:pPr algn="l">
              <a:spcAft>
                <a:spcPts val="400"/>
              </a:spcAft>
            </a:pPr>
            <a:r>
              <a:rPr sz="2900" b="1" i="0">
                <a:solidFill>
                  <a:srgbClr val="21295C"/>
                </a:solidFill>
                <a:latin typeface="Cambria"/>
              </a:rPr>
              <a:t>We audited our own numbers - and caught two bugs</a:t>
            </a:r>
          </a:p>
        </p:txBody>
      </p:sp>
      <p:sp>
        <p:nvSpPr>
          <p:cNvPr id="5" name="TextBox 4"/>
          <p:cNvSpPr txBox="1"/>
          <p:nvPr/>
        </p:nvSpPr>
        <p:spPr>
          <a:xfrm>
            <a:off x="548640" y="1325880"/>
            <a:ext cx="11064240" cy="548640"/>
          </a:xfrm>
          <a:prstGeom prst="rect">
            <a:avLst/>
          </a:prstGeom>
          <a:noFill/>
        </p:spPr>
        <p:txBody>
          <a:bodyPr wrap="square" lIns="45720" tIns="18288" rIns="45720" bIns="18288" anchor="t">
            <a:spAutoFit/>
          </a:bodyPr>
          <a:lstStyle/>
          <a:p>
            <a:pPr algn="l">
              <a:lnSpc>
                <a:spcPct val="112000"/>
              </a:lnSpc>
              <a:spcAft>
                <a:spcPts val="400"/>
              </a:spcAft>
            </a:pPr>
            <a:r>
              <a:rPr sz="1500" b="0" i="0">
                <a:solidFill>
                  <a:srgbClr val="1E293B"/>
                </a:solidFill>
                <a:latin typeface="Calibri"/>
              </a:rPr>
              <a:t>Practising what we preached: an independent recompute disagreed with our first results. We found </a:t>
            </a:r>
            <a:r>
              <a:rPr sz="1500" b="1" i="0">
                <a:solidFill>
                  <a:srgbClr val="E24B4A"/>
                </a:solidFill>
                <a:latin typeface="Calibri"/>
              </a:rPr>
              <a:t>two metric bugs</a:t>
            </a:r>
            <a:r>
              <a:rPr sz="1500" b="0" i="0">
                <a:solidFill>
                  <a:srgbClr val="1E293B"/>
                </a:solidFill>
                <a:latin typeface="Calibri"/>
              </a:rPr>
              <a:t> and corrected every number.</a:t>
            </a:r>
          </a:p>
        </p:txBody>
      </p:sp>
      <p:sp>
        <p:nvSpPr>
          <p:cNvPr id="6" name="Rounded Rectangle 5"/>
          <p:cNvSpPr/>
          <p:nvPr/>
        </p:nvSpPr>
        <p:spPr>
          <a:xfrm>
            <a:off x="548640" y="2148840"/>
            <a:ext cx="11064240" cy="1024128"/>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267712"/>
            <a:ext cx="3108960" cy="777240"/>
          </a:xfrm>
          <a:prstGeom prst="rect">
            <a:avLst/>
          </a:prstGeom>
          <a:noFill/>
        </p:spPr>
        <p:txBody>
          <a:bodyPr wrap="square" lIns="45720" tIns="18288" rIns="45720" bIns="18288" anchor="ctr">
            <a:spAutoFit/>
          </a:bodyPr>
          <a:lstStyle/>
          <a:p>
            <a:pPr algn="l">
              <a:spcAft>
                <a:spcPts val="400"/>
              </a:spcAft>
            </a:pPr>
            <a:r>
              <a:rPr sz="1500" b="1" i="0">
                <a:solidFill>
                  <a:srgbClr val="E24B4A"/>
                </a:solidFill>
                <a:latin typeface="Calibri"/>
              </a:rPr>
              <a:t>Terminal-day truncation</a:t>
            </a:r>
          </a:p>
        </p:txBody>
      </p:sp>
      <p:sp>
        <p:nvSpPr>
          <p:cNvPr id="8" name="TextBox 7"/>
          <p:cNvSpPr txBox="1"/>
          <p:nvPr/>
        </p:nvSpPr>
        <p:spPr>
          <a:xfrm>
            <a:off x="3931920" y="2267712"/>
            <a:ext cx="7498079" cy="777240"/>
          </a:xfrm>
          <a:prstGeom prst="rect">
            <a:avLst/>
          </a:prstGeom>
          <a:noFill/>
        </p:spPr>
        <p:txBody>
          <a:bodyPr wrap="square" lIns="45720" tIns="18288" rIns="45720" bIns="18288" anchor="ctr">
            <a:spAutoFit/>
          </a:bodyPr>
          <a:lstStyle/>
          <a:p>
            <a:pPr algn="l">
              <a:lnSpc>
                <a:spcPct val="105000"/>
              </a:lnSpc>
              <a:spcAft>
                <a:spcPts val="400"/>
              </a:spcAft>
            </a:pPr>
            <a:r>
              <a:rPr sz="1250" b="0" i="0">
                <a:solidFill>
                  <a:srgbClr val="1E293B"/>
                </a:solidFill>
                <a:latin typeface="Calibri"/>
              </a:rPr>
              <a:t>Returns were priced one day short, dropping June 1 - a -4.6% TSLA day. Buy &amp; Hold TSLA read -0.5%; the true figure is -5.1%.</a:t>
            </a:r>
          </a:p>
        </p:txBody>
      </p:sp>
      <p:sp>
        <p:nvSpPr>
          <p:cNvPr id="9" name="Rounded Rectangle 8"/>
          <p:cNvSpPr/>
          <p:nvPr/>
        </p:nvSpPr>
        <p:spPr>
          <a:xfrm>
            <a:off x="548640" y="3291840"/>
            <a:ext cx="11064240" cy="1024128"/>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410712"/>
            <a:ext cx="3108960" cy="777240"/>
          </a:xfrm>
          <a:prstGeom prst="rect">
            <a:avLst/>
          </a:prstGeom>
          <a:noFill/>
        </p:spPr>
        <p:txBody>
          <a:bodyPr wrap="square" lIns="45720" tIns="18288" rIns="45720" bIns="18288" anchor="ctr">
            <a:spAutoFit/>
          </a:bodyPr>
          <a:lstStyle/>
          <a:p>
            <a:pPr algn="l">
              <a:spcAft>
                <a:spcPts val="400"/>
              </a:spcAft>
            </a:pPr>
            <a:r>
              <a:rPr sz="1500" b="1" i="0">
                <a:solidFill>
                  <a:srgbClr val="EF9F27"/>
                </a:solidFill>
                <a:latin typeface="Calibri"/>
              </a:rPr>
              <a:t>Shorting-on-sell</a:t>
            </a:r>
          </a:p>
        </p:txBody>
      </p:sp>
      <p:sp>
        <p:nvSpPr>
          <p:cNvPr id="11" name="TextBox 10"/>
          <p:cNvSpPr txBox="1"/>
          <p:nvPr/>
        </p:nvSpPr>
        <p:spPr>
          <a:xfrm>
            <a:off x="3931920" y="3410712"/>
            <a:ext cx="7498079" cy="777240"/>
          </a:xfrm>
          <a:prstGeom prst="rect">
            <a:avLst/>
          </a:prstGeom>
          <a:noFill/>
        </p:spPr>
        <p:txBody>
          <a:bodyPr wrap="square" lIns="45720" tIns="18288" rIns="45720" bIns="18288" anchor="ctr">
            <a:spAutoFit/>
          </a:bodyPr>
          <a:lstStyle/>
          <a:p>
            <a:pPr algn="l">
              <a:lnSpc>
                <a:spcPct val="105000"/>
              </a:lnSpc>
              <a:spcAft>
                <a:spcPts val="400"/>
              </a:spcAft>
            </a:pPr>
            <a:r>
              <a:rPr sz="1250" b="0" i="0">
                <a:solidFill>
                  <a:srgbClr val="1E293B"/>
                </a:solidFill>
                <a:latin typeface="Calibri"/>
              </a:rPr>
              <a:t>Metrics treated 'sell' as opening a short, inflating every strategy - NFLX no-memory showed +57% when the true long-only figure is +19.8%.</a:t>
            </a:r>
          </a:p>
        </p:txBody>
      </p:sp>
      <p:sp>
        <p:nvSpPr>
          <p:cNvPr id="12" name="Rounded Rectangle 11"/>
          <p:cNvSpPr/>
          <p:nvPr/>
        </p:nvSpPr>
        <p:spPr>
          <a:xfrm>
            <a:off x="548640" y="4617720"/>
            <a:ext cx="11064240" cy="1371600"/>
          </a:xfrm>
          <a:prstGeom prst="round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4754880"/>
            <a:ext cx="10607040" cy="1143000"/>
          </a:xfrm>
          <a:prstGeom prst="rect">
            <a:avLst/>
          </a:prstGeom>
          <a:noFill/>
        </p:spPr>
        <p:txBody>
          <a:bodyPr wrap="square" lIns="45720" tIns="18288" rIns="45720" bIns="18288" anchor="t">
            <a:spAutoFit/>
          </a:bodyPr>
          <a:lstStyle/>
          <a:p>
            <a:pPr algn="l">
              <a:lnSpc>
                <a:spcPct val="110000"/>
              </a:lnSpc>
              <a:spcAft>
                <a:spcPts val="300"/>
              </a:spcAft>
            </a:pPr>
            <a:r>
              <a:rPr sz="1400" b="1" i="0">
                <a:solidFill>
                  <a:srgbClr val="02C39A"/>
                </a:solidFill>
                <a:latin typeface="Calibri"/>
              </a:rPr>
              <a:t>Canonical convention now enforced in code:</a:t>
            </a:r>
          </a:p>
          <a:p>
            <a:pPr algn="l">
              <a:lnSpc>
                <a:spcPct val="110000"/>
              </a:lnSpc>
              <a:spcAft>
                <a:spcPts val="300"/>
              </a:spcAft>
            </a:pPr>
            <a:r>
              <a:rPr sz="1300" b="0" i="0">
                <a:solidFill>
                  <a:srgbClr val="FFFFFF"/>
                </a:solidFill>
                <a:latin typeface="Calibri"/>
              </a:rPr>
              <a:t>carry-forward unit long-only x simple next-day return, compounded on the full price series - with a regression assertion that fails the run unless Buy &amp; Hold = P[last]/P[first]-1.</a:t>
            </a:r>
          </a:p>
          <a:p>
            <a:pPr algn="l">
              <a:lnSpc>
                <a:spcPct val="110000"/>
              </a:lnSpc>
              <a:spcAft>
                <a:spcPts val="300"/>
              </a:spcAft>
            </a:pPr>
            <a:r>
              <a:rPr sz="1300" b="0" i="1">
                <a:solidFill>
                  <a:srgbClr val="CADCFC"/>
                </a:solidFill>
                <a:latin typeface="Calibri"/>
              </a:rPr>
              <a:t>The audit itself is a result: exactly the discipline the original paper skipped.</a:t>
            </a:r>
          </a:p>
        </p:txBody>
      </p:sp>
      <p:sp>
        <p:nvSpPr>
          <p:cNvPr id="14" name="TextBox 13"/>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15" name="TextBox 14"/>
          <p:cNvSpPr txBox="1"/>
          <p:nvPr/>
        </p:nvSpPr>
        <p:spPr>
          <a:xfrm>
            <a:off x="10972800" y="6473952"/>
            <a:ext cx="731520" cy="274320"/>
          </a:xfrm>
          <a:prstGeom prst="rect">
            <a:avLst/>
          </a:prstGeom>
          <a:noFill/>
        </p:spPr>
        <p:txBody>
          <a:bodyPr wrap="square" lIns="45720" tIns="18288" rIns="45720" bIns="18288" anchor="t">
            <a:spAutoFit/>
          </a:bodyPr>
          <a:lstStyle/>
          <a:p>
            <a:pPr algn="r">
              <a:spcAft>
                <a:spcPts val="400"/>
              </a:spcAft>
            </a:pPr>
            <a:endParaRPr/>
          </a:p>
        </p:txBody>
      </p:sp>
    </p:spTree>
    <p:extLst>
      <p:ext uri="{BB962C8B-B14F-4D97-AF65-F5344CB8AC3E}">
        <p14:creationId xmlns:p14="http://schemas.microsoft.com/office/powerpoint/2010/main" val="2625293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548640" y="292608"/>
            <a:ext cx="11064240" cy="283154"/>
          </a:xfrm>
          <a:prstGeom prst="rect">
            <a:avLst/>
          </a:prstGeom>
          <a:noFill/>
        </p:spPr>
        <p:txBody>
          <a:bodyPr wrap="square" lIns="45720" tIns="18288" rIns="45720" bIns="18288" anchor="t">
            <a:spAutoFit/>
          </a:bodyPr>
          <a:lstStyle/>
          <a:p>
            <a:pPr algn="l">
              <a:spcAft>
                <a:spcPts val="400"/>
              </a:spcAft>
            </a:pPr>
            <a:r>
              <a:rPr sz="1600" b="1" i="0">
                <a:solidFill>
                  <a:srgbClr val="1C7293"/>
                </a:solidFill>
                <a:latin typeface="Calibri"/>
              </a:rPr>
              <a:t>RESULTS</a:t>
            </a:r>
          </a:p>
        </p:txBody>
      </p:sp>
      <p:sp>
        <p:nvSpPr>
          <p:cNvPr id="4" name="TextBox 3"/>
          <p:cNvSpPr txBox="1"/>
          <p:nvPr/>
        </p:nvSpPr>
        <p:spPr>
          <a:xfrm>
            <a:off x="548640" y="548640"/>
            <a:ext cx="11064240" cy="590931"/>
          </a:xfrm>
          <a:prstGeom prst="rect">
            <a:avLst/>
          </a:prstGeom>
          <a:noFill/>
        </p:spPr>
        <p:txBody>
          <a:bodyPr wrap="square" lIns="45720" tIns="18288" rIns="45720" bIns="18288" anchor="t">
            <a:spAutoFit/>
          </a:bodyPr>
          <a:lstStyle/>
          <a:p>
            <a:pPr algn="l">
              <a:spcAft>
                <a:spcPts val="400"/>
              </a:spcAft>
            </a:pPr>
            <a:r>
              <a:rPr sz="3600" b="1" i="0">
                <a:solidFill>
                  <a:srgbClr val="21295C"/>
                </a:solidFill>
                <a:latin typeface="Cambria"/>
              </a:rPr>
              <a:t>Cumulative return by ticker</a:t>
            </a:r>
          </a:p>
        </p:txBody>
      </p:sp>
      <p:sp>
        <p:nvSpPr>
          <p:cNvPr id="6" name="Rounded Rectangle 5"/>
          <p:cNvSpPr/>
          <p:nvPr/>
        </p:nvSpPr>
        <p:spPr>
          <a:xfrm>
            <a:off x="8458200" y="1554480"/>
            <a:ext cx="3154680" cy="43434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686800" y="2012274"/>
            <a:ext cx="2743200" cy="3545586"/>
          </a:xfrm>
          <a:prstGeom prst="rect">
            <a:avLst/>
          </a:prstGeom>
          <a:noFill/>
        </p:spPr>
        <p:txBody>
          <a:bodyPr wrap="square" lIns="45720" tIns="18288" rIns="45720" bIns="18288" anchor="t">
            <a:spAutoFit/>
          </a:bodyPr>
          <a:lstStyle/>
          <a:p>
            <a:pPr marL="285750" indent="-285750">
              <a:spcAft>
                <a:spcPts val="800"/>
              </a:spcAft>
              <a:buFont typeface="Wingdings" panose="05000000000000000000" pitchFamily="2" charset="2"/>
              <a:buChar char="Ø"/>
            </a:pPr>
            <a:r>
              <a:rPr lang="en-US" sz="1600" b="1">
                <a:solidFill>
                  <a:srgbClr val="21295C"/>
                </a:solidFill>
                <a:latin typeface="Calibri"/>
              </a:rPr>
              <a:t>NFLX is the one clear </a:t>
            </a:r>
            <a:r>
              <a:rPr lang="en-US" sz="1600" b="1" err="1">
                <a:solidFill>
                  <a:srgbClr val="21295C"/>
                </a:solidFill>
                <a:latin typeface="Calibri"/>
              </a:rPr>
              <a:t>FinMem</a:t>
            </a:r>
            <a:r>
              <a:rPr lang="en-US" sz="1600" b="1">
                <a:solidFill>
                  <a:srgbClr val="21295C"/>
                </a:solidFill>
                <a:latin typeface="Calibri"/>
              </a:rPr>
              <a:t> win (+3.8% vs -5.6%).</a:t>
            </a:r>
          </a:p>
          <a:p>
            <a:pPr marL="285750" indent="-285750">
              <a:spcAft>
                <a:spcPts val="800"/>
              </a:spcAft>
              <a:buFont typeface="Wingdings" panose="05000000000000000000" pitchFamily="2" charset="2"/>
              <a:buChar char="Ø"/>
            </a:pPr>
            <a:r>
              <a:rPr lang="en-US" sz="1600" b="1">
                <a:solidFill>
                  <a:srgbClr val="21295C"/>
                </a:solidFill>
                <a:latin typeface="Calibri"/>
              </a:rPr>
              <a:t>AMZN matches B&amp;H; both stripped baselines (no-memory, LC-Trader) lead on the mean.</a:t>
            </a:r>
          </a:p>
          <a:p>
            <a:pPr marL="285750" indent="-285750">
              <a:spcAft>
                <a:spcPts val="800"/>
              </a:spcAft>
              <a:buFont typeface="Wingdings" panose="05000000000000000000" pitchFamily="2" charset="2"/>
              <a:buChar char="Ø"/>
            </a:pPr>
            <a:r>
              <a:rPr lang="en-US" sz="1600" b="1">
                <a:solidFill>
                  <a:srgbClr val="21295C"/>
                </a:solidFill>
                <a:latin typeface="Calibri"/>
              </a:rPr>
              <a:t>TSLA is the worst miss (-23% vs -5%) - it stayed long into the April drawdown.</a:t>
            </a:r>
          </a:p>
          <a:p>
            <a:pPr marL="285750" indent="-285750">
              <a:spcAft>
                <a:spcPts val="800"/>
              </a:spcAft>
              <a:buFont typeface="Wingdings" panose="05000000000000000000" pitchFamily="2" charset="2"/>
              <a:buChar char="Ø"/>
            </a:pPr>
            <a:r>
              <a:rPr lang="en-US" sz="1600" b="1">
                <a:solidFill>
                  <a:srgbClr val="21295C"/>
                </a:solidFill>
                <a:latin typeface="Calibri"/>
              </a:rPr>
              <a:t>4 of 5 tickers fell over the window - a hard test, not a bull market.</a:t>
            </a:r>
          </a:p>
        </p:txBody>
      </p:sp>
      <p:sp>
        <p:nvSpPr>
          <p:cNvPr id="8" name="TextBox 7"/>
          <p:cNvSpPr txBox="1"/>
          <p:nvPr/>
        </p:nvSpPr>
        <p:spPr>
          <a:xfrm>
            <a:off x="548640" y="6473952"/>
            <a:ext cx="8229600" cy="274320"/>
          </a:xfrm>
          <a:prstGeom prst="rect">
            <a:avLst/>
          </a:prstGeom>
          <a:noFill/>
        </p:spPr>
        <p:txBody>
          <a:bodyPr wrap="square" lIns="45720" tIns="18288" rIns="45720" bIns="18288" anchor="t">
            <a:spAutoFit/>
          </a:bodyPr>
          <a:lstStyle/>
          <a:p>
            <a:pPr algn="l">
              <a:spcAft>
                <a:spcPts val="400"/>
              </a:spcAft>
            </a:pPr>
            <a:r>
              <a:rPr sz="900" b="0" i="0">
                <a:solidFill>
                  <a:srgbClr val="64748B"/>
                </a:solidFill>
                <a:latin typeface="Calibri"/>
              </a:rPr>
              <a:t>FinMem - Implementation  -  Shoshan &amp; Sagi</a:t>
            </a:r>
          </a:p>
        </p:txBody>
      </p:sp>
      <p:sp>
        <p:nvSpPr>
          <p:cNvPr id="9" name="TextBox 8"/>
          <p:cNvSpPr txBox="1"/>
          <p:nvPr/>
        </p:nvSpPr>
        <p:spPr>
          <a:xfrm>
            <a:off x="10972800" y="6473952"/>
            <a:ext cx="731520" cy="198516"/>
          </a:xfrm>
          <a:prstGeom prst="rect">
            <a:avLst/>
          </a:prstGeom>
          <a:noFill/>
        </p:spPr>
        <p:txBody>
          <a:bodyPr wrap="square" lIns="45720" tIns="18288" rIns="45720" bIns="18288" anchor="t">
            <a:spAutoFit/>
          </a:bodyPr>
          <a:lstStyle/>
          <a:p>
            <a:pPr algn="r">
              <a:spcAft>
                <a:spcPts val="400"/>
              </a:spcAft>
            </a:pPr>
            <a:endParaRPr/>
          </a:p>
        </p:txBody>
      </p:sp>
      <p:pic>
        <p:nvPicPr>
          <p:cNvPr id="10" name="Picture 9" descr="bars_cum_return.png"/>
          <p:cNvPicPr>
            <a:picLocks noChangeAspect="1"/>
          </p:cNvPicPr>
          <p:nvPr/>
        </p:nvPicPr>
        <p:blipFill>
          <a:blip r:embed="rId2"/>
          <a:stretch>
            <a:fillRect/>
          </a:stretch>
        </p:blipFill>
        <p:spPr>
          <a:xfrm>
            <a:off x="548640" y="1564318"/>
            <a:ext cx="7680960" cy="4278003"/>
          </a:xfrm>
          <a:prstGeom prst="rect">
            <a:avLst/>
          </a:prstGeom>
        </p:spPr>
      </p:pic>
    </p:spTree>
    <p:extLst>
      <p:ext uri="{BB962C8B-B14F-4D97-AF65-F5344CB8AC3E}">
        <p14:creationId xmlns:p14="http://schemas.microsoft.com/office/powerpoint/2010/main" val="16017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מסמך" ma:contentTypeID="0x0101006C4EE4BA5AFDAB4CB6280F72F3B0316E" ma:contentTypeVersion="9" ma:contentTypeDescription="צור מסמך חדש." ma:contentTypeScope="" ma:versionID="ab017df33ba76fc64ec8c5847f1862be">
  <xsd:schema xmlns:xsd="http://www.w3.org/2001/XMLSchema" xmlns:xs="http://www.w3.org/2001/XMLSchema" xmlns:p="http://schemas.microsoft.com/office/2006/metadata/properties" xmlns:ns3="454a0316-7f3a-4e4f-85ee-6e14cb48eb32" xmlns:ns4="199d76fd-57cc-4644-9122-139a6e347572" targetNamespace="http://schemas.microsoft.com/office/2006/metadata/properties" ma:root="true" ma:fieldsID="aba824e3ff11fff0e5c3c0911c84140a" ns3:_="" ns4:_="">
    <xsd:import namespace="454a0316-7f3a-4e4f-85ee-6e14cb48eb32"/>
    <xsd:import namespace="199d76fd-57cc-4644-9122-139a6e347572"/>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4a0316-7f3a-4e4f-85ee-6e14cb48eb3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9d76fd-57cc-4644-9122-139a6e347572" elementFormDefault="qualified">
    <xsd:import namespace="http://schemas.microsoft.com/office/2006/documentManagement/types"/>
    <xsd:import namespace="http://schemas.microsoft.com/office/infopath/2007/PartnerControls"/>
    <xsd:element name="SharedWithUsers" ma:index="9" nillable="true" ma:displayName="משותף עם"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משותף עם פרטים" ma:internalName="SharedWithDetails" ma:readOnly="true">
      <xsd:simpleType>
        <xsd:restriction base="dms:Note">
          <xsd:maxLength value="255"/>
        </xsd:restriction>
      </xsd:simpleType>
    </xsd:element>
    <xsd:element name="SharingHintHash" ma:index="11" nillable="true" ma:displayName="Hash של רמז לשיתוף"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54a0316-7f3a-4e4f-85ee-6e14cb48eb32" xsi:nil="true"/>
  </documentManagement>
</p:properties>
</file>

<file path=customXml/itemProps1.xml><?xml version="1.0" encoding="utf-8"?>
<ds:datastoreItem xmlns:ds="http://schemas.openxmlformats.org/officeDocument/2006/customXml" ds:itemID="{F1268AC9-2EA7-4F79-A304-F8D35BA02720}">
  <ds:schemaRefs>
    <ds:schemaRef ds:uri="http://schemas.microsoft.com/sharepoint/v3/contenttype/forms"/>
  </ds:schemaRefs>
</ds:datastoreItem>
</file>

<file path=customXml/itemProps2.xml><?xml version="1.0" encoding="utf-8"?>
<ds:datastoreItem xmlns:ds="http://schemas.openxmlformats.org/officeDocument/2006/customXml" ds:itemID="{F591B1CF-892D-4AE6-AEEF-E809568BC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4a0316-7f3a-4e4f-85ee-6e14cb48eb32"/>
    <ds:schemaRef ds:uri="199d76fd-57cc-4644-9122-139a6e347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91B442-C0E7-4F0F-86B0-747C0127C1C3}">
  <ds:schemaRefs>
    <ds:schemaRef ds:uri="http://purl.org/dc/elements/1.1/"/>
    <ds:schemaRef ds:uri="454a0316-7f3a-4e4f-85ee-6e14cb48eb32"/>
    <ds:schemaRef ds:uri="199d76fd-57cc-4644-9122-139a6e347572"/>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224</TotalTime>
  <Words>3592</Words>
  <Application>Microsoft Office PowerPoint</Application>
  <PresentationFormat>Widescreen</PresentationFormat>
  <Paragraphs>551</Paragraphs>
  <Slides>31</Slides>
  <Notes>0</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Dan Shoshan</dc:creator>
  <cp:keywords/>
  <dc:description>generated using python-pptx</dc:description>
  <cp:lastModifiedBy>Dan Shoshan</cp:lastModifiedBy>
  <cp:revision>4</cp:revision>
  <dcterms:created xsi:type="dcterms:W3CDTF">2013-01-27T09:14:16Z</dcterms:created>
  <dcterms:modified xsi:type="dcterms:W3CDTF">2026-06-13T17:19:15Z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0x0101006C4EE4BA5AFDAB4CB6280F72F3B0316E</vt:lpwstr>
  </property>
</Properties>
</file>