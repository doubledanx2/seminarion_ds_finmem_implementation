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7" r:id="rId28"/>
    <p:sldId id="262" r:id="rId13"/>
    <p:sldId id="278" r:id="rId29"/>
    <p:sldId id="263" r:id="rId14"/>
    <p:sldId id="264" r:id="rId15"/>
    <p:sldId id="284" r:id="rId35"/>
    <p:sldId id="265" r:id="rId16"/>
    <p:sldId id="279" r:id="rId30"/>
    <p:sldId id="266" r:id="rId17"/>
    <p:sldId id="280" r:id="rId31"/>
    <p:sldId id="267" r:id="rId18"/>
    <p:sldId id="268" r:id="rId19"/>
    <p:sldId id="281" r:id="rId32"/>
    <p:sldId id="269" r:id="rId20"/>
    <p:sldId id="270" r:id="rId21"/>
    <p:sldId id="271" r:id="rId22"/>
    <p:sldId id="272" r:id="rId23"/>
    <p:sldId id="282" r:id="rId33"/>
    <p:sldId id="283" r:id="rId34"/>
    <p:sldId id="273" r:id="rId24"/>
    <p:sldId id="274" r:id="rId25"/>
    <p:sldId id="275" r:id="rId26"/>
    <p:sldId id="276" r:id="rId27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9.xml"/><Relationship Id="rId28" Type="http://schemas.openxmlformats.org/officeDocument/2006/relationships/slide" Target="slides/slide7.xml"/><Relationship Id="rId29" Type="http://schemas.openxmlformats.org/officeDocument/2006/relationships/slide" Target="slides/slide9.xml"/><Relationship Id="rId30" Type="http://schemas.openxmlformats.org/officeDocument/2006/relationships/slide" Target="slides/slide14.xml"/><Relationship Id="rId31" Type="http://schemas.openxmlformats.org/officeDocument/2006/relationships/slide" Target="slides/slide16.xml"/><Relationship Id="rId32" Type="http://schemas.openxmlformats.org/officeDocument/2006/relationships/slide" Target="slides/slide19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12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C39A"/>
                </a:solidFill>
                <a:latin typeface="Calibri"/>
              </a:rPr>
              <a:t>LLMs IN FINANCE - IMPLEMENTATION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6984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Rebuilding FinMem the way the </a:t>
            </a:r>
            <a:r>
              <a:rPr sz="3800" b="1" i="1">
                <a:solidFill>
                  <a:srgbClr val="02C39A"/>
                </a:solidFill>
                <a:latin typeface="Cambria"/>
              </a:rPr>
              <a:t>paper</a:t>
            </a:r>
            <a:r>
              <a:rPr sz="3800" b="1" i="0">
                <a:solidFill>
                  <a:srgbClr val="FFFFFF"/>
                </a:solidFill>
                <a:latin typeface="Cambria"/>
              </a:rPr>
              <a:t> describes it -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and testing it without the </a:t>
            </a:r>
            <a:r>
              <a:rPr sz="3800" b="1" i="0">
                <a:solidFill>
                  <a:srgbClr val="E24B4A"/>
                </a:solidFill>
                <a:latin typeface="Cambria"/>
              </a:rPr>
              <a:t>crimes</a:t>
            </a:r>
            <a:r>
              <a:rPr sz="3800" b="1" i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A leakage-free reproduction of </a:t>
            </a:r>
            <a:r>
              <a:rPr sz="1700" b="0" i="1">
                <a:solidFill>
                  <a:srgbClr val="FFFFFF"/>
                </a:solidFill>
                <a:latin typeface="Calibri"/>
              </a:rPr>
              <a:t>Yu et al. (2023) - FinMem: A Performance-Enhanced LLM Trading Agent with Layered Memory and Character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Dan Shoshan   -   Nimrod Sagi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MBA Data-Science Seminar   -   backbone gpt-4.1-mini   -   test window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What we set out to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1E293B"/>
                </a:solidFill>
                <a:latin typeface="Calibri"/>
              </a:rPr>
              <a:t>In our paper talk we charged FinMem with three </a:t>
            </a:r>
            <a:r>
              <a:rPr sz="1700" b="1" i="0">
                <a:solidFill>
                  <a:srgbClr val="E24B4A"/>
                </a:solidFill>
                <a:latin typeface="Calibri"/>
              </a:rPr>
              <a:t>“crimes”</a:t>
            </a:r>
            <a:r>
              <a:rPr sz="1700" b="0" i="0">
                <a:solidFill>
                  <a:srgbClr val="1E293B"/>
                </a:solidFill>
                <a:latin typeface="Calibri"/>
              </a:rPr>
              <a:t> that make its headline Sharpe of 2.67 untrustworthy. The implementation asks one 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21295C"/>
                </a:solidFill>
                <a:latin typeface="Cambria"/>
              </a:rPr>
              <a:t>Is FinMem worth anything once the crimes are removed and it is built as the paper actually describes?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3566160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1097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E24B4A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Look-ahead / pre-training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2452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The paper's test window sits inside GPT-4's training data - the model already knows the outcome.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971800"/>
            <a:ext cx="3566160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3108960"/>
            <a:ext cx="1097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EF9F27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749039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Zero transaction frictions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22452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Returns reported with no commission, spread, or slippage.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971800"/>
            <a:ext cx="3566160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108960"/>
            <a:ext cx="1097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C7293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749039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Test-set hyperparameter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224528"/>
            <a:ext cx="3154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“The setting that achieved the highest return” was chosen after seeing the test 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Our answer in one line: 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build the paper's architecture honestly, run it on data the model has never seen, charge real costs, freeze every parameter in advance - then measure.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Reproduced, adapted, and added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47091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6160" cy="502920"/>
          </a:xfrm>
          <a:prstGeom prst="round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REPRODUCED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1546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Authors' code as the skeleton (puppy/)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5 tickers: TSLA NFLX AMZN MSFT COIN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Layered memory: shallow/mid/deep + reflection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FAISS vector store, top-K retrieval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FinBERT sentiment, persona prompts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ada-002 embeddings (paper spec)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Train -&gt; test protocol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17320"/>
            <a:ext cx="3566160" cy="47091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566160" cy="50292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46304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ADAPTED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57400"/>
            <a:ext cx="31546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Post-cutoff window 2025-26 (no leakage)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gpt-4.1-mini backbone (GPT-4-Turbo retired)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Gemini 3 Flash-Lite summariser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guardrails contract re-implemented for py3.12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Self-adaptive persona switch (3-day CR sign)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7-day momentum observation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Long-only unit position; real cost sweeps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566160" cy="470916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1417320"/>
            <a:ext cx="3566160" cy="502920"/>
          </a:xfrm>
          <a:prstGeom prst="roundRect">
            <a:avLst/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46304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057400"/>
            <a:ext cx="31546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>
                <a:solidFill>
                  <a:srgbClr val="1E293B"/>
                </a:solidFill>
                <a:latin typeface="Calibri"/>
              </a:rPr>
              <a:t>Portfolio layer (our extension)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No-memory ablation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LC-Trader long-context baseline (no FinMem)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Leakage test suite T1-T4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Deep-layer retention fix + filing seeding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Metrics audit + canonical recompute</a:t>
            </a:r>
          </a:p>
          <a:p>
            <a:r>
              <a:rPr sz="1250" b="0">
                <a:solidFill>
                  <a:srgbClr val="1E293B"/>
                </a:solidFill>
                <a:latin typeface="Calibri"/>
              </a:rPr>
              <a:t>Decision / memory deep-dive per ticker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20-SECOND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What they shipped vs. what the paper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Seven places where the released GitHub code diverges from the paper's description: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972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PAPER IMPLIES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937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SHIPPED CODE ACTUALLY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1091672" cy="548640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B7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8600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FinBERT labels read correctly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Fed P(Negative) as the “positive”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solidFill>
            <a:srgbClr val="2B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3464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B8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3464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Self-adaptive risk persona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Only a static risk-seeking line ships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8328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38328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Deep memory retains key 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3-day revolving door - zero filings kept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11091672" cy="548640"/>
          </a:xfrm>
          <a:prstGeom prst="rect">
            <a:avLst/>
          </a:prstGeom>
          <a:solidFill>
            <a:srgbClr val="2B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3192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D20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93192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Shallow decay Q = 14 (justified)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93192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Repo ships Q =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80560"/>
            <a:ext cx="11091672" cy="548640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8056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48056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Long-only narrative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8056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Sell opens a costless short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solidFill>
            <a:srgbClr val="2B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02920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02920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10-K/10-Q inform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02920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Filings before the window never ingested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57784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-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577840"/>
            <a:ext cx="4572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Momentum window as described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7784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Hard-coded 3-day vs 7-day, inconsistent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What we built to reach the paper's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733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Local FinBERT (finbert-tone)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ran on RTX 3090; fixed scrambled-label bug (B7)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173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7136" y="16733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6002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1488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ada-002 (paper spec) via API; bge-large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16733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6002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FAISS per-layer indices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1488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one vector store per layer, cosine relevance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2735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004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Validation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49039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guardrails contract re-built for Python 3.12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0175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17136" y="32735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32004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Self-adaptive persona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749039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two-sided risk rule the code never shipped (B8)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0175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84464" y="32735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0496" y="32004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Extended reflection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3749039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M=7-day self-review written into deep memory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177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48737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006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Deep-layer 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492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no demotion + pure-age recency so filings persist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15968" y="46177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7136" y="48737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73168" y="48006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Filing seeding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53492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inject latest 10-K/10-Q at sim start, true filed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3296" y="4617720"/>
            <a:ext cx="3566160" cy="14630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84464" y="4873752"/>
            <a:ext cx="128016" cy="950976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480060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Leakage suite T1-T4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5349240"/>
            <a:ext cx="2971800" cy="6583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assert no future-dated data ever reaches the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System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51760" cy="1737360"/>
          </a:xfrm>
          <a:prstGeom prst="round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82495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2432304" cy="10789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Alpaca news + SEC 10-K/Q
+ yfinance prices
-&gt; Gemini summary
-&gt; FinBERT sentiment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743200" cy="17373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82495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FinMem agent x5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157984"/>
            <a:ext cx="2523744" cy="10789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Profiling (adaptive persona)
Layered memory (FAISS)
retrieve -&gt; reason -&gt; act
immediate + extended reflection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2651760" cy="173736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82495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Portfolio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57984"/>
            <a:ext cx="2432304" cy="10789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1 daily call over all 5
decisions + reasoning
-&gt; portfolio weights
(our extension)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554480"/>
            <a:ext cx="2331720" cy="1737360"/>
          </a:xfrm>
          <a:prstGeom prst="roundRect">
            <a:avLst/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682495"/>
            <a:ext cx="2057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2157984"/>
            <a:ext cx="2112263" cy="10789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metrics +/- costs
Wilcoxon, bootstrap
B&amp;H + no-memory
baselines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00400" y="2240280"/>
            <a:ext cx="256032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199632" y="2240280"/>
            <a:ext cx="256032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079992" y="2240280"/>
            <a:ext cx="256032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Frozen before any test run - commit </a:t>
            </a:r>
            <a:r>
              <a:rPr sz="1300" b="1" i="0">
                <a:solidFill>
                  <a:srgbClr val="21295C"/>
                </a:solidFill>
                <a:latin typeface="Courier New"/>
              </a:rPr>
              <a:t>96d724d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:  K=5 - M=7 - decay Q=14/90/365 - ada-002 - long-only - temperature pinned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51960"/>
            <a:ext cx="11091672" cy="178308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8912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MODELS &amp; COST  -  whole project ran for ~$10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Summariser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38928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Gemini 3 Flash-Lite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7293"/>
                </a:solidFill>
                <a:latin typeface="Calibri"/>
              </a:rPr>
              <a:t>cutoff Jan 2025 - $6.95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8463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Decision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5138928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gpt-4.1-mini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54864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7293"/>
                </a:solidFill>
                <a:latin typeface="Calibri"/>
              </a:rPr>
              <a:t>cutoff Jun 2024 - free pool +$1.66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48463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5138928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ada-002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54864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7293"/>
                </a:solidFill>
                <a:latin typeface="Calibri"/>
              </a:rPr>
              <a:t>paper spec - ~$1.50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4846320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Sentiment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4544" y="5138928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FinBERT (local 3090)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4544" y="54864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C7293"/>
                </a:solidFill>
                <a:latin typeface="Calibri"/>
              </a:rPr>
              <a:t>free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MODELS &amp;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1295C"/>
                </a:solidFill>
                <a:latin typeface="Cambria"/>
              </a:rPr>
              <a:t>What we compared online - and why we chose what we chose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Two hard constraints drove every choice: model cutoff must PRECEDE the 2025-26 data (no leakage), and keep the whole project under ~$15.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0607040" cy="38404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234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91640"/>
            <a:ext cx="26060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Option compared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1691640"/>
            <a:ext cx="1874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List price / 1M 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1691640"/>
            <a:ext cx="4343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48256"/>
            <a:ext cx="10607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66544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066544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gpt-4.1-mini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066544"/>
            <a:ext cx="1874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$0.40 / $1.60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2066544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2C39A"/>
                </a:solidFill>
                <a:latin typeface="Calibri"/>
              </a:rPr>
              <a:t>[CHOSEN] </a:t>
            </a:r>
            <a:r>
              <a:rPr sz="1100" b="0">
                <a:solidFill>
                  <a:srgbClr val="1E293B"/>
                </a:solidFill>
                <a:latin typeface="Calibri"/>
              </a:rPr>
              <a:t>cutoff Jun-2024 (pre-data), cheap, reliable 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14016"/>
            <a:ext cx="10607040" cy="365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32304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432304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GPT-5.5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432304"/>
            <a:ext cx="1874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$1.25 / $10.0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2432304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24B4A"/>
                </a:solidFill>
                <a:latin typeface="Calibri"/>
              </a:rPr>
              <a:t>rejected - </a:t>
            </a:r>
            <a:r>
              <a:rPr sz="1100" b="0">
                <a:solidFill>
                  <a:srgbClr val="1E293B"/>
                </a:solidFill>
                <a:latin typeface="Calibri"/>
              </a:rPr>
              <a:t>cutoff too recent -&gt; leakage; ~6x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79776"/>
            <a:ext cx="10607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98064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2798064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GPT-4-Turbo (paper's)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2798064"/>
            <a:ext cx="1874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$10 / $30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2798064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24B4A"/>
                </a:solidFill>
                <a:latin typeface="Calibri"/>
              </a:rPr>
              <a:t>rejected - </a:t>
            </a:r>
            <a:r>
              <a:rPr sz="1100" b="0">
                <a:solidFill>
                  <a:srgbClr val="1E293B"/>
                </a:solidFill>
                <a:latin typeface="Calibri"/>
              </a:rPr>
              <a:t>retired; ~25x cost; cutoff inside paper window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45536"/>
            <a:ext cx="10607040" cy="365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63824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163824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DeepSeek-V4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3163824"/>
            <a:ext cx="1874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$0.27 / $1.10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3163824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24B4A"/>
                </a:solidFill>
                <a:latin typeface="Calibri"/>
              </a:rPr>
              <a:t>rejected - </a:t>
            </a:r>
            <a:r>
              <a:rPr sz="1100" b="0">
                <a:solidFill>
                  <a:srgbClr val="1E293B"/>
                </a:solidFill>
                <a:latin typeface="Calibri"/>
              </a:rPr>
              <a:t>cutoff &amp; evaluation uncertainty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11296"/>
            <a:ext cx="10607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529584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Summariser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529584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Gemini 3 Flash-Lite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3529584"/>
            <a:ext cx="1874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$0.10 / $0.40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3529584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2C39A"/>
                </a:solidFill>
                <a:latin typeface="Calibri"/>
              </a:rPr>
              <a:t>[CHOSEN] </a:t>
            </a:r>
            <a:r>
              <a:rPr sz="1100" b="0">
                <a:solidFill>
                  <a:srgbClr val="1E293B"/>
                </a:solidFill>
                <a:latin typeface="Calibri"/>
              </a:rPr>
              <a:t>cutoff Jan-2025, long context, high throughput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877056"/>
            <a:ext cx="10607040" cy="365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895344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Embeddings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3895344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ada-002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79" y="3895344"/>
            <a:ext cx="1874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$0.10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59" y="3895344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2C39A"/>
                </a:solidFill>
                <a:latin typeface="Calibri"/>
              </a:rPr>
              <a:t>[CHOSEN] </a:t>
            </a:r>
            <a:r>
              <a:rPr sz="1100" b="0">
                <a:solidFill>
                  <a:srgbClr val="1E293B"/>
                </a:solidFill>
                <a:latin typeface="Calibri"/>
              </a:rPr>
              <a:t>exact paper spec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242816"/>
            <a:ext cx="10607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61104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Embeddings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4261104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embedding-3-small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79" y="4261104"/>
            <a:ext cx="1874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$0.02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59" y="4261104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24B4A"/>
                </a:solidFill>
                <a:latin typeface="Calibri"/>
              </a:rPr>
              <a:t>rejected - </a:t>
            </a:r>
            <a:r>
              <a:rPr sz="1100" b="0">
                <a:solidFill>
                  <a:srgbClr val="1E293B"/>
                </a:solidFill>
                <a:latin typeface="Calibri"/>
              </a:rPr>
              <a:t>5x cheaper but off paper spec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608576"/>
            <a:ext cx="10607040" cy="365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626864"/>
            <a:ext cx="1234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Sentiment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4626864"/>
            <a:ext cx="2606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FinBERT (local 3090)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79" y="4626864"/>
            <a:ext cx="1874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59" y="4626864"/>
            <a:ext cx="4343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2C39A"/>
                </a:solidFill>
                <a:latin typeface="Calibri"/>
              </a:rPr>
              <a:t>[CHOSEN] </a:t>
            </a:r>
            <a:r>
              <a:rPr sz="1100" b="0">
                <a:solidFill>
                  <a:srgbClr val="1E293B"/>
                </a:solidFill>
                <a:latin typeface="Calibri"/>
              </a:rPr>
              <a:t>paper spec, runs locally, free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084064"/>
            <a:ext cx="10607040" cy="86868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148072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Actual spend 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41324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Calibri"/>
              </a:rPr>
              <a:t>Gemini $6.95</a:t>
            </a:r>
            <a:r>
              <a:rPr sz="1150" b="0">
                <a:solidFill>
                  <a:srgbClr val="64748B"/>
                </a:solidFill>
                <a:latin typeface="Calibri"/>
              </a:rPr>
              <a:t>   -   </a:t>
            </a:r>
            <a:r>
              <a:rPr sz="1150" b="0">
                <a:solidFill>
                  <a:srgbClr val="1E293B"/>
                </a:solidFill>
                <a:latin typeface="Calibri"/>
              </a:rPr>
              <a:t>ada-002 ~$1.50</a:t>
            </a:r>
            <a:r>
              <a:rPr sz="1150" b="0">
                <a:solidFill>
                  <a:srgbClr val="64748B"/>
                </a:solidFill>
                <a:latin typeface="Calibri"/>
              </a:rPr>
              <a:t>   -   </a:t>
            </a:r>
            <a:r>
              <a:rPr sz="1150" b="0">
                <a:solidFill>
                  <a:srgbClr val="1E293B"/>
                </a:solidFill>
                <a:latin typeface="Calibri"/>
              </a:rPr>
              <a:t>gpt-4.1-mini $1.66 (free pool)</a:t>
            </a:r>
            <a:r>
              <a:rPr sz="1150" b="0">
                <a:solidFill>
                  <a:srgbClr val="64748B"/>
                </a:solidFill>
                <a:latin typeface="Calibri"/>
              </a:rPr>
              <a:t>   -   </a:t>
            </a:r>
            <a:r>
              <a:rPr sz="1150" b="0">
                <a:solidFill>
                  <a:srgbClr val="1E293B"/>
                </a:solidFill>
                <a:latin typeface="Calibri"/>
              </a:rPr>
              <a:t>FinBERT $0</a:t>
            </a:r>
            <a:r>
              <a:rPr sz="1150" b="0">
                <a:solidFill>
                  <a:srgbClr val="64748B"/>
                </a:solidFill>
                <a:latin typeface="Calibri"/>
              </a:rPr>
              <a:t>   -   </a:t>
            </a:r>
            <a:r>
              <a:rPr sz="1150" b="0">
                <a:solidFill>
                  <a:srgbClr val="1E293B"/>
                </a:solidFill>
                <a:latin typeface="Calibri"/>
              </a:rPr>
              <a:t>LC-Trader $2.47 </a:t>
            </a:r>
            <a:r>
              <a:rPr sz="1150" b="0">
                <a:solidFill>
                  <a:srgbClr val="02C39A"/>
                </a:solidFill>
                <a:latin typeface="Calibri"/>
              </a:rPr>
              <a:t>(96% prompt-cached, -71%)</a:t>
            </a:r>
            <a:r>
              <a:rPr sz="1150" b="0">
                <a:solidFill>
                  <a:srgbClr val="64748B"/>
                </a:solidFill>
                <a:latin typeface="Calibri"/>
              </a:rPr>
              <a:t>   =   </a:t>
            </a:r>
            <a:r>
              <a:rPr sz="1200" b="1">
                <a:solidFill>
                  <a:srgbClr val="21295C"/>
                </a:solidFill>
                <a:latin typeface="Calibri"/>
              </a:rPr>
              <a:t>~$12.6 total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Experimental design &amp; how we avoided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86400" cy="46634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EVERY MODEL CUTOFF PRECEDES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Train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1168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2025-07-01 -&gt; 2025-12-31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78608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Test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78608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2026-01-02 -&gt; 2026-06-01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gpt-4.1-mini cutoff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45536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Jun 2024  - before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4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Gemini 3 cutoff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712464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Jan 2025  - before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79392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FinBERT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79392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pre-2021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50292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Leakage suite T1-T4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dates valid &amp; 16:00-rule - filings keyed by filed-date - env serves only &lt;= today - summaries inherit source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417320"/>
            <a:ext cx="5440680" cy="466344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THREE CRIMES -&gt; THREE FIXES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5740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67128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51176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All model cutoffs before the 2025-26 data window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29184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401568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Frictions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85616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Every metric at 0 and 10 bps + a 0-50 bps break-even sweep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526280"/>
            <a:ext cx="498348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636008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Test 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020056"/>
            <a:ext cx="45720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Calibri"/>
              </a:rPr>
              <a:t>All hyperparameters frozen in a dated commit before the first test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1295C"/>
                </a:solidFill>
                <a:latin typeface="Cambria"/>
              </a:rPr>
              <a:t>Leakage suite T1-T4 - how we earn "leakage-free"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Four asserts run on every simulated day. A single future-dated record anywhere fails the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212080" cy="2057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914400" cy="2057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mbria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9339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Cambria"/>
              </a:rPr>
              <a:t>Valid dates + 16:00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14600"/>
            <a:ext cx="4023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Every record carries a timezone-aware timestamp. News published after 16:00 ET counts only for the NEXT trading session - no same-day look-ahead.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828800"/>
            <a:ext cx="5212080" cy="2057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828800"/>
            <a:ext cx="914400" cy="2057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606040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mbria"/>
              </a:rPr>
              <a:t>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9339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Cambria"/>
              </a:rPr>
              <a:t>Filings keyed by filed-date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514600"/>
            <a:ext cx="4023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10-K/10-Q enter memory on their true SEC filedAt, never their period-end. Filings filed just before the window are seeded at sim start with the real filed 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5212080" cy="2057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914400" cy="2057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83479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mbria"/>
              </a:rPr>
              <a:t>T3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370831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Cambria"/>
              </a:rPr>
              <a:t>Env serves only &lt;=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892040"/>
            <a:ext cx="4023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On day t the market environment exposes prices/news/filings dated &lt;= t only. Hard assert: max(context date) &lt;= cur_date, or the run aborts.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206240"/>
            <a:ext cx="5212080" cy="20574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4206240"/>
            <a:ext cx="914400" cy="2057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4983479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mbria"/>
              </a:rPr>
              <a:t>T4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370831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1295C"/>
                </a:solidFill>
                <a:latin typeface="Cambria"/>
              </a:rPr>
              <a:t>Summaries inherit source 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892040"/>
            <a:ext cx="4023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A Gemini summary carries the publish date of the article it summarises, so derived text cannot smuggle a future date past T3. (This caught bug B10.)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OUR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A second question: one prompt, a whole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FinMem trades each stock in isolation. We asked: in a </a:t>
            </a:r>
            <a:r>
              <a:rPr sz="1600" b="1" i="0">
                <a:solidFill>
                  <a:srgbClr val="1C7293"/>
                </a:solidFill>
                <a:latin typeface="Calibri"/>
              </a:rPr>
              <a:t>million-token-context world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, can a single unified daily prompt manage a 5-stock portfolio? Each test day one extra gpt-4.1-mini call receives all five agents' decisions + reasoning and outputs portfolio weights (long-only, cash allowed).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611880" cy="18288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Portfolio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24B4A"/>
                </a:solidFill>
                <a:latin typeface="Cambria"/>
              </a:rPr>
              <a:t>-3.6%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Sharpe -0.53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05072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Max DD -10.0%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611880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4748B"/>
                </a:solidFill>
                <a:latin typeface="Calibri"/>
              </a:rPr>
              <a:t>Equal-weight B&amp;H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175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E293B"/>
                </a:solidFill>
                <a:latin typeface="Cambria"/>
              </a:rPr>
              <a:t>-0.4%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03320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Sharpe +0.11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005072"/>
            <a:ext cx="3200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Max DD -20.5%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468880"/>
            <a:ext cx="3337560" cy="18288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40"/>
            <a:ext cx="2926080" cy="1600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The finding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It traded return for safety: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halved the drawdown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but lagged on return in a choppy, mostly-down window.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E293B"/>
                </a:solidFill>
                <a:latin typeface="Calibri"/>
              </a:rPr>
              <a:t>Reading: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the unified-prompt portfolio brain behaves like a conservative risk manager - it parks weight in cash under stress. Useful for capital preservation, not raw return. A clean proof-of-concept that long-context single-prompt portfolio control is feasible, if not yet profitable.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Headline results - leakage-free, costs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Calibri"/>
              </a:rPr>
              <a:t>Cumulative return over the test window (Jan-Jun 2026), unit long-only, full-window pricing. Four strategies.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1627632"/>
            <a:ext cx="1088136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" y="1627632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Ticker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93392" y="162763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FinMem-Ours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22191" y="162763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No-memory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50992" y="162763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LC-Trader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9792" y="162763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Buy &amp; Hold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08592" y="162763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Winner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2130552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2130552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TSLA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93392" y="21305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-23.1%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22191" y="21305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-5.5%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0992" y="21305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-7.9%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79792" y="21305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-5.1%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08592" y="213055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B&amp;H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2633472"/>
            <a:ext cx="1088136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" y="2633472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NFLX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93392" y="263347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+3.8%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22191" y="263347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+19.8%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50992" y="263347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+2.1%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79792" y="263347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-5.6%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08592" y="263347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F9F27"/>
                </a:solidFill>
                <a:latin typeface="Calibri"/>
              </a:rPr>
              <a:t>No-mem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3136391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" y="313639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AMZN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93392" y="313639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+15.5%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22191" y="313639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+24.5%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50992" y="313639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+15.3%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79792" y="313639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+15.3%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08592" y="3136391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F9F27"/>
                </a:solidFill>
                <a:latin typeface="Calibri"/>
              </a:rPr>
              <a:t>No-mem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3639311"/>
            <a:ext cx="1088136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2" y="363931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MSFT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93392" y="363931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-3.9%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22191" y="363931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-6.0%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50992" y="363931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-3.6%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79792" y="363931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-2.2%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08592" y="3639311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B&amp;H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4142231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1792" y="414223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COIN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93392" y="414223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-18.5%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22191" y="414223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-24.2%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50992" y="414223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-20.7%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79792" y="414223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-22.8%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08592" y="4142231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Ours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4645151"/>
            <a:ext cx="10881360" cy="502920"/>
          </a:xfrm>
          <a:prstGeom prst="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1792" y="464515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MEAN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93392" y="464515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24B4A"/>
                </a:solidFill>
                <a:latin typeface="Calibri"/>
              </a:rPr>
              <a:t>-5.3%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22191" y="464515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2C39A"/>
                </a:solidFill>
                <a:latin typeface="Calibri"/>
              </a:rPr>
              <a:t>+1.7%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50992" y="464515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24B4A"/>
                </a:solidFill>
                <a:latin typeface="Calibri"/>
              </a:rPr>
              <a:t>-2.9%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79792" y="464515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24B4A"/>
                </a:solidFill>
                <a:latin typeface="Calibri"/>
              </a:rPr>
              <a:t>-4.1%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08592" y="4645151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9F27"/>
                </a:solidFill>
                <a:latin typeface="Calibri"/>
              </a:rPr>
              <a:t>No-mem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5257799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Both stripped-down baselines beat the full FinMem apparatus on the mean. </a:t>
            </a:r>
            <a:r>
              <a:rPr sz="1150" b="1">
                <a:solidFill>
                  <a:srgbClr val="21295C"/>
                </a:solidFill>
                <a:latin typeface="Calibri"/>
              </a:rPr>
              <a:t>Ranking: No-memory +1.7% &gt; LC-Trader -2.9% &gt; Buy &amp; Hold -4.1% &gt; FinMem-Ours -5.3%. </a:t>
            </a:r>
            <a:r>
              <a:rPr sz="1150" b="0">
                <a:solidFill>
                  <a:srgbClr val="1E293B"/>
                </a:solidFill>
                <a:latin typeface="Calibri"/>
              </a:rPr>
              <a:t>Ours vs B&amp;H Wilcoxon p=0.69 (n.s.); Ours vs No-mem p=0.075.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1295C"/>
                </a:solidFill>
                <a:latin typeface="Cambria"/>
              </a:rPr>
              <a:t>Risk-adjusted results - Sharpe ratio by ticker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Annualised Sharpe over the test window (Jan-Jun 2026), same four strategies and long-only conventions as the return table. Higher = better.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1088136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62763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FinMem-Ours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162763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No-memory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162763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LC-Trader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162763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Buy &amp; 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162763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Winner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30552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130552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TSLA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21305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-1.92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21305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-0.37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1305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-0.33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21305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-0.14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13055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B&amp;H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33472"/>
            <a:ext cx="1088136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2633472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NFLX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263347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+0.44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2191" y="263347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+1.56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263347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+0.32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63347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-0.19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63347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F9F27"/>
                </a:solidFill>
                <a:latin typeface="Calibri"/>
              </a:rPr>
              <a:t>No-mem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136391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13639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AMZN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3392" y="313639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+1.67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2191" y="313639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+2.74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0992" y="313639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+1.31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313639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Calibri"/>
              </a:rPr>
              <a:t>+1.31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136391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F9F27"/>
                </a:solidFill>
                <a:latin typeface="Calibri"/>
              </a:rPr>
              <a:t>No-mem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639311"/>
            <a:ext cx="1088136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363931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MSFT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93392" y="363931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-0.20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2191" y="363931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-0.56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992" y="363931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-0.12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363931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0.00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3639311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B&amp;H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42231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414223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COIN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93392" y="414223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-0.70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2191" y="414223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-1.49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50992" y="414223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-0.35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9792" y="414223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24B4A"/>
                </a:solidFill>
                <a:latin typeface="Calibri"/>
              </a:rPr>
              <a:t>-0.44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8592" y="4142231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Calibri"/>
              </a:rPr>
              <a:t>LC-Trader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645151"/>
            <a:ext cx="10881360" cy="502920"/>
          </a:xfrm>
          <a:prstGeom prst="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4645151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MEAN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93392" y="464515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24B4A"/>
                </a:solidFill>
                <a:latin typeface="Calibri"/>
              </a:rPr>
              <a:t>-0.15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22191" y="464515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2C39A"/>
                </a:solidFill>
                <a:latin typeface="Calibri"/>
              </a:rPr>
              <a:t>+0.38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50992" y="464515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2C39A"/>
                </a:solidFill>
                <a:latin typeface="Calibri"/>
              </a:rPr>
              <a:t>+0.16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79792" y="4645151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2C39A"/>
                </a:solidFill>
                <a:latin typeface="Calibri"/>
              </a:rPr>
              <a:t>+0.11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08592" y="4645151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F9F27"/>
                </a:solidFill>
                <a:latin typeface="Calibri"/>
              </a:rPr>
              <a:t>No-mem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257799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Calibri"/>
              </a:rPr>
              <a:t>No-memory has the best mean Sharpe (0.38); </a:t>
            </a:r>
            <a:r>
              <a:rPr sz="1150" b="1">
                <a:solidFill>
                  <a:srgbClr val="21295C"/>
                </a:solidFill>
                <a:latin typeface="Calibri"/>
              </a:rPr>
              <a:t>FinMem-Ours is the only negative-mean strategy (-0.15). </a:t>
            </a:r>
            <a:r>
              <a:rPr sz="1150" b="0">
                <a:solidFill>
                  <a:srgbClr val="1E293B"/>
                </a:solidFill>
                <a:latin typeface="Calibri"/>
              </a:rPr>
              <a:t>Ours clears 0 on just 2 of 5 tickers (NFLX, AMZN) - the memory apparatus does not improve risk-adjusted return.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Cumulative return by ticker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554480"/>
            <a:ext cx="3154680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737360"/>
            <a:ext cx="27432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Read</a:t>
            </a:r>
          </a:p>
          <a:p>
            <a:r>
              <a:rPr sz="1300" b="1">
                <a:solidFill>
                  <a:srgbClr val="1C7293"/>
                </a:solidFill>
                <a:latin typeface="Calibri"/>
              </a:rPr>
              <a:t>NFLX is the one clear FinMem win (+3.8% vs -5.6%).</a:t>
            </a:r>
          </a:p>
          <a:p>
            <a:r>
              <a:rPr sz="1300" b="1">
                <a:solidFill>
                  <a:srgbClr val="1C7293"/>
                </a:solidFill>
                <a:latin typeface="Calibri"/>
              </a:rPr>
              <a:t>AMZN matches B&amp;H; both stripped baselines (no-memory, LC-Trader) lead on the mean.</a:t>
            </a:r>
          </a:p>
          <a:p>
            <a:r>
              <a:rPr sz="1300" b="1">
                <a:solidFill>
                  <a:srgbClr val="1C7293"/>
                </a:solidFill>
                <a:latin typeface="Calibri"/>
              </a:rPr>
              <a:t>TSLA is the worst miss (-23% vs -5%) - it stayed long into the April drawdown.</a:t>
            </a:r>
          </a:p>
          <a:p>
            <a:r>
              <a:rPr sz="1300" b="1">
                <a:solidFill>
                  <a:srgbClr val="1C7293"/>
                </a:solidFill>
                <a:latin typeface="Calibri"/>
              </a:rPr>
              <a:t>4 of 5 tickers fell over the window - a hard test, not a bull market.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pic>
        <p:nvPicPr>
          <p:cNvPr id="10" name="Picture 9" descr="bars_cum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64318"/>
            <a:ext cx="7680960" cy="42780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1295C"/>
                </a:solidFill>
                <a:latin typeface="Cambria"/>
              </a:rPr>
              <a:t>Risk-adjusted return - Sharpe ratio by ticker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552113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737360"/>
            <a:ext cx="3017520" cy="3291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97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The Sharpe picture mirrors the returns.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No-memory has the highest mean Sharpe (0.38); Buy &amp; Hold 0.11; LC-Trader 0.16; FinMem-Ours is lowest at -0.15.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Only AMZN and NFLX clear 0 for FinMem-Ours; the full memory apparatus does not improve risk-adjusted return out-of-sample.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Risk-adjusted return &amp; an equity curve</a:t>
            </a:r>
          </a:p>
        </p:txBody>
      </p:sp>
      <p:pic>
        <p:nvPicPr>
          <p:cNvPr id="6" name="Picture 5" descr="equity_NFL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74262"/>
            <a:ext cx="5394960" cy="30522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983480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NFLX equity curve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 - FinMem-Ours (win) vs no-memory vs Buy &amp; Hold. Sharpe: Ours 0.44, no-mem 1.56, B&amp;H -0.19.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pic>
        <p:nvPicPr>
          <p:cNvPr id="10" name="Picture 9" descr="equity_NFL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34129"/>
            <a:ext cx="5532120" cy="30811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1295C"/>
                </a:solidFill>
                <a:latin typeface="Cambria"/>
              </a:rPr>
              <a:t>TSLA example - the worst miss, all four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equity_TS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515430" cy="42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737360"/>
            <a:ext cx="3017520" cy="33832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6974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4B4A"/>
                </a:solidFill>
                <a:latin typeface="Calibri"/>
              </a:rPr>
              <a:t>FinMem-Ours -23.1%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It whipsawed long into the spring drawdown - selling defensively, then buying back on a 7-day momentum flip right before single-day drops.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Every stripped-down peer lost far less: no-memory -5.5%, LC-Trader -7.9%, Buy &amp; Hold -5.1%.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1295C"/>
                </a:solidFill>
                <a:latin typeface="Calibri"/>
              </a:rPr>
              <a:t>TSLA is where memory + momentum-chasing hurt the most.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Our Sharpe vs. the paper's reported Sharpe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The paper reports these Sharpe ratios on its leaky, frictionless, tuned 2022-23 window. Ours are leakage-free with costs: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920240"/>
            <a:ext cx="100584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23774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926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Paper (FinMem)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31089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Ours (FinMem-Ours)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920240"/>
            <a:ext cx="1645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2423160"/>
            <a:ext cx="10058400" cy="603504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423160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2.67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23160"/>
            <a:ext cx="3108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-1.92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423160"/>
            <a:ext cx="16459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E24B4A"/>
                </a:solidFill>
                <a:latin typeface="Calibri"/>
              </a:rPr>
              <a:t>-4.6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3026664"/>
            <a:ext cx="10058400" cy="603504"/>
          </a:xfrm>
          <a:prstGeom prst="rect">
            <a:avLst/>
          </a:prstGeom>
          <a:solidFill>
            <a:srgbClr val="2B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026664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NFLX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26664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2.01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26664"/>
            <a:ext cx="3108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0.44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026664"/>
            <a:ext cx="16459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E24B4A"/>
                </a:solidFill>
                <a:latin typeface="Calibri"/>
              </a:rPr>
              <a:t>-1.6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3630168"/>
            <a:ext cx="10058400" cy="603504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630168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AMZN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630168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0.23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30168"/>
            <a:ext cx="3108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1.67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630168"/>
            <a:ext cx="16459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02C39A"/>
                </a:solidFill>
                <a:latin typeface="Calibri"/>
              </a:rPr>
              <a:t>+1.4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233672"/>
            <a:ext cx="10058400" cy="603504"/>
          </a:xfrm>
          <a:prstGeom prst="rect">
            <a:avLst/>
          </a:prstGeom>
          <a:solidFill>
            <a:srgbClr val="2B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233672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MSFT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233672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1.84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33672"/>
            <a:ext cx="3108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-0.20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233672"/>
            <a:ext cx="16459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E24B4A"/>
                </a:solidFill>
                <a:latin typeface="Calibri"/>
              </a:rPr>
              <a:t>-2.0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4837176"/>
            <a:ext cx="10058400" cy="603504"/>
          </a:xfrm>
          <a:prstGeom prst="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4837176"/>
            <a:ext cx="237744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837176"/>
            <a:ext cx="29260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1.62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837176"/>
            <a:ext cx="310896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-0.70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837176"/>
            <a:ext cx="164592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E24B4A"/>
                </a:solidFill>
                <a:latin typeface="Calibri"/>
              </a:rPr>
              <a:t>-2.3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94360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Not one ticker reproduces the paper's Sharpe. AMZN is the only case we beat it - and even there the memory-free agent is stronger still.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CORE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Did the layered memory help? - the ablation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4572000" cy="45720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Same agent, memory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114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+1.7%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mean return, no-memory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4114800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vs FinMem-Ours  </a:t>
            </a:r>
            <a:r>
              <a:rPr sz="1500" b="1" i="0">
                <a:solidFill>
                  <a:srgbClr val="E24B4A"/>
                </a:solidFill>
                <a:latin typeface="Calibri"/>
              </a:rPr>
              <a:t>-5.3%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vs Buy &amp; Hold  </a:t>
            </a:r>
            <a:r>
              <a:rPr sz="1500" b="1" i="0">
                <a:solidFill>
                  <a:srgbClr val="CADCFC"/>
                </a:solidFill>
                <a:latin typeface="Calibri"/>
              </a:rPr>
              <a:t>-4.1%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Memory-free wins on 3 of 5 tickers.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Pooled Wilcoxon p = 0.075; median memory effect -28 bps/day (negative =&gt; memory hurt).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417320"/>
            <a:ext cx="6309360" cy="45720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60020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The paradox we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194560"/>
            <a:ext cx="585216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The memory machinery </a:t>
            </a:r>
            <a:r>
              <a:rPr sz="1400" b="1" i="0">
                <a:solidFill>
                  <a:srgbClr val="1C7293"/>
                </a:solidFill>
                <a:latin typeface="Calibri"/>
              </a:rPr>
              <a:t>fully engaged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: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-  1000+ memories retained per ticker (fix worked)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-  deep layer holds 119 self-written reflections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-  the agent cites its own reflections (NFLX: 78x)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-  adaptive persona switches 21x over the window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6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E24B4A"/>
                </a:solidFill>
                <a:latin typeface="Calibri"/>
              </a:rPr>
              <a:t>... yet none of it improved returns out-of-sample.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1">
                <a:solidFill>
                  <a:srgbClr val="1E293B"/>
                </a:solidFill>
                <a:latin typeface="Calibri"/>
              </a:rPr>
              <a:t>The architecture is real and active; its value is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CORE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1295C"/>
                </a:solidFill>
                <a:latin typeface="Cambria"/>
              </a:rPr>
              <a:t>No-memory = FinMem's architecture minus its memory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The ablation is not a different agent - it is the SAME agent with retrieval switched 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40680" cy="24688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2C39A"/>
                </a:solidFill>
                <a:latin typeface="Calibri"/>
              </a:rPr>
              <a:t>KEEPS  (identical to FinMem-Ours)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- </a:t>
            </a:r>
            <a:r>
              <a:rPr sz="1200" b="0">
                <a:solidFill>
                  <a:srgbClr val="1E293B"/>
                </a:solidFill>
                <a:latin typeface="Calibri"/>
              </a:rPr>
              <a:t>Self-adaptive risk persona (3-day CR switch)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- </a:t>
            </a:r>
            <a:r>
              <a:rPr sz="1200" b="0">
                <a:solidFill>
                  <a:srgbClr val="1E293B"/>
                </a:solidFill>
                <a:latin typeface="Calibri"/>
              </a:rPr>
              <a:t>The FinMem decision/reflection prompt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- </a:t>
            </a:r>
            <a:r>
              <a:rPr sz="1200" b="0">
                <a:solidFill>
                  <a:srgbClr val="1E293B"/>
                </a:solidFill>
                <a:latin typeface="Calibri"/>
              </a:rPr>
              <a:t>7-day momentum observation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- </a:t>
            </a:r>
            <a:r>
              <a:rPr sz="1200" b="0">
                <a:solidFill>
                  <a:srgbClr val="1E293B"/>
                </a:solidFill>
                <a:latin typeface="Calibri"/>
              </a:rPr>
              <a:t>guardrails JSON validation contract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- </a:t>
            </a:r>
            <a:r>
              <a:rPr sz="1200" b="0">
                <a:solidFill>
                  <a:srgbClr val="1E293B"/>
                </a:solidFill>
                <a:latin typeface="Calibri"/>
              </a:rPr>
              <a:t>Train -&gt; test protocol, same gpt-4.1-mini backbone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440680" cy="24688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24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E24B4A"/>
                </a:solidFill>
                <a:latin typeface="Calibri"/>
              </a:rPr>
              <a:t>DROPS  (the memory module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86000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24B4A"/>
                </a:solidFill>
                <a:latin typeface="Calibri"/>
              </a:rPr>
              <a:t>- </a:t>
            </a:r>
            <a:r>
              <a:rPr sz="1200" b="0">
                <a:solidFill>
                  <a:srgbClr val="1E293B"/>
                </a:solidFill>
                <a:latin typeface="Calibri"/>
              </a:rPr>
              <a:t>Layered-memory retrieval - every layer returns 'No information'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24B4A"/>
                </a:solidFill>
                <a:latin typeface="Calibri"/>
              </a:rPr>
              <a:t>- </a:t>
            </a:r>
            <a:r>
              <a:rPr sz="1200" b="0">
                <a:solidFill>
                  <a:srgbClr val="1E293B"/>
                </a:solidFill>
                <a:latin typeface="Calibri"/>
              </a:rPr>
              <a:t>No FAISS / ada-002 similarity lookups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24B4A"/>
                </a:solidFill>
                <a:latin typeface="Calibri"/>
              </a:rPr>
              <a:t>- </a:t>
            </a:r>
            <a:r>
              <a:rPr sz="1200" b="0">
                <a:solidFill>
                  <a:srgbClr val="1E293B"/>
                </a:solidFill>
                <a:latin typeface="Calibri"/>
              </a:rPr>
              <a:t>No extended reflections fed back into decisions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E24B4A"/>
                </a:solidFill>
                <a:latin typeface="Calibri"/>
              </a:rPr>
              <a:t>- </a:t>
            </a:r>
            <a:r>
              <a:rPr sz="1200" b="0">
                <a:solidFill>
                  <a:srgbClr val="1E293B"/>
                </a:solidFill>
                <a:latin typeface="Calibri"/>
              </a:rPr>
              <a:t>Sees ONLY persona + momentum + risk line each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Ablation ladder - strip features away and mean return IMPROVES (cum. return @0bps):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6460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No-memory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3036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F9F27"/>
                </a:solidFill>
                <a:latin typeface="Calibri"/>
              </a:rPr>
              <a:t>+1.7%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5010912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64748B"/>
                </a:solidFill>
                <a:latin typeface="Calibr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0128" y="47548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486460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LC-Trader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523036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C7293"/>
                </a:solidFill>
                <a:latin typeface="Calibri"/>
              </a:rPr>
              <a:t>-2.9%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010912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64748B"/>
                </a:solidFill>
                <a:latin typeface="Calibri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1616" y="47548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1616" y="486460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Buy &amp; 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523036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-4.1%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5010912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64748B"/>
                </a:solidFill>
                <a:latin typeface="Calibri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3104" y="475488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4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3104" y="486460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FinMem-Ours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523036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E24B4A"/>
                </a:solidFill>
                <a:latin typeface="Calibri"/>
              </a:rPr>
              <a:t>-5.3%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LC-Trader has NO FinMem at all (no persona/memory/retrieval); it still beats full FinMem-Ours. Every removed layer of scaffolding helped, not hurt.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The adaptive persona genuinely operates</a:t>
            </a:r>
          </a:p>
        </p:txBody>
      </p:sp>
      <p:pic>
        <p:nvPicPr>
          <p:cNvPr id="5" name="Picture 4" descr="persona_timeline_NFL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573129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64748B"/>
                </a:solidFill>
                <a:latin typeface="Calibri"/>
              </a:rPr>
              <a:t>NFLX risk mode by day - 43 risk-seeking / 59 risk-averse, 21 switches.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4297680" cy="45720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60020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Same engine, two 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03120"/>
            <a:ext cx="39319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Risk-seeking - NFLX Jan 2: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1">
                <a:solidFill>
                  <a:srgbClr val="1E293B"/>
                </a:solidFill>
                <a:latin typeface="Calibri"/>
              </a:rPr>
              <a:t>“...strong positive fundamentals... bullish option activity...” -&gt;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520440"/>
            <a:ext cx="393192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E24B4A"/>
                </a:solidFill>
                <a:latin typeface="Calibri"/>
              </a:rPr>
              <a:t>Risk-averse - NFLX Jan 7: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1">
                <a:solidFill>
                  <a:srgbClr val="1E293B"/>
                </a:solidFill>
                <a:latin typeface="Calibri"/>
              </a:rPr>
              <a:t>“As a risk-averse investor holding shares, the negative momentum...” -&gt; SELL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7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21295C"/>
                </a:solidFill>
                <a:latin typeface="Calibri"/>
              </a:rPr>
              <a:t>This two-sided switch is exactly what the released code never shipped (B8).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What the agent leaned on</a:t>
            </a:r>
          </a:p>
        </p:txBody>
      </p:sp>
      <p:pic>
        <p:nvPicPr>
          <p:cNvPr id="5" name="Picture 4" descr="citation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6514"/>
            <a:ext cx="6035040" cy="33307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463040"/>
            <a:ext cx="4846320" cy="44348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7728" y="1627632"/>
            <a:ext cx="448056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Balanced across layers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citations split ~26/22/27/23% over short / mid / deep / reflection - every layer is used.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It trusts itself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NFLX's single most-cited memory is one of the agent's own extended reflections (78x).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500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E24B4A"/>
                </a:solidFill>
                <a:latin typeface="Calibri"/>
              </a:rPr>
              <a:t>But retrieval can't adapt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the retrieval query is the static persona - same text every day. Day-to-day overlap of cited memories is 50-68%: stable, but not situation-aware.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Inside the memory: vector store &amp; the retention fix</a:t>
            </a:r>
          </a:p>
        </p:txBody>
      </p:sp>
      <p:pic>
        <p:nvPicPr>
          <p:cNvPr id="5" name="Picture 4" descr="vectordb_NFL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297680" cy="34837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50992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64748B"/>
                </a:solidFill>
                <a:latin typeface="Calibri"/>
              </a:rPr>
              <a:t>NFLX memory vectors (PCA), coloured by layer.</a:t>
            </a:r>
          </a:p>
        </p:txBody>
      </p:sp>
      <p:pic>
        <p:nvPicPr>
          <p:cNvPr id="7" name="Picture 6" descr="memory_growth_NFL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20455"/>
            <a:ext cx="6400800" cy="3159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5029200"/>
            <a:ext cx="64008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The F2 fix in one chart: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the as-shipped deep layer was a 3-day revolving door that kept zero filings; ours retains 1000+ memories so reflections and filings actually accumulate.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A real prompt the agent received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64240" cy="4480560"/>
          </a:xfrm>
          <a:prstGeom prst="roundRect">
            <a:avLst/>
          </a:prstGeom>
          <a:solidFill>
            <a:srgbClr val="10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02C39A"/>
                </a:solidFill>
                <a:latin typeface="Courier New"/>
              </a:rPr>
              <a:t>NFLX  -  2026-01-07  -  decision = SELL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ourier New"/>
              </a:rPr>
              <a:t>PERSONA: You are an expert of NFLX (Netflix)... streaming, original content, ad tier, gaming.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ourier New"/>
              </a:rPr>
              <a:t>TASK: make an investment decision; consider short / mid / long / reflection memory + 7-day momentum.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... When cumulative return is negative, you are a RISK-AVERSE investor; negative information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    carries greater weight.   (this clause is injected only on down-momentum days)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ourier New"/>
              </a:rPr>
              <a:t>LONG-TERM MEM 236: Sony CEO praises Netflix partnership; 'KPop Demon Hunters' most-streamed...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ourier New"/>
              </a:rPr>
              <a:t>REFLECTION 161 [conf=high]: responding positively to NFLX earnings beats tends to be favourable...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ourier New"/>
              </a:rPr>
              <a:t>MOMENTUM: cumulative return over the past 7 days is negative.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02C39A"/>
                </a:solidFill>
                <a:latin typeface="Courier New"/>
              </a:rPr>
              <a:t>JSON OUT: {investment_decision, summary_reason, &lt;layer&gt;_memory_index:[ids]}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MODEL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1295C"/>
                </a:solidFill>
                <a:latin typeface="Cambria"/>
              </a:rPr>
              <a:t>What it told us to justify its trades (verbatim)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The agent's own saved reasoning on its four biggest single-day losses - each a 'buy' straight into a next-day drop.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49240" cy="1828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92807"/>
            <a:ext cx="3794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MSFT  2026-01-28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892807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24B4A"/>
                </a:solidFill>
                <a:latin typeface="Calibri"/>
              </a:rPr>
              <a:t>buy -&gt; -10.0%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86000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"The decision to buy Microsoft is supported by overwhelmingly positive sentiment across all timeframes, strong analyst buy/outperform ratings with high price targets, and robust long-term growth driven by AI innovation and Azure cloud expansion..."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19" y="1783080"/>
            <a:ext cx="5349240" cy="1828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1" y="1892807"/>
            <a:ext cx="3794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NFLX  2026-04-16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9" y="1892807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24B4A"/>
                </a:solidFill>
                <a:latin typeface="Calibri"/>
              </a:rPr>
              <a:t>buy -&gt; -9.7%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1" y="2286000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"...overwhelmingly positive short-term and mid-term information including analyst upgrades, optimistic outlooks on subscriber growth, revenue increases, and strategic expansions..."  (bought into an earnings-driven drop)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67912"/>
            <a:ext cx="5349240" cy="1828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977640"/>
            <a:ext cx="3794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COIN  2026-03-23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97764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24B4A"/>
                </a:solidFill>
                <a:latin typeface="Calibri"/>
              </a:rPr>
              <a:t>buy -&gt; -9.8%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37083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"The cumulative return over the past 7 days is positive, indicating positive momentum. Despite short-term volatility and mixed-to-negative news, the mid- and long-term fundamentals of Coinbase remain strong..."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19" y="3867912"/>
            <a:ext cx="5349240" cy="1828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1" y="3977640"/>
            <a:ext cx="3794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1295C"/>
                </a:solidFill>
                <a:latin typeface="Calibri"/>
              </a:rPr>
              <a:t>TSLA  2026-04-01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9" y="397764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24B4A"/>
                </a:solidFill>
                <a:latin typeface="Calibri"/>
              </a:rPr>
              <a:t>buy -&gt; -5.4%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1" y="4370832"/>
            <a:ext cx="5029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"Despite high valuation ratios and some negative revenue growth, Tesla exhibits strong short-term bullish signals including accelerating AI development, significant sales growth in China, and a consistent Buy consensus..."  (344 P/E)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50992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Common thread:  </a:t>
            </a:r>
            <a:r>
              <a:rPr sz="1250" b="0">
                <a:solidFill>
                  <a:srgbClr val="1E293B"/>
                </a:solidFill>
                <a:latin typeface="Calibri"/>
              </a:rPr>
              <a:t>a recurring bullish tilt + 7-day momentum-chasing repeatedly took it long into news-driven single-day reversals.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1295C"/>
                </a:solidFill>
                <a:latin typeface="Cambria"/>
              </a:rPr>
              <a:t>The memory texts it actually leaned on (verbatim)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584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NFLX 2026-01-02 (buy): the real memories the agent cited - including its own extended reflections. It cites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09728" cy="14173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#161  </a:t>
            </a:r>
            <a:r>
              <a:rPr sz="1100" b="1">
                <a:solidFill>
                  <a:srgbClr val="02C39A"/>
                </a:solidFill>
                <a:latin typeface="Calibri"/>
              </a:rPr>
              <a:t>extended reflection - conf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493775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"Consistently responding positively to NFLX's short-term earnings beats and optimistic analyst outlooks on revenue and subscriber growth tends to result in favorable next-day returns..."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19" y="178308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19" y="1783080"/>
            <a:ext cx="109728" cy="14173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19" y="1874519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#480  </a:t>
            </a:r>
            <a:r>
              <a:rPr sz="1100" b="1">
                <a:solidFill>
                  <a:srgbClr val="02C39A"/>
                </a:solidFill>
                <a:latin typeface="Calibri"/>
              </a:rPr>
              <a:t>extended reflection - conf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19" y="2194560"/>
            <a:ext cx="493775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"The trading decisions for NFLX appear to be more successful when driven by positive earnings beats, strong revenue and subscriber growth, and successful content..."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01568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01568"/>
            <a:ext cx="109728" cy="1417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93008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#236  </a:t>
            </a:r>
            <a:r>
              <a:rPr sz="1100" b="1">
                <a:solidFill>
                  <a:srgbClr val="1C7293"/>
                </a:solidFill>
                <a:latin typeface="Calibri"/>
              </a:rPr>
              <a:t>news - long-term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13048"/>
            <a:ext cx="493775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"Netflix stock trended Friday as Sony Pictures CEO Ravi Ahuja praised their partnership, specifically the success of 'KPop Demon Hunters,' which became Netflix's most-streamed title..."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19" y="3401568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19" y="3401568"/>
            <a:ext cx="109728" cy="1417320"/>
          </a:xfrm>
          <a:prstGeom prst="rect">
            <a:avLst/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19" y="3493008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1295C"/>
                </a:solidFill>
                <a:latin typeface="Calibri"/>
              </a:rPr>
              <a:t>#674  </a:t>
            </a:r>
            <a:r>
              <a:rPr sz="1100" b="1">
                <a:solidFill>
                  <a:srgbClr val="EF9F27"/>
                </a:solidFill>
                <a:latin typeface="Calibri"/>
              </a:rPr>
              <a:t>reflection-term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19" y="3813048"/>
            <a:ext cx="4937759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293B"/>
                </a:solidFill>
                <a:latin typeface="Calibri"/>
              </a:rPr>
              <a:t>"Despite slightly negative momentum in the past 7 days, the overall information indicates strong positive fundamentals and growth potential for NFLX. The short-term data shows bullish option activity..."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64607"/>
            <a:ext cx="11064240" cy="914400"/>
          </a:xfrm>
          <a:prstGeom prst="roundRect">
            <a:avLst/>
          </a:prstGeom>
          <a:solidFill>
            <a:srgbClr val="E4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37759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1295C"/>
                </a:solidFill>
                <a:latin typeface="Calibri"/>
              </a:rPr>
              <a:t>Deep layer, retrieved months later - TSLA extended reflection 2025-10-03:  </a:t>
            </a:r>
            <a:r>
              <a:rPr sz="1150" b="0">
                <a:solidFill>
                  <a:srgbClr val="1E293B"/>
                </a:solidFill>
                <a:latin typeface="Calibri"/>
              </a:rPr>
              <a:t>"Relying heavily on short-term bullish analyst forecasts, such as Dan Ives' $2T valuation, tends to correlate with modest positive next-day returns, yet does not protect from losses during negative fundamental news..."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These deep reflections persisted 100+ days (our F2 retention fix) and were cited long after - the memory machinery demonstrably worked, even though it did not improve returns.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When it worked, when it didn't - and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40680" cy="18288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Worked: NFLX (+3.8% vs -5.6%)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Risk-averse switching cut exposure during down-momentum stretches; it sold into weakness and avoided part of the slide buy-and-hold 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440680" cy="1828800"/>
          </a:xfrm>
          <a:prstGeom prst="round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24B4A"/>
                </a:solidFill>
                <a:latin typeface="Calibri"/>
              </a:rPr>
              <a:t>Failed: TSLA (-23% vs -5%)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5029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Whipsaw: sold defensively, then bought back on a 7-day momentum flip right before single-day drops (bought Apr 1, next day -5.4%). High turnover, wrong timing.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Why it chose wrong - biggest single-day losses (decision = buy, then next day):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1064240" cy="4754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82880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TSLA Apr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31920"/>
            <a:ext cx="11887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24B4A"/>
                </a:solidFill>
                <a:latin typeface="Calibri"/>
              </a:rPr>
              <a:t>-5.4%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31920"/>
            <a:ext cx="75895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bought on AI/China bullishness despite a 344 P/E and falling momentum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62272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62272"/>
            <a:ext cx="182880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NFLX Apr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462272"/>
            <a:ext cx="11887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24B4A"/>
                </a:solidFill>
                <a:latin typeface="Calibri"/>
              </a:rPr>
              <a:t>-9.7%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62272"/>
            <a:ext cx="75895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bought on analyst upgrades into an earnings-driven drop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92624"/>
            <a:ext cx="11064240" cy="4754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92624"/>
            <a:ext cx="182880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MSFT Jan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992624"/>
            <a:ext cx="11887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24B4A"/>
                </a:solidFill>
                <a:latin typeface="Calibri"/>
              </a:rPr>
              <a:t>-10.0%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992624"/>
            <a:ext cx="75895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'overwhelmingly positive sentiment' - straight into an earnings miss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22975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22975"/>
            <a:ext cx="182880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1295C"/>
                </a:solidFill>
                <a:latin typeface="Calibri"/>
              </a:rPr>
              <a:t>COIN Mar 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522975"/>
            <a:ext cx="11887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24B4A"/>
                </a:solidFill>
                <a:latin typeface="Calibri"/>
              </a:rPr>
              <a:t>-9.8%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522975"/>
            <a:ext cx="758952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positive 7-day momentum overrode mixed/negative news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Common thread: a recurring bullish tilt + momentum-chasing led it long into news-driven single-day reversals.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21295C"/>
                </a:solidFill>
                <a:latin typeface="Cambria"/>
              </a:rPr>
              <a:t>We audited our own numbers - and caught two bugs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Practising what we preached: an independent recompute disagreed with our first results. We found </a:t>
            </a:r>
            <a:r>
              <a:rPr sz="1500" b="1" i="0">
                <a:solidFill>
                  <a:srgbClr val="E24B4A"/>
                </a:solidFill>
                <a:latin typeface="Calibri"/>
              </a:rPr>
              <a:t>two metric bugs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and corrected every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6424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67712"/>
            <a:ext cx="3108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Terminal-day truncation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267712"/>
            <a:ext cx="7498079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Returns were priced one day short, dropping June 1 - a -4.6% TSLA day. Buy &amp; Hold TSLA read -0.5%; the true figure is -5.1%.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11064240" cy="102412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10712"/>
            <a:ext cx="3108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F9F27"/>
                </a:solidFill>
                <a:latin typeface="Calibri"/>
              </a:rPr>
              <a:t>Shorting-on-sell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410712"/>
            <a:ext cx="7498079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Calibri"/>
              </a:rPr>
              <a:t>Metrics treated 'sell' as opening a short, inflating every strategy - NFLX no-memory showed +57% when the true long-only figure is +19.8%.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11064240" cy="13716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607040" cy="1143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1" i="0">
                <a:solidFill>
                  <a:srgbClr val="02C39A"/>
                </a:solidFill>
                <a:latin typeface="Calibri"/>
              </a:rPr>
              <a:t>Canonical convention now enforced in code: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carry-forward unit long-only x simple next-day return, compounded on the full price series - with a regression assertion that fails the run unless Buy &amp; Hold = P[last]/P[first]-1.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 i="1">
                <a:solidFill>
                  <a:srgbClr val="CADCFC"/>
                </a:solidFill>
                <a:latin typeface="Calibri"/>
              </a:rPr>
              <a:t>The audit itself is a result: exactly the discipline the original paper skipped.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Lessons &amp; conclusions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394960" cy="2057400"/>
          </a:xfrm>
          <a:prstGeom prst="round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914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64208"/>
            <a:ext cx="4114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The architecture reproduces; the alpha does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450592"/>
            <a:ext cx="41148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Built honestly, FinMem ties or trails Buy &amp; Hold (mean -5.3% vs -4.1%); no result approaches the paper's Sharpe of 2.67.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394960" cy="2057400"/>
          </a:xfrm>
          <a:prstGeom prst="round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27632"/>
            <a:ext cx="914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664208"/>
            <a:ext cx="4114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Memory engaged but didn't pay.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450592"/>
            <a:ext cx="41148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The memory-free agent was the best of three. The layered memory is real, active, self-referential - and net-negative out-of-sample.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394960" cy="2057400"/>
          </a:xfrm>
          <a:prstGeom prst="round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13631"/>
            <a:ext cx="914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2C39A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950207"/>
            <a:ext cx="4114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Honest backtesting changes the answer.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736592"/>
            <a:ext cx="41148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Leakage-free dates, real costs, frozen parameters, and a metrics audit each pulled results toward - or below - the benchmark.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49039"/>
            <a:ext cx="5394960" cy="2057400"/>
          </a:xfrm>
          <a:prstGeom prst="roundRect">
            <a:avLst/>
          </a:prstGeom>
          <a:solidFill>
            <a:srgbClr val="242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13631"/>
            <a:ext cx="914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2C39A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950207"/>
            <a:ext cx="4114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Where this goes next.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736592"/>
            <a:ext cx="411480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Situation-aware retrieval queries, multi-agent role specialisation, richer cost / turnover / capacity modelling, and longer post-cutoff windows are the natural next tests of whether layered memory can be made to pay.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CADCFC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Trust nothing in a backtest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you haven't audited - </a:t>
            </a:r>
            <a:r>
              <a:rPr sz="4000" b="1" i="0">
                <a:solidFill>
                  <a:srgbClr val="02C39A"/>
                </a:solidFill>
                <a:latin typeface="Cambria"/>
              </a:rPr>
              <a:t>including your 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CADCFC"/>
                </a:solidFill>
                <a:latin typeface="Calibri"/>
              </a:rPr>
              <a:t>FinMem, rebuilt as described and tested honestly: a real cognitive architecture, an unproven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6636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Dan Shoshan   -   Nimrod Sagi        Thank you - questions welcome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OUR EXTENSION  - 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1295C"/>
                </a:solidFill>
                <a:latin typeface="Cambria"/>
              </a:rPr>
              <a:t>Portfolio layer - output example &amp; equity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One gpt-4.1-mini call/day maps the 5 FinMem decisions -&gt; long-only weights. No persona, no memory, no risk switch - a thin allocator over the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FinMem - Implementation  -  Shoshan &amp; Sagi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portfolio_vs_ewb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766560" cy="35043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44068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1295C"/>
                </a:solidFill>
                <a:latin typeface="Calibri"/>
              </a:rPr>
              <a:t>Traded return for safety:  </a:t>
            </a:r>
            <a:r>
              <a:rPr sz="1200" b="0">
                <a:solidFill>
                  <a:srgbClr val="1E293B"/>
                </a:solidFill>
                <a:latin typeface="Calibri"/>
              </a:rPr>
              <a:t>avg 47% in cash halved the drawdown (-10.0% vs -20.5%) but lagged on return </a:t>
            </a:r>
            <a:r>
              <a:rPr sz="1200" b="1">
                <a:solidFill>
                  <a:srgbClr val="E24B4A"/>
                </a:solidFill>
                <a:latin typeface="Calibri"/>
              </a:rPr>
              <a:t>(-3.6% vs -0.4%)</a:t>
            </a:r>
            <a:r>
              <a:rPr sz="1200" b="0">
                <a:solidFill>
                  <a:srgbClr val="1E293B"/>
                </a:solidFill>
                <a:latin typeface="Calibri"/>
              </a:rPr>
              <a:t> in a mostly-down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783080"/>
            <a:ext cx="4160520" cy="42976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E4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1901952"/>
            <a:ext cx="37947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21295C"/>
                </a:solidFill>
                <a:latin typeface="Calibri"/>
              </a:rPr>
              <a:t>Example output  -  2026-01-02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2286000"/>
            <a:ext cx="37947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Analyst decisions in: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TSLA buy - NFLX buy - AMZN buy - MSFT buy - COIN 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3528" y="2971800"/>
            <a:ext cx="379475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Target weights out: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TSLA </a:t>
            </a:r>
            <a:r>
              <a:rPr sz="1100" b="1">
                <a:solidFill>
                  <a:srgbClr val="02C39A"/>
                </a:solidFill>
                <a:latin typeface="Calibri"/>
              </a:rPr>
              <a:t>0.25</a:t>
            </a:r>
            <a:r>
              <a:rPr sz="1100" b="0">
                <a:solidFill>
                  <a:srgbClr val="1E293B"/>
                </a:solidFill>
                <a:latin typeface="Calibri"/>
              </a:rPr>
              <a:t>   NFLX </a:t>
            </a:r>
            <a:r>
              <a:rPr sz="1100" b="1">
                <a:solidFill>
                  <a:srgbClr val="02C39A"/>
                </a:solidFill>
                <a:latin typeface="Calibri"/>
              </a:rPr>
              <a:t>0.25</a:t>
            </a:r>
            <a:r>
              <a:rPr sz="1100" b="0">
                <a:solidFill>
                  <a:srgbClr val="1E293B"/>
                </a:solidFill>
                <a:latin typeface="Calibri"/>
              </a:rPr>
              <a:t>   AMZN </a:t>
            </a:r>
            <a:r>
              <a:rPr sz="1100" b="1">
                <a:solidFill>
                  <a:srgbClr val="02C39A"/>
                </a:solidFill>
                <a:latin typeface="Calibri"/>
              </a:rPr>
              <a:t>0.25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MSFT </a:t>
            </a:r>
            <a:r>
              <a:rPr sz="1100" b="1">
                <a:solidFill>
                  <a:srgbClr val="02C39A"/>
                </a:solidFill>
                <a:latin typeface="Calibri"/>
              </a:rPr>
              <a:t>0.20</a:t>
            </a:r>
            <a:r>
              <a:rPr sz="1100" b="0">
                <a:solidFill>
                  <a:srgbClr val="1E293B"/>
                </a:solidFill>
                <a:latin typeface="Calibri"/>
              </a:rPr>
              <a:t>   COIN </a:t>
            </a:r>
            <a:r>
              <a:rPr sz="1100" b="1">
                <a:solidFill>
                  <a:srgbClr val="64748B"/>
                </a:solidFill>
                <a:latin typeface="Calibri"/>
              </a:rPr>
              <a:t>0.00</a:t>
            </a:r>
            <a:r>
              <a:rPr sz="1100" b="0">
                <a:solidFill>
                  <a:srgbClr val="1E293B"/>
                </a:solidFill>
                <a:latin typeface="Calibri"/>
              </a:rPr>
              <a:t>   CASH </a:t>
            </a:r>
            <a:r>
              <a:rPr sz="1100" b="1">
                <a:solidFill>
                  <a:srgbClr val="EF9F27"/>
                </a:solidFill>
                <a:latin typeface="Calibri"/>
              </a:rPr>
              <a:t>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8" y="3886200"/>
            <a:ext cx="3794759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Calibri"/>
              </a:rPr>
              <a:t>Reasoning (verbatim):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"All stocks except COIN have strong buy recommendations despite recent short-term momentum weakness... COIN is held at zero due to mixed short-term signals and recent volatility... keeping 5% in cash for flexibility."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8" y="5623560"/>
            <a:ext cx="3794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Shares only the backbone + JSON re-ask/fallback with FinMem - none of its scaffolding.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