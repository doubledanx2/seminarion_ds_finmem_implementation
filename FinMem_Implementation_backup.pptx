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2C39A"/>
                </a:solidFill>
                <a:latin typeface="Calibri"/>
              </a:rPr>
              <a:t>LLMs IN FINANCE - IMPLEMENTATION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69848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Rebuilding FinMem the way the </a:t>
            </a:r>
            <a:r>
              <a:rPr sz="3800" b="1" i="1">
                <a:solidFill>
                  <a:srgbClr val="02C39A"/>
                </a:solidFill>
                <a:latin typeface="Cambria"/>
              </a:rPr>
              <a:t>paper</a:t>
            </a:r>
            <a:r>
              <a:rPr sz="3800" b="1" i="0">
                <a:solidFill>
                  <a:srgbClr val="FFFFFF"/>
                </a:solidFill>
                <a:latin typeface="Cambria"/>
              </a:rPr>
              <a:t> describes it -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and testing it without the </a:t>
            </a:r>
            <a:r>
              <a:rPr sz="3800" b="1" i="0">
                <a:solidFill>
                  <a:srgbClr val="E24B4A"/>
                </a:solidFill>
                <a:latin typeface="Cambria"/>
              </a:rPr>
              <a:t>crimes</a:t>
            </a:r>
            <a:r>
              <a:rPr sz="3800" b="1" i="0">
                <a:solidFill>
                  <a:srgbClr val="FFFFFF"/>
                </a:solidFill>
                <a:latin typeface="Cambria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A leakage-free reproduction of </a:t>
            </a:r>
            <a:r>
              <a:rPr sz="1700" b="0" i="1">
                <a:solidFill>
                  <a:srgbClr val="FFFFFF"/>
                </a:solidFill>
                <a:latin typeface="Calibri"/>
              </a:rPr>
              <a:t>Yu et al. (2023) - FinMem: A Performance-Enhanced LLM Trading Agent with Layered Memory and Character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Dan Shoshan   -   Nimrod Sagi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MBA Data-Science Seminar   -   backbone gpt-4.1-mini   -   test window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What we set out to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1E293B"/>
                </a:solidFill>
                <a:latin typeface="Calibri"/>
              </a:rPr>
              <a:t>In our paper talk we charged FinMem with three </a:t>
            </a:r>
            <a:r>
              <a:rPr sz="1700" b="1" i="0">
                <a:solidFill>
                  <a:srgbClr val="E24B4A"/>
                </a:solidFill>
                <a:latin typeface="Calibri"/>
              </a:rPr>
              <a:t>“crimes”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 that make its headline Sharpe of 2.67 untrustworthy. The implementation asks one question: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21295C"/>
                </a:solidFill>
                <a:latin typeface="Cambria"/>
              </a:rPr>
              <a:t>Is FinMem worth anything once the crimes are removed and it is built as the paper actually describes?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3566160" cy="1828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1097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E24B4A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49039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Look-ahead / pre-training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2452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The paper's test window sits inside GPT-4's training data - the model already knows the outcome.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971800"/>
            <a:ext cx="3566160" cy="1828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3108960"/>
            <a:ext cx="1097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EF9F27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749039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Zero transaction frictions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22452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Returns reported with no commission, spread, or slippage.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971800"/>
            <a:ext cx="3566160" cy="1828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108960"/>
            <a:ext cx="1097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C7293"/>
                </a:solidFill>
                <a:latin typeface="Cambr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749039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Test-set hyperparameter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22452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“The setting that achieved the highest return” was chosen after seeing the test 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E293B"/>
                </a:solidFill>
                <a:latin typeface="Calibri"/>
              </a:rPr>
              <a:t>Our answer in one line:  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build the paper's architecture honestly, run it on data the model has never seen, charge real costs, freeze every parameter in advance - then measure.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Reproduced, adapted, and added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66160" cy="47091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66160" cy="502920"/>
          </a:xfrm>
          <a:prstGeom prst="round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REPRODUCED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15468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Authors' code as the skeleton (puppy/)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5 tickers: TSLA NFLX AMZN MSFT COIN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Layered memory: shallow/mid/deep + reflection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FAISS vector store, top-K retrieval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FinBERT sentiment, persona prompts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Train -&gt; test protocol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17320"/>
            <a:ext cx="3566160" cy="47091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417320"/>
            <a:ext cx="3566160" cy="50292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463040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ADAPTED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57400"/>
            <a:ext cx="315468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Post-cutoff window 2025-26 (no leakage)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gpt-4.1-mini backbone (GPT-4-Turbo retired)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Gemini 3 Flash-Lite summariser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ada-002 embeddings restored (paper spec)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Validation contract re-built for py3.12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Long-only unit position; real cost sweeps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17320"/>
            <a:ext cx="3566160" cy="47091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1417320"/>
            <a:ext cx="3566160" cy="502920"/>
          </a:xfrm>
          <a:prstGeom prst="roundRect">
            <a:avLst/>
          </a:prstGeom>
          <a:solidFill>
            <a:srgbClr val="EF9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1463040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ADDED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057400"/>
            <a:ext cx="315468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Portfolio layer (our extension)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No-memory ablation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Leakage test suite T1-T4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Deep-layer retention fix + filing seeding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Metrics audit + canonical recompute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Decision/memory deep-dive per ticker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20-SECOND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What they shipped vs. what the paper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Seven places where the released GitHub code diverges from the paper's description: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PAPER IMPLIES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937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SHIPPED CODE ACTUALLY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11091672" cy="548640"/>
          </a:xfrm>
          <a:prstGeom prst="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B7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8600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FinBERT labels read correctly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Fed P(Negative) as the “positive”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34640"/>
            <a:ext cx="11091672" cy="548640"/>
          </a:xfrm>
          <a:prstGeom prst="rect">
            <a:avLst/>
          </a:prstGeom>
          <a:solidFill>
            <a:srgbClr val="2B3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3464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B8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3464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Self-adaptive risk persona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Only a static risk-seeking line ships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11091672" cy="548640"/>
          </a:xfrm>
          <a:prstGeom prst="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8328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F2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38328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Deep memory retains key 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8328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3-day revolving door - zero filings kept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11091672" cy="548640"/>
          </a:xfrm>
          <a:prstGeom prst="rect">
            <a:avLst/>
          </a:prstGeom>
          <a:solidFill>
            <a:srgbClr val="2B3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3192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D20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93192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Shallow decay Q = 14 (justified)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93192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Repo ships Q =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80560"/>
            <a:ext cx="11091672" cy="548640"/>
          </a:xfrm>
          <a:prstGeom prst="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8056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48056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Long-only narrative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48056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Sell opens a costless short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29200"/>
            <a:ext cx="11091672" cy="548640"/>
          </a:xfrm>
          <a:prstGeom prst="rect">
            <a:avLst/>
          </a:prstGeom>
          <a:solidFill>
            <a:srgbClr val="2B3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02920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02920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10-K/10-Q inform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02920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Filings before the window never ingested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57784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57784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Momentum window as described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57784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Hard-coded 3-day vs 7-day, inconsistent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What we built to reach the paper's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6733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Local FinBERT (finbert-tone)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ran on RTX 3090; fixed scrambled-label bug (B7)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173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7136" y="16733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6002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148840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ada-002 (paper spec) via API; bge-large fallback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173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4464" y="16733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16002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FAISS per-layer indices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2148840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one vector store per layer, cosine relevance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175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2735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004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Validation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49039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guardrails contract re-built for Python 3.12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30175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17136" y="32735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32004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Self-adaptive persona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3749039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two-sided risk rule the code never shipped (B8)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30175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84464" y="32735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0496" y="32004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Extended reflection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3749039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M=7-day self-review written into deep memory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6177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" y="48737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006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Deep-layer 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49240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no demotion + pure-age recency so filings persist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15968" y="46177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17136" y="48737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73168" y="48006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Filing seeding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8" y="5349240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inject latest 10-K/10-Q at sim start, true filed 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83296" y="46177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84464" y="48737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0496" y="48006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Leakage suite T1-T4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0496" y="5349240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assert no future-dated data ever reaches the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System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51760" cy="173736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82495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Data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57984"/>
            <a:ext cx="2432304" cy="10789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Alpaca news + SEC 10-K/Q
+ yfinance prices
-&gt; Gemini summary
-&gt; FinBERT sentiment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743200" cy="17373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82495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FinMem agent x5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157984"/>
            <a:ext cx="2523744" cy="10789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Profiling (adaptive persona)
Layered memory (FAISS)
retrieve -&gt; reason -&gt; act
immediate + extended reflection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2651760" cy="173736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82495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Portfolio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57984"/>
            <a:ext cx="2432304" cy="10789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1 daily call over all 5
decisions + reasoning
-&gt; portfolio weights
(our extension)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554480"/>
            <a:ext cx="2331720" cy="1737360"/>
          </a:xfrm>
          <a:prstGeom prst="roundRect">
            <a:avLst/>
          </a:prstGeom>
          <a:solidFill>
            <a:srgbClr val="EF9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682495"/>
            <a:ext cx="2057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2157984"/>
            <a:ext cx="2112263" cy="10789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metrics +/- costs
Wilcoxon, bootstrap
B&amp;H + no-memory
baselines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00400" y="2240280"/>
            <a:ext cx="256032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6199632" y="2240280"/>
            <a:ext cx="256032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079992" y="2240280"/>
            <a:ext cx="256032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Frozen before any test run - commit </a:t>
            </a:r>
            <a:r>
              <a:rPr sz="1300" b="1" i="0">
                <a:solidFill>
                  <a:srgbClr val="21295C"/>
                </a:solidFill>
                <a:latin typeface="Courier New"/>
              </a:rPr>
              <a:t>96d724d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 :  K=5 - M=7 - decay Q=14/90/365 - ada-002 - long-only - temperature pinned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51960"/>
            <a:ext cx="11091672" cy="178308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89120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MODELS &amp; COST  -  whole project ran for ~$10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Summariser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38928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Gemini 3 Flash-Lite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C7293"/>
                </a:solidFill>
                <a:latin typeface="Calibri"/>
              </a:rPr>
              <a:t>cutoff Jan 2025 - $6.95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484632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Decision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5138928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gpt-4.1-mini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548640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C7293"/>
                </a:solidFill>
                <a:latin typeface="Calibri"/>
              </a:rPr>
              <a:t>cutoff Jun 2024 - free pool +$1.66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776" y="484632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Embeddings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776" y="5138928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ada-002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548640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C7293"/>
                </a:solidFill>
                <a:latin typeface="Calibri"/>
              </a:rPr>
              <a:t>paper spec - ~$1.50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4" y="484632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Sentiment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4544" y="5138928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FinBERT (local 3090)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24544" y="548640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C7293"/>
                </a:solidFill>
                <a:latin typeface="Calibri"/>
              </a:rPr>
              <a:t>free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Experimental design &amp; how we avoided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86400" cy="46634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EVERY MODEL CUTOFF PRECEDES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Train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1168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2025-07-01 -&gt; 2025-12-31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78608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Test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78608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2026-01-02 -&gt; 2026-06-01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gpt-4.1-mini cutoff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145536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Jun 2024  - before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12464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Gemini 3 cutoff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712464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Jan 2025  - before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79392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FinBERT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79392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pre-2021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50292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Leakage suite T1-T4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dates valid &amp; 16:00-rule - filings keyed by filed-date - env serves only &lt;= today - summaries inherit source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417320"/>
            <a:ext cx="5440680" cy="466344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THREE CRIMES -&gt; THREE FIXES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05740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67128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Leakage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551176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All model cutoffs before the 2025-26 data window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29184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401568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Frictions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85616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Every metric at 0 and 10 bps + a 0-50 bps break-even sweep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52628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636008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Test tuning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020056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All hyperparameters frozen in a dated commit before the first test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OUR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A second question: one prompt, a whole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FinMem trades each stock in isolation. We asked: in a </a:t>
            </a:r>
            <a:r>
              <a:rPr sz="1600" b="1" i="0">
                <a:solidFill>
                  <a:srgbClr val="1C7293"/>
                </a:solidFill>
                <a:latin typeface="Calibri"/>
              </a:rPr>
              <a:t>million-token-context world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, can a single unified daily prompt manage a 5-stock portfolio? Each test day one extra gpt-4.1-mini call receives all five agents' decisions + reasoning and outputs portfolio weights (long-only, cash allowed).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3611880" cy="18288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Portfolio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E24B4A"/>
                </a:solidFill>
                <a:latin typeface="Cambria"/>
              </a:rPr>
              <a:t>-3.6%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Sharpe -0.53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05072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Max DD -10.0%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68880"/>
            <a:ext cx="3611880" cy="1828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0604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4748B"/>
                </a:solidFill>
                <a:latin typeface="Calibri"/>
              </a:rPr>
              <a:t>Equal-weight B&amp;H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0175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E293B"/>
                </a:solidFill>
                <a:latin typeface="Cambria"/>
              </a:rPr>
              <a:t>-0.4%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03320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Sharpe +0.11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005072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Max DD -20.5%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468880"/>
            <a:ext cx="3337560" cy="182880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606040"/>
            <a:ext cx="2926080" cy="1600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The finding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It traded return for safety: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halved the drawdown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but lagged on return in a choppy, mostly-down window.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Reading: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the unified-prompt portfolio brain behaves like a conservative risk manager - it parks weight in cash under stress. Useful for capital preservation, not raw return. A clean proof-of-concept that long-context single-prompt portfolio control is feasible, if not yet profitable.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Headline results - leakage-free, costs included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Cumulative return over the test window (Jan-Jun 2026), unit long-only, full-window pricing.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1051560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Ticker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783080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FinMem-Ours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83080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No-memory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83080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Buy &amp; 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783080"/>
            <a:ext cx="2011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Winner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8600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TSLA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286000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E24B4A"/>
                </a:solidFill>
                <a:latin typeface="Calibri"/>
              </a:rPr>
              <a:t>-23.1%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28600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E24B4A"/>
                </a:solidFill>
                <a:latin typeface="Calibri"/>
              </a:rPr>
              <a:t>-5.5%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28600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E24B4A"/>
                </a:solidFill>
                <a:latin typeface="Calibri"/>
              </a:rPr>
              <a:t>-5.1%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286000"/>
            <a:ext cx="20116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64748B"/>
                </a:solidFill>
                <a:latin typeface="Calibri"/>
              </a:rPr>
              <a:t>B&amp;H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83464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NFLX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834640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02C39A"/>
                </a:solidFill>
                <a:latin typeface="Calibri"/>
              </a:rPr>
              <a:t>+3.8%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83464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02C39A"/>
                </a:solidFill>
                <a:latin typeface="Calibri"/>
              </a:rPr>
              <a:t>+19.8%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83464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E24B4A"/>
                </a:solidFill>
                <a:latin typeface="Calibri"/>
              </a:rPr>
              <a:t>-5.6%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834640"/>
            <a:ext cx="20116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EF9F27"/>
                </a:solidFill>
                <a:latin typeface="Calibri"/>
              </a:rPr>
              <a:t>No-mem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38328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AMZN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383280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02C39A"/>
                </a:solidFill>
                <a:latin typeface="Calibri"/>
              </a:rPr>
              <a:t>+15.5%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38328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02C39A"/>
                </a:solidFill>
                <a:latin typeface="Calibri"/>
              </a:rPr>
              <a:t>+24.5%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38328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02C39A"/>
                </a:solidFill>
                <a:latin typeface="Calibri"/>
              </a:rPr>
              <a:t>+15.3%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383280"/>
            <a:ext cx="20116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EF9F27"/>
                </a:solidFill>
                <a:latin typeface="Calibri"/>
              </a:rPr>
              <a:t>No-mem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93192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MSFT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3931920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E24B4A"/>
                </a:solidFill>
                <a:latin typeface="Calibri"/>
              </a:rPr>
              <a:t>-3.9%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393192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E24B4A"/>
                </a:solidFill>
                <a:latin typeface="Calibri"/>
              </a:rPr>
              <a:t>-6.0%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93192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E24B4A"/>
                </a:solidFill>
                <a:latin typeface="Calibri"/>
              </a:rPr>
              <a:t>-2.2%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931920"/>
            <a:ext cx="20116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64748B"/>
                </a:solidFill>
                <a:latin typeface="Calibri"/>
              </a:rPr>
              <a:t>B&amp;H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48056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COIN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4480560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E24B4A"/>
                </a:solidFill>
                <a:latin typeface="Calibri"/>
              </a:rPr>
              <a:t>-18.5%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448056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E24B4A"/>
                </a:solidFill>
                <a:latin typeface="Calibri"/>
              </a:rPr>
              <a:t>-24.2%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48056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E24B4A"/>
                </a:solidFill>
                <a:latin typeface="Calibri"/>
              </a:rPr>
              <a:t>-22.8%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4480560"/>
            <a:ext cx="20116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Ours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02920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MEAN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5029200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-5.3%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502920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2C39A"/>
                </a:solidFill>
                <a:latin typeface="Calibri"/>
              </a:rPr>
              <a:t>+1.7%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5029200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-4.1%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5029200"/>
            <a:ext cx="20116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F9F27"/>
                </a:solidFill>
                <a:latin typeface="Calibri"/>
              </a:rPr>
              <a:t>No-mem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FinMem-Ours underperforms Buy &amp; Hold on the mean; the </a:t>
            </a:r>
            <a:r>
              <a:rPr sz="1350" b="1" i="0">
                <a:solidFill>
                  <a:srgbClr val="EF9F27"/>
                </a:solidFill>
                <a:latin typeface="Calibri"/>
              </a:rPr>
              <a:t>memory-free agent is the best of the three</a:t>
            </a:r>
            <a:r>
              <a:rPr sz="1350" b="0" i="0">
                <a:solidFill>
                  <a:srgbClr val="1E293B"/>
                </a:solidFill>
                <a:latin typeface="Calibri"/>
              </a:rPr>
              <a:t>.  Ours vs B&amp;H pooled Wilcoxon p = 0.69 (n.s.).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Cumulative return by ticker</a:t>
            </a:r>
          </a:p>
        </p:txBody>
      </p:sp>
      <p:pic>
        <p:nvPicPr>
          <p:cNvPr id="5" name="Picture 4" descr="bars_cum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4318"/>
            <a:ext cx="7680960" cy="427800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554480"/>
            <a:ext cx="3154680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737360"/>
            <a:ext cx="27432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Read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NFLX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 is the one clear FinMem win (+3.8% vs -5.6%).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AMZN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 edges B&amp;H.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TSLA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 is the worst miss (-23% vs -5%) - it stayed long into the April drawdown.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4 of 5 tickers fell over the window - a hard test, not a bull market.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Risk-adjusted return &amp; an equity curve</a:t>
            </a:r>
          </a:p>
        </p:txBody>
      </p:sp>
      <p:pic>
        <p:nvPicPr>
          <p:cNvPr id="5" name="Picture 4" descr="bars_shar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4129"/>
            <a:ext cx="5532120" cy="3081180"/>
          </a:xfrm>
          <a:prstGeom prst="rect">
            <a:avLst/>
          </a:prstGeom>
        </p:spPr>
      </p:pic>
      <p:pic>
        <p:nvPicPr>
          <p:cNvPr id="6" name="Picture 5" descr="equity_NFL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74262"/>
            <a:ext cx="5394960" cy="30522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983480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NFLX equity curve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 - FinMem-Ours (win) vs no-memory vs Buy &amp; Hold. Sharpe: Ours 0.44, no-mem 1.56, B&amp;H -0.19.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Our Sharpe vs. the paper's reported Sharpe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The paper reports these Sharpe ratios on its leaky, frictionless, tuned 2022-23 window. Ours are leakage-free with costs: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920240"/>
            <a:ext cx="10058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23774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Ticker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2926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Paper (FinMem)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31089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Ours (FinMem-Ours)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920240"/>
            <a:ext cx="1645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Delta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2423160"/>
            <a:ext cx="10058400" cy="603504"/>
          </a:xfrm>
          <a:prstGeom prst="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423160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TSLA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F9F27"/>
                </a:solidFill>
                <a:latin typeface="Calibri"/>
              </a:rPr>
              <a:t>2.67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23160"/>
            <a:ext cx="3108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-1.92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423160"/>
            <a:ext cx="16459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E24B4A"/>
                </a:solidFill>
                <a:latin typeface="Calibri"/>
              </a:rPr>
              <a:t>-4.6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3026664"/>
            <a:ext cx="10058400" cy="603504"/>
          </a:xfrm>
          <a:prstGeom prst="rect">
            <a:avLst/>
          </a:prstGeom>
          <a:solidFill>
            <a:srgbClr val="2B3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026664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NFLX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026664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F9F27"/>
                </a:solidFill>
                <a:latin typeface="Calibri"/>
              </a:rPr>
              <a:t>2.01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26664"/>
            <a:ext cx="3108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2C39A"/>
                </a:solidFill>
                <a:latin typeface="Calibri"/>
              </a:rPr>
              <a:t>0.44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026664"/>
            <a:ext cx="16459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E24B4A"/>
                </a:solidFill>
                <a:latin typeface="Calibri"/>
              </a:rPr>
              <a:t>-1.6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3630168"/>
            <a:ext cx="10058400" cy="603504"/>
          </a:xfrm>
          <a:prstGeom prst="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630168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AMZN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630168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F9F27"/>
                </a:solidFill>
                <a:latin typeface="Calibri"/>
              </a:rPr>
              <a:t>0.23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30168"/>
            <a:ext cx="3108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2C39A"/>
                </a:solidFill>
                <a:latin typeface="Calibri"/>
              </a:rPr>
              <a:t>1.67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630168"/>
            <a:ext cx="16459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02C39A"/>
                </a:solidFill>
                <a:latin typeface="Calibri"/>
              </a:rPr>
              <a:t>+1.4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4233672"/>
            <a:ext cx="10058400" cy="603504"/>
          </a:xfrm>
          <a:prstGeom prst="rect">
            <a:avLst/>
          </a:prstGeom>
          <a:solidFill>
            <a:srgbClr val="2B3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233672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MSFT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233672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F9F27"/>
                </a:solidFill>
                <a:latin typeface="Calibri"/>
              </a:rPr>
              <a:t>1.84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233672"/>
            <a:ext cx="3108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-0.20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233672"/>
            <a:ext cx="16459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E24B4A"/>
                </a:solidFill>
                <a:latin typeface="Calibri"/>
              </a:rPr>
              <a:t>-2.0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4837176"/>
            <a:ext cx="10058400" cy="603504"/>
          </a:xfrm>
          <a:prstGeom prst="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4837176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837176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F9F27"/>
                </a:solidFill>
                <a:latin typeface="Calibri"/>
              </a:rPr>
              <a:t>1.62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837176"/>
            <a:ext cx="3108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-0.70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837176"/>
            <a:ext cx="16459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E24B4A"/>
                </a:solidFill>
                <a:latin typeface="Calibri"/>
              </a:rPr>
              <a:t>-2.3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94360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Not one ticker reproduces the paper's Sharpe. AMZN is the only case we beat it - and even there the memory-free agent is stronger still.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CORE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Did the layered memory help? - the ablation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4572000" cy="457200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C39A"/>
                </a:solidFill>
                <a:latin typeface="Calibri"/>
              </a:rPr>
              <a:t>Same agent, memory 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41148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mbria"/>
              </a:rPr>
              <a:t>+1.7%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mean return, no-memory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4114800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vs FinMem-Ours  </a:t>
            </a:r>
            <a:r>
              <a:rPr sz="1500" b="1" i="0">
                <a:solidFill>
                  <a:srgbClr val="E24B4A"/>
                </a:solidFill>
                <a:latin typeface="Calibri"/>
              </a:rPr>
              <a:t>-5.3%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vs Buy &amp; Hold 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-4.1%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Memory-free wins on 3 of 5 tickers.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Pooled Wilcoxon p = 0.075; median memory effect -28 bps/day (negative =&gt; memory hurt).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417320"/>
            <a:ext cx="6309360" cy="45720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600200"/>
            <a:ext cx="5852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The paradox we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194560"/>
            <a:ext cx="585216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The memory machinery </a:t>
            </a:r>
            <a:r>
              <a:rPr sz="1400" b="1" i="0">
                <a:solidFill>
                  <a:srgbClr val="1C7293"/>
                </a:solidFill>
                <a:latin typeface="Calibri"/>
              </a:rPr>
              <a:t>fully engaged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: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-  1000+ memories retained per ticker (fix worked)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-  deep layer holds 119 self-written reflections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-  the agent cites its own reflections (NFLX: 78x)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-  adaptive persona switches 21x over the window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6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E24B4A"/>
                </a:solidFill>
                <a:latin typeface="Calibri"/>
              </a:rPr>
              <a:t>... yet none of it improved returns out-of-sample.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1">
                <a:solidFill>
                  <a:srgbClr val="1E293B"/>
                </a:solidFill>
                <a:latin typeface="Calibri"/>
              </a:rPr>
              <a:t>The architecture is real and active; its value is not.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The adaptive persona genuinely operates</a:t>
            </a:r>
          </a:p>
        </p:txBody>
      </p:sp>
      <p:pic>
        <p:nvPicPr>
          <p:cNvPr id="5" name="Picture 4" descr="persona_timeline_NFL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573129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64748B"/>
                </a:solidFill>
                <a:latin typeface="Calibri"/>
              </a:rPr>
              <a:t>NFLX risk mode by day - 43 risk-seeking / 59 risk-averse, 21 switches.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63040"/>
            <a:ext cx="4297680" cy="45720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60020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Same engine, two 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03120"/>
            <a:ext cx="39319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Risk-seeking - NFLX Jan 2: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1">
                <a:solidFill>
                  <a:srgbClr val="1E293B"/>
                </a:solidFill>
                <a:latin typeface="Calibri"/>
              </a:rPr>
              <a:t>“...strong positive fundamentals... bullish option activity...” -&gt; BUY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520440"/>
            <a:ext cx="393192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E24B4A"/>
                </a:solidFill>
                <a:latin typeface="Calibri"/>
              </a:rPr>
              <a:t>Risk-averse - NFLX Jan 7: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1">
                <a:solidFill>
                  <a:srgbClr val="1E293B"/>
                </a:solidFill>
                <a:latin typeface="Calibri"/>
              </a:rPr>
              <a:t>“As a risk-averse investor holding shares, the negative momentum...” -&gt; SELL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21295C"/>
                </a:solidFill>
                <a:latin typeface="Calibri"/>
              </a:rPr>
              <a:t>This two-sided switch is exactly what the released code never shipped (B8).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What the agent leaned on</a:t>
            </a:r>
          </a:p>
        </p:txBody>
      </p:sp>
      <p:pic>
        <p:nvPicPr>
          <p:cNvPr id="5" name="Picture 4" descr="citation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6514"/>
            <a:ext cx="6035040" cy="33307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1463040"/>
            <a:ext cx="4846320" cy="4434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7728" y="1627632"/>
            <a:ext cx="448056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Balanced across layers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citations split ~26/22/27/23% over short / mid / deep / reflection - every layer is used.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It trusts itself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NFLX's single most-cited memory is one of the agent's own extended reflections (78x).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E24B4A"/>
                </a:solidFill>
                <a:latin typeface="Calibri"/>
              </a:rPr>
              <a:t>But retrieval can't adapt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the retrieval query is the static persona - same text every day. Day-to-day overlap of cited memories is 50-68%: stable, but not situation-aware.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Inside the memory: vector store &amp; the retention fix</a:t>
            </a:r>
          </a:p>
        </p:txBody>
      </p:sp>
      <p:pic>
        <p:nvPicPr>
          <p:cNvPr id="5" name="Picture 4" descr="vectordb_NFL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297680" cy="34837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50992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NFLX memory vectors (PCA), coloured by layer.</a:t>
            </a:r>
          </a:p>
        </p:txBody>
      </p:sp>
      <p:pic>
        <p:nvPicPr>
          <p:cNvPr id="7" name="Picture 6" descr="memory_growth_NFL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620455"/>
            <a:ext cx="6400800" cy="3159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5029200"/>
            <a:ext cx="64008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The F2 fix in one chart: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the as-shipped deep layer was a 3-day revolving door that kept zero filings; ours retains 1000+ memories so reflections and filings actually accumulate.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A real prompt the agent received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64240" cy="4480560"/>
          </a:xfrm>
          <a:prstGeom prst="roundRect">
            <a:avLst/>
          </a:prstGeom>
          <a:solidFill>
            <a:srgbClr val="10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02C39A"/>
                </a:solidFill>
                <a:latin typeface="Courier New"/>
              </a:rPr>
              <a:t>NFLX  -  2026-01-07  -  decision = SELL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ourier New"/>
              </a:rPr>
              <a:t>PERSONA: You are an expert of NFLX (Netflix)... streaming, original content, ad tier, gaming.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ourier New"/>
              </a:rPr>
              <a:t>TASK: make an investment decision; consider short / mid / long / reflection memory + 7-day momentum.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... When cumulative return is negative, you are a RISK-AVERSE investor; negative information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carries greater weight.   (this clause is injected only on down-momentum days)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ourier New"/>
              </a:rPr>
              <a:t>LONG-TERM MEM 236: Sony CEO praises Netflix partnership; 'KPop Demon Hunters' most-streamed...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ourier New"/>
              </a:rPr>
              <a:t>REFLECTION 161 [conf=high]: responding positively to NFLX earnings beats tends to be favourable...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MOMENTUM: cumulative return over the past 7 days is negative.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02C39A"/>
                </a:solidFill>
                <a:latin typeface="Courier New"/>
              </a:rPr>
              <a:t>JSON OUT: {investment_decision, summary_reason, &lt;layer&gt;_memory_index:[ids]}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When it worked, when it didn't - and 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40680" cy="18288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Worked: NFLX (+3.8% vs -5.6%)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5029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Risk-averse switching cut exposure during down-momentum stretches; it sold into weakness and avoided part of the slide buy-and-hold 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440680" cy="1828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24B4A"/>
                </a:solidFill>
                <a:latin typeface="Calibri"/>
              </a:rPr>
              <a:t>Failed: TSLA (-23% vs -5%)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029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Whipsaw: sold defensively, then bought back on a 7-day momentum flip right before single-day drops (bought Apr 1, next day -5.4%). High turnover, wrong timing.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Why it chose wrong - biggest single-day losses (decision = buy, then next day):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11064240" cy="4754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82880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1295C"/>
                </a:solidFill>
                <a:latin typeface="Calibri"/>
              </a:rPr>
              <a:t>TSLA Apr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31920"/>
            <a:ext cx="11887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24B4A"/>
                </a:solidFill>
                <a:latin typeface="Calibri"/>
              </a:rPr>
              <a:t>-5.4%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31920"/>
            <a:ext cx="75895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bought on AI/China bullishness despite a 344 P/E and falling momentum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62272"/>
            <a:ext cx="11064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62272"/>
            <a:ext cx="182880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1295C"/>
                </a:solidFill>
                <a:latin typeface="Calibri"/>
              </a:rPr>
              <a:t>NFLX Apr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462272"/>
            <a:ext cx="11887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24B4A"/>
                </a:solidFill>
                <a:latin typeface="Calibri"/>
              </a:rPr>
              <a:t>-9.7%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62272"/>
            <a:ext cx="75895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bought on analyst upgrades into an earnings-driven drop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92624"/>
            <a:ext cx="11064240" cy="4754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182880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1295C"/>
                </a:solidFill>
                <a:latin typeface="Calibri"/>
              </a:rPr>
              <a:t>MSFT Jan 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992624"/>
            <a:ext cx="11887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24B4A"/>
                </a:solidFill>
                <a:latin typeface="Calibri"/>
              </a:rPr>
              <a:t>-10.0%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992624"/>
            <a:ext cx="75895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'overwhelmingly positive sentiment' - straight into an earnings miss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22975"/>
            <a:ext cx="11064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22975"/>
            <a:ext cx="182880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1295C"/>
                </a:solidFill>
                <a:latin typeface="Calibri"/>
              </a:rPr>
              <a:t>COIN Mar 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522975"/>
            <a:ext cx="11887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24B4A"/>
                </a:solidFill>
                <a:latin typeface="Calibri"/>
              </a:rPr>
              <a:t>-9.8%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522975"/>
            <a:ext cx="75895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positive 7-day momentum overrode mixed/negative news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4748B"/>
                </a:solidFill>
                <a:latin typeface="Calibri"/>
              </a:rPr>
              <a:t>Common thread: a recurring bullish tilt + momentum-chasing led it long into news-driven single-day reversals.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We audited our own numbers - and caught two bugs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Practising what we preached: an independent recompute disagreed with our first results. We found </a:t>
            </a:r>
            <a:r>
              <a:rPr sz="1500" b="1" i="0">
                <a:solidFill>
                  <a:srgbClr val="E24B4A"/>
                </a:solidFill>
                <a:latin typeface="Calibri"/>
              </a:rPr>
              <a:t>two metric bugs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and corrected every 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64240" cy="10241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67712"/>
            <a:ext cx="3108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Terminal-day truncation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267712"/>
            <a:ext cx="7498079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Returns were priced one day short, dropping June 1 - a -4.6% TSLA day. Buy &amp; Hold TSLA read -0.5%; the true figure is -5.1%.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11064240" cy="10241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10712"/>
            <a:ext cx="3108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F9F27"/>
                </a:solidFill>
                <a:latin typeface="Calibri"/>
              </a:rPr>
              <a:t>Shorting-on-sell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410712"/>
            <a:ext cx="7498079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Metrics treated 'sell' as opening a short, inflating every strategy - NFLX no-memory showed +57% when the true long-only figure is +19.8%.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7720"/>
            <a:ext cx="11064240" cy="137160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10607040" cy="1143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02C39A"/>
                </a:solidFill>
                <a:latin typeface="Calibri"/>
              </a:rPr>
              <a:t>Canonical convention now enforced in code: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carry-forward unit long-only x simple next-day return, compounded on the full price series - with a regression assertion that fails the run unless Buy &amp; Hold = P[last]/P[first]-1.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1">
                <a:solidFill>
                  <a:srgbClr val="CADCFC"/>
                </a:solidFill>
                <a:latin typeface="Calibri"/>
              </a:rPr>
              <a:t>The audit itself is a result: exactly the discipline the original paper skipped.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Lessons &amp; conclusions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94960" cy="2057400"/>
          </a:xfrm>
          <a:prstGeom prst="round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914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64208"/>
            <a:ext cx="4114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The architecture reproduces; the alpha does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450592"/>
            <a:ext cx="411480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Built honestly, FinMem ties or trails Buy &amp; Hold (mean -5.3% vs -4.1%); no result approaches the paper's Sharpe of 2.67.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394960" cy="2057400"/>
          </a:xfrm>
          <a:prstGeom prst="round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27632"/>
            <a:ext cx="914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664208"/>
            <a:ext cx="4114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Memory engaged but didn't pay.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450592"/>
            <a:ext cx="411480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The memory-free agent was the best of three. The layered memory is real, active, self-referential - and net-negative out-of-sample.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5394960" cy="2057400"/>
          </a:xfrm>
          <a:prstGeom prst="round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13631"/>
            <a:ext cx="914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950207"/>
            <a:ext cx="4114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Released code is not the paper.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736592"/>
            <a:ext cx="411480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Seven documented divergences (B7/B8/F2/D20/shorting/seeding/momentum). Reproducing the paper meant rebuilding what the repo omitted.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49039"/>
            <a:ext cx="5394960" cy="2057400"/>
          </a:xfrm>
          <a:prstGeom prst="round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13631"/>
            <a:ext cx="914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950207"/>
            <a:ext cx="4114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Honest backtesting changes the answer.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736592"/>
            <a:ext cx="411480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Leakage-free dates, real costs, frozen parameters, and a metrics audit each pulled results toward - or below - the benchmark.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Trust nothing in a backtest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you haven't audited - </a:t>
            </a:r>
            <a:r>
              <a:rPr sz="4000" b="1" i="0">
                <a:solidFill>
                  <a:srgbClr val="02C39A"/>
                </a:solidFill>
                <a:latin typeface="Cambria"/>
              </a:rPr>
              <a:t>including your 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690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CADCFC"/>
                </a:solidFill>
                <a:latin typeface="Calibri"/>
              </a:rPr>
              <a:t>FinMem, rebuilt as described and tested honestly: a real cognitive architecture, an unproven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6636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Dan Shoshan   -   Nimrod Sagi        Thank you -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