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21295C"/>
                </a:solidFill>
                <a:latin typeface="Cambria"/>
              </a:rPr>
              <a:t>Figure A - Decision workflow &amp; the prompts we send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FinMem-Ours  -  our implementation, our prompts (not the released code)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11880" cy="676656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44168"/>
            <a:ext cx="34290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Multi-sourced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73351"/>
            <a:ext cx="3429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Alpaca news + SEC 10-K/10-Q + yfinance prices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2103120" y="1975104"/>
            <a:ext cx="274320" cy="146304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157984"/>
            <a:ext cx="3611880" cy="676656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221991"/>
            <a:ext cx="34290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Summarize (Gemini)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51176"/>
            <a:ext cx="3429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per-article, isolated, no background knowledge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103120" y="2852928"/>
            <a:ext cx="274320" cy="146304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035808"/>
            <a:ext cx="3611880" cy="676656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099815"/>
            <a:ext cx="34290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Sentiment (FinBERT)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29000"/>
            <a:ext cx="3429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pos/neu/neg appended (label-fix B7)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103120" y="3730752"/>
            <a:ext cx="274320" cy="146304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913631"/>
            <a:ext cx="3611880" cy="676656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977639"/>
            <a:ext cx="34290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Embed + store (ada-002 / FAISS)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306823"/>
            <a:ext cx="3429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4 layers - shallow/mid/deep/reflection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103120" y="4608575"/>
            <a:ext cx="274320" cy="146304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791455"/>
            <a:ext cx="3611880" cy="676656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855464"/>
            <a:ext cx="34290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Retrieve top-K=5 /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184647"/>
            <a:ext cx="3429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relevance + recency + importance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103120" y="5486399"/>
            <a:ext cx="274320" cy="146304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5669279"/>
            <a:ext cx="3611880" cy="676656"/>
          </a:xfrm>
          <a:prstGeom prst="roundRect">
            <a:avLst/>
          </a:prstGeom>
          <a:solidFill>
            <a:srgbClr val="EF9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733288"/>
            <a:ext cx="34290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Decide + reflect (gpt-4.1-mini)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062471"/>
            <a:ext cx="3429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buy / sell / hold  + extended reflection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1280160"/>
            <a:ext cx="7223760" cy="1325880"/>
          </a:xfrm>
          <a:prstGeom prst="rect">
            <a:avLst/>
          </a:prstGeom>
          <a:solidFill>
            <a:srgbClr val="F1F2F4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1353312"/>
            <a:ext cx="6949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Summarize  </a:t>
            </a:r>
            <a:r>
              <a:rPr sz="1000" b="0" i="0">
                <a:solidFill>
                  <a:srgbClr val="64748B"/>
                </a:solidFill>
                <a:latin typeface="Calibri"/>
              </a:rPr>
              <a:t>(Gemini 3 Flash-Lite)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1627632"/>
            <a:ext cx="694944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E24B4A"/>
                </a:solidFill>
                <a:latin typeface="Consolas"/>
              </a:rPr>
              <a:t>Summarize EACH article INDEPENDENTLY (&lt;=1000 tok), keeping numbers, analyst actions, price targets, dates.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onsolas"/>
              </a:rPr>
              <a:t>Use ONLY the text of that article - no background knowledge, no other article's influence. Date attached by us, never asked.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2724912"/>
            <a:ext cx="7223760" cy="1234440"/>
          </a:xfrm>
          <a:prstGeom prst="rect">
            <a:avLst/>
          </a:prstGeom>
          <a:solidFill>
            <a:srgbClr val="FAECE7"/>
          </a:solidFill>
          <a:ln w="15875">
            <a:solidFill>
              <a:srgbClr val="E24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2798064"/>
            <a:ext cx="6949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993C1D"/>
                </a:solidFill>
                <a:latin typeface="Calibri"/>
              </a:rPr>
              <a:t>Observe  </a:t>
            </a:r>
            <a:r>
              <a:rPr sz="1000" b="0" i="0">
                <a:solidFill>
                  <a:srgbClr val="993C1D"/>
                </a:solidFill>
                <a:latin typeface="Calibri"/>
              </a:rPr>
              <a:t>(market fact, test mode)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072384"/>
            <a:ext cx="69494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E24B4A"/>
                </a:solidFill>
                <a:latin typeface="Consolas"/>
              </a:rPr>
              <a:t>The cumulative return of the past 7 days for this stock is {positive|negative|zero}.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1">
                <a:solidFill>
                  <a:srgbClr val="1E293B"/>
                </a:solidFill>
                <a:latin typeface="Consolas"/>
              </a:rPr>
              <a:t>(train mode instead reveals the next-day move - used only to populate memory, never at test)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4078224"/>
            <a:ext cx="7223760" cy="2240280"/>
          </a:xfrm>
          <a:prstGeom prst="rect">
            <a:avLst/>
          </a:prstGeom>
          <a:solidFill>
            <a:srgbClr val="EEEDFE"/>
          </a:solidFill>
          <a:ln w="1587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4151376"/>
            <a:ext cx="6949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3C3489"/>
                </a:solidFill>
                <a:latin typeface="Calibri"/>
              </a:rPr>
              <a:t>Decide + Reflect  </a:t>
            </a:r>
            <a:r>
              <a:rPr sz="1000" b="0" i="0">
                <a:solidFill>
                  <a:srgbClr val="3C3489"/>
                </a:solidFill>
                <a:latin typeface="Calibri"/>
              </a:rPr>
              <a:t>(gpt-4.1-mini)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443984"/>
            <a:ext cx="694944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1E293B"/>
                </a:solidFill>
                <a:latin typeface="Consolas"/>
              </a:rPr>
              <a:t>Given the information, make an investment decision. Consider short/mid/long/reflection memory + 7-day momentum.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E24B4A"/>
                </a:solidFill>
                <a:latin typeface="Consolas"/>
              </a:rPr>
              <a:t>{When cumulative return &gt;= 0 you are RISK-SEEKING ... when &lt; 0 you are RISK-AVERSE ...}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1E293B"/>
                </a:solidFill>
                <a:latin typeface="Consolas"/>
              </a:rPr>
              <a:t>Provide exactly one of buy / sell / hold (cannot sell without a position) + the IDs that support it.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1" i="0">
                <a:solidFill>
                  <a:srgbClr val="3C3489"/>
                </a:solidFill>
                <a:latin typeface="Consolas"/>
              </a:rPr>
              <a:t>-&gt; JSON {investment_decision, summary_reason, &lt;layer&gt;_memory_index:[ids]}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1E293B"/>
                </a:solidFill>
                <a:latin typeface="Consolas"/>
              </a:rPr>
              <a:t>Extended reflection (M=7 days) -&gt; ONE durable insight {insight, confidence} -&gt; stored in DEEP memory.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Red = the exact instruction text our agent receives.  Backbone gpt-4.1-mini - K=5, M=7, decay 14/90/365 (frozen 96d724d).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21295C"/>
                </a:solidFill>
                <a:latin typeface="Cambria"/>
              </a:rPr>
              <a:t>Figure B - Profiling: background knowledge + self-adaptive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FinMem-Ours  -  our implementation, our prompts (not the released code)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4552" cy="1554480"/>
          </a:xfrm>
          <a:prstGeom prst="roundRect">
            <a:avLst/>
          </a:prstGeom>
          <a:solidFill>
            <a:srgbClr val="E1F5EE"/>
          </a:solidFill>
          <a:ln w="158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35024"/>
            <a:ext cx="108813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0F6E56"/>
                </a:solidFill>
                <a:latin typeface="Calibri"/>
              </a:rPr>
              <a:t>Generate background knowledge (per ticker)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You are an expert of {TICKER}: sectors (EV, cloud, streaming, crypto-exchange, ...) + a one-paragraph business description.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Historical financial performance overview - TRAIN PERIOD ONLY (2025-07..12): total return, volatility, max drawdown, biggest moves,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 i="0">
                <a:solidFill>
                  <a:srgbClr val="0F6E56"/>
                </a:solidFill>
                <a:latin typeface="Calibri"/>
              </a:rPr>
              <a:t>computed from OUR price data and self-verified == the pickle value (a wrong number aborts the run). No 2026 facts -&gt; no leakage.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43600" y="2834640"/>
            <a:ext cx="274320" cy="164592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35808"/>
            <a:ext cx="11274552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1295C"/>
                </a:solidFill>
                <a:latin typeface="Calibri"/>
              </a:rPr>
              <a:t>Choose one risk inclination  -  we run the paper's self-adaptive rule (switched daily by the 3-day cumulative-return sign):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01568"/>
            <a:ext cx="3566160" cy="2240280"/>
          </a:xfrm>
          <a:prstGeom prst="roundRect">
            <a:avLst/>
          </a:prstGeom>
          <a:solidFill>
            <a:srgbClr val="FAECE7"/>
          </a:solidFill>
          <a:ln w="15875">
            <a:solidFill>
              <a:srgbClr val="E24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493008"/>
            <a:ext cx="3246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993C1D"/>
                </a:solidFill>
                <a:latin typeface="Calibri"/>
              </a:rPr>
              <a:t>Risk-Seeking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913632"/>
            <a:ext cx="32461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Injected when 3-day cumulative return &gt;= 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572000"/>
            <a:ext cx="324612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0" i="1">
                <a:solidFill>
                  <a:srgbClr val="993C1D"/>
                </a:solidFill>
                <a:latin typeface="Calibri"/>
              </a:rPr>
              <a:t>“...positive information has a greater influence on your decisions, negative information a lesser impact.”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3401568"/>
            <a:ext cx="3566160" cy="2240280"/>
          </a:xfrm>
          <a:prstGeom prst="roundRect">
            <a:avLst/>
          </a:prstGeom>
          <a:solidFill>
            <a:srgbClr val="EEEDFE"/>
          </a:solidFill>
          <a:ln w="1587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493008"/>
            <a:ext cx="3246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3C3489"/>
                </a:solidFill>
                <a:latin typeface="Calibri"/>
              </a:rPr>
              <a:t>Self-Adaptive (ours)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913632"/>
            <a:ext cx="32461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The switch itself - chosen every day by sign of the 3-day CR.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572000"/>
            <a:ext cx="324612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0" i="1">
                <a:solidFill>
                  <a:srgbClr val="3C3489"/>
                </a:solidFill>
                <a:latin typeface="Calibri"/>
              </a:rPr>
              <a:t>Seeking on gains, averse on losses. This is B8 - the rule the released code never shipped.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3401568"/>
            <a:ext cx="3566160" cy="2240280"/>
          </a:xfrm>
          <a:prstGeom prst="roundRect">
            <a:avLst/>
          </a:prstGeom>
          <a:solidFill>
            <a:srgbClr val="E6F1FB"/>
          </a:solidFill>
          <a:ln w="1587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3493008"/>
            <a:ext cx="3246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0C447C"/>
                </a:solidFill>
                <a:latin typeface="Calibri"/>
              </a:rPr>
              <a:t>Risk-Averse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3913632"/>
            <a:ext cx="32461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Injected when 3-day cumulative return &lt; 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4572000"/>
            <a:ext cx="324612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0" i="1">
                <a:solidFill>
                  <a:srgbClr val="0C447C"/>
                </a:solidFill>
                <a:latin typeface="Calibri"/>
              </a:rPr>
              <a:t>“...negative information has a greater influence on your decisions, positive information a lesser impact.”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 i="0">
                <a:solidFill>
                  <a:srgbClr val="21295C"/>
                </a:solidFill>
                <a:latin typeface="Calibri"/>
              </a:rPr>
              <a:t>Result: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the agent visibly flips stance - NFLX bought risk-seeking on Jan 2, sold risk-averse on Jan 7. 43 seeking / 59 averse days, 21 switches.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21295C"/>
                </a:solidFill>
                <a:latin typeface="Cambria"/>
              </a:rPr>
              <a:t>Figure C - Layered memory, with our retention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FinMem-Ours  -  our implementation, our prompts (not the released code)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4552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27432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1295C"/>
                </a:solidFill>
                <a:latin typeface="Calibri"/>
              </a:rPr>
              <a:t>Market 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1874519" cy="548640"/>
          </a:xfrm>
          <a:prstGeom prst="roundRect">
            <a:avLst/>
          </a:prstGeom>
          <a:solidFill>
            <a:srgbClr val="F1F2F4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1874519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Daily news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371600"/>
            <a:ext cx="1874519" cy="548640"/>
          </a:xfrm>
          <a:prstGeom prst="roundRect">
            <a:avLst/>
          </a:prstGeom>
          <a:solidFill>
            <a:srgbClr val="F1F2F4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71600"/>
            <a:ext cx="1874519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10-Q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371600"/>
            <a:ext cx="1874519" cy="548640"/>
          </a:xfrm>
          <a:prstGeom prst="roundRect">
            <a:avLst/>
          </a:prstGeom>
          <a:solidFill>
            <a:srgbClr val="F1F2F4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371600"/>
            <a:ext cx="1874519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10-K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1371600"/>
            <a:ext cx="1874519" cy="548640"/>
          </a:xfrm>
          <a:prstGeom prst="roundRect">
            <a:avLst/>
          </a:prstGeom>
          <a:solidFill>
            <a:srgbClr val="F1F2F4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1371600"/>
            <a:ext cx="1874519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E293B"/>
                </a:solidFill>
                <a:latin typeface="Calibri"/>
              </a:rPr>
              <a:t>Daily price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43600" y="2075688"/>
            <a:ext cx="274320" cy="18288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94560" y="2331720"/>
            <a:ext cx="7772400" cy="914400"/>
          </a:xfrm>
          <a:prstGeom prst="roundRect">
            <a:avLst/>
          </a:prstGeom>
          <a:solidFill>
            <a:srgbClr val="EEEDFE"/>
          </a:solidFill>
          <a:ln w="1587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2395728"/>
            <a:ext cx="7498079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3C3489"/>
                </a:solidFill>
                <a:latin typeface="Calibri"/>
              </a:rPr>
              <a:t>Working memory  -  Summarize / Observe / Immediate + Extended Reflect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697480"/>
            <a:ext cx="7498079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each day: retrieve top-K=5 from every layer -&gt; reason -&gt; act -&gt; write reflection.  Output: buy/sell/hold, cumulative return, reasoning, cited memory IDs.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43600" y="3264408"/>
            <a:ext cx="274320" cy="18288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611880"/>
            <a:ext cx="11274552" cy="18745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675887"/>
            <a:ext cx="10058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1295C"/>
                </a:solidFill>
                <a:latin typeface="Calibri"/>
              </a:rPr>
              <a:t>Layered long-term memory (FAISS, ada-002 embeddings)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23360"/>
            <a:ext cx="2560320" cy="1325880"/>
          </a:xfrm>
          <a:prstGeom prst="roundRect">
            <a:avLst/>
          </a:prstGeom>
          <a:solidFill>
            <a:srgbClr val="E6F1FB"/>
          </a:solidFill>
          <a:ln w="15875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096512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85FA5"/>
                </a:solidFill>
                <a:latin typeface="Calibri"/>
              </a:rPr>
              <a:t>Shallow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416552"/>
            <a:ext cx="23317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Daily news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956048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85FA5"/>
                </a:solidFill>
                <a:latin typeface="Calibri"/>
              </a:rPr>
              <a:t>decay Q=14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023360"/>
            <a:ext cx="2560320" cy="1325880"/>
          </a:xfrm>
          <a:prstGeom prst="roundRect">
            <a:avLst/>
          </a:prstGeom>
          <a:solidFill>
            <a:srgbClr val="E1F5EE"/>
          </a:solidFill>
          <a:ln w="158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4096512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0F6E56"/>
                </a:solidFill>
                <a:latin typeface="Calibri"/>
              </a:rPr>
              <a:t>Intermediate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4416552"/>
            <a:ext cx="23317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10-Q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4956048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0F6E56"/>
                </a:solidFill>
                <a:latin typeface="Calibri"/>
              </a:rPr>
              <a:t>decay Q=90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4023360"/>
            <a:ext cx="2560320" cy="1325880"/>
          </a:xfrm>
          <a:prstGeom prst="roundRect">
            <a:avLst/>
          </a:prstGeom>
          <a:solidFill>
            <a:srgbClr val="FAEEDA"/>
          </a:solidFill>
          <a:ln w="15875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4096512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854F0B"/>
                </a:solidFill>
                <a:latin typeface="Calibri"/>
              </a:rPr>
              <a:t>Deep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4416552"/>
            <a:ext cx="23317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10-K + extended reflections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4956048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854F0B"/>
                </a:solidFill>
                <a:latin typeface="Calibri"/>
              </a:rPr>
              <a:t>decay Q=365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4023360"/>
            <a:ext cx="2560320" cy="1325880"/>
          </a:xfrm>
          <a:prstGeom prst="roundRect">
            <a:avLst/>
          </a:prstGeom>
          <a:solidFill>
            <a:srgbClr val="EEEDFE"/>
          </a:solidFill>
          <a:ln w="15875">
            <a:solidFill>
              <a:srgbClr val="3C34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79407" y="4096512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3C3489"/>
                </a:solidFill>
                <a:latin typeface="Calibri"/>
              </a:rPr>
              <a:t>Reflection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9407" y="4416552"/>
            <a:ext cx="23317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immediate reflections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9407" y="4956048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3C3489"/>
                </a:solidFill>
                <a:latin typeface="Calibri"/>
              </a:rPr>
              <a:t>own index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596128"/>
            <a:ext cx="11274552" cy="86868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669280"/>
            <a:ext cx="108813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Our fixes vs the released code: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no downward jumps + pure-age recency -&gt; deep layer RETAINS (1000+ memories incl. 119 self-reflections) instead of a 3-day revolving door;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extended reflections written to DEEP; ada-002 embeddings (paper spec); 10-K/10-Q seeded at day 1 so filings actually inform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