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40"/>
  </p:notesMasterIdLst>
  <p:sldIdLst>
    <p:sldId id="361" r:id="rId5"/>
    <p:sldId id="380" r:id="rId6"/>
    <p:sldId id="327" r:id="rId7"/>
    <p:sldId id="390" r:id="rId8"/>
    <p:sldId id="385" r:id="rId9"/>
    <p:sldId id="365" r:id="rId10"/>
    <p:sldId id="326" r:id="rId11"/>
    <p:sldId id="329" r:id="rId12"/>
    <p:sldId id="328" r:id="rId13"/>
    <p:sldId id="330" r:id="rId14"/>
    <p:sldId id="331" r:id="rId15"/>
    <p:sldId id="364" r:id="rId16"/>
    <p:sldId id="332" r:id="rId17"/>
    <p:sldId id="391" r:id="rId18"/>
    <p:sldId id="333" r:id="rId19"/>
    <p:sldId id="334" r:id="rId20"/>
    <p:sldId id="335" r:id="rId21"/>
    <p:sldId id="392" r:id="rId22"/>
    <p:sldId id="387" r:id="rId23"/>
    <p:sldId id="393" r:id="rId24"/>
    <p:sldId id="336" r:id="rId25"/>
    <p:sldId id="354" r:id="rId26"/>
    <p:sldId id="395" r:id="rId27"/>
    <p:sldId id="338" r:id="rId28"/>
    <p:sldId id="394" r:id="rId29"/>
    <p:sldId id="353" r:id="rId30"/>
    <p:sldId id="357" r:id="rId31"/>
    <p:sldId id="363" r:id="rId32"/>
    <p:sldId id="355" r:id="rId33"/>
    <p:sldId id="359" r:id="rId34"/>
    <p:sldId id="343" r:id="rId35"/>
    <p:sldId id="344" r:id="rId36"/>
    <p:sldId id="345" r:id="rId37"/>
    <p:sldId id="356" r:id="rId38"/>
    <p:sldId id="348" r:id="rId3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A94D"/>
    <a:srgbClr val="000512"/>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3" d="100"/>
          <a:sy n="163" d="100"/>
        </p:scale>
        <p:origin x="17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2CAF8B4F-42D1-426A-83C0-A334EA150F5B}" type="datetimeFigureOut">
              <a:rPr lang="he-IL" smtClean="0"/>
              <a:t>י"ג/תמוז/תשפ"ו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DFC9F0E0-2FA0-42FD-9C90-6288A76796A2}" type="slidenum">
              <a:rPr lang="he-IL" smtClean="0"/>
              <a:t>‹#›</a:t>
            </a:fld>
            <a:endParaRPr lang="he-IL"/>
          </a:p>
        </p:txBody>
      </p:sp>
    </p:spTree>
    <p:extLst>
      <p:ext uri="{BB962C8B-B14F-4D97-AF65-F5344CB8AC3E}">
        <p14:creationId xmlns:p14="http://schemas.microsoft.com/office/powerpoint/2010/main" val="3718905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fld id="{DFC9F0E0-2FA0-42FD-9C90-6288A76796A2}" type="slidenum">
              <a:rPr lang="he-IL" smtClean="0"/>
              <a:t>6</a:t>
            </a:fld>
            <a:endParaRPr lang="he-IL"/>
          </a:p>
        </p:txBody>
      </p:sp>
    </p:spTree>
    <p:extLst>
      <p:ext uri="{BB962C8B-B14F-4D97-AF65-F5344CB8AC3E}">
        <p14:creationId xmlns:p14="http://schemas.microsoft.com/office/powerpoint/2010/main" val="367201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51A6-E96A-5E11-AE24-57FD7F7E82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AB75A9EC-63BB-C9D7-DCCE-73B0266BE1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0E750BC4-16C6-FF8F-3F0D-74A5122964BE}"/>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5" name="Footer Placeholder 4">
            <a:extLst>
              <a:ext uri="{FF2B5EF4-FFF2-40B4-BE49-F238E27FC236}">
                <a16:creationId xmlns:a16="http://schemas.microsoft.com/office/drawing/2014/main" id="{EBD7461F-F931-035A-501D-6099A79DAA5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697EB13-5116-916B-69E3-9D828C43C4CF}"/>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112492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C04C0-5270-C485-0183-F44A9077EDB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80215377-FB3A-CE22-4F7A-B442C355B5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E643834-3368-477E-4AFD-47DEB3E41DC0}"/>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5" name="Footer Placeholder 4">
            <a:extLst>
              <a:ext uri="{FF2B5EF4-FFF2-40B4-BE49-F238E27FC236}">
                <a16:creationId xmlns:a16="http://schemas.microsoft.com/office/drawing/2014/main" id="{58300D99-6EF1-CEA7-5526-E941F619110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F64FEC7-2BE9-BA6A-4541-68DB0EC4094F}"/>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261738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E32F7-0986-97C5-56EB-8E7124B4FC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ED1115A8-0CA6-CBF5-26A0-40D33DB0F8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FE82DD-0F76-3867-B4E6-D2208F5A871A}"/>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5" name="Footer Placeholder 4">
            <a:extLst>
              <a:ext uri="{FF2B5EF4-FFF2-40B4-BE49-F238E27FC236}">
                <a16:creationId xmlns:a16="http://schemas.microsoft.com/office/drawing/2014/main" id="{6C05A850-BDA1-691C-3C6E-988DC4C8D61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8526DDC-DC05-DE4D-CD25-8802C4DC43CF}"/>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84081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EA32E-1B0B-EFE6-B184-4B04E6DD8C6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302E90A-9068-15AA-CDF6-7DDACF5BCD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242E8359-EF86-3893-EA00-FA45A54FDE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1EC61E4E-464A-AA40-1B42-6F2A7254B449}"/>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6" name="Footer Placeholder 5">
            <a:extLst>
              <a:ext uri="{FF2B5EF4-FFF2-40B4-BE49-F238E27FC236}">
                <a16:creationId xmlns:a16="http://schemas.microsoft.com/office/drawing/2014/main" id="{7A25B1CD-1856-1200-CCC7-8A3FCF2B3D2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395DA00-B123-124B-56E2-0A4FDA5A5F9C}"/>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257222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75DAC-33C8-F6A8-2D42-90629815504C}"/>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91F7E63D-03F5-3EEB-6619-21BC9C9A0C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5489AF-B4D3-FCCF-D601-90129FF54F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B5140DA-EAD0-7225-C2F0-3C1F9CDEC9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D9DE1A-86FD-6CA9-0B30-7218CB2132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AB9C1E96-A9B3-C57F-35AF-DA7992D2ACE0}"/>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8" name="Footer Placeholder 7">
            <a:extLst>
              <a:ext uri="{FF2B5EF4-FFF2-40B4-BE49-F238E27FC236}">
                <a16:creationId xmlns:a16="http://schemas.microsoft.com/office/drawing/2014/main" id="{1E1AAF14-AD26-C717-2581-70A05AAC349C}"/>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C8F28C3-BAEC-6D37-E082-09941CD1A721}"/>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1516634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0F895-F3A5-0C1D-309A-E77D35DE7A07}"/>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3BDBEA9B-B752-D790-9DCB-9DEBEF5D6B16}"/>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4" name="Footer Placeholder 3">
            <a:extLst>
              <a:ext uri="{FF2B5EF4-FFF2-40B4-BE49-F238E27FC236}">
                <a16:creationId xmlns:a16="http://schemas.microsoft.com/office/drawing/2014/main" id="{49D4474F-ADE2-1B6D-46B9-3F3ABC2C3CE3}"/>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E181909D-84EB-7AE1-4B5F-C50C1B752792}"/>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3130333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1BB45E-BEA5-ED30-A0E3-9D1F6BB07692}"/>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3" name="Footer Placeholder 2">
            <a:extLst>
              <a:ext uri="{FF2B5EF4-FFF2-40B4-BE49-F238E27FC236}">
                <a16:creationId xmlns:a16="http://schemas.microsoft.com/office/drawing/2014/main" id="{A1C5F270-524C-2282-B106-7ED911958359}"/>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7E77F9BA-B922-F642-B16E-EAC4C3B5B82D}"/>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3820279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0D062-64D5-21FB-13FF-38BC50E633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1B8A0F0-8A62-B821-24CB-FE1129D68D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3C426EDD-A914-49A4-34A5-1D81D5A7A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880E1E-9941-1114-0135-C0F552EAAB00}"/>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6" name="Footer Placeholder 5">
            <a:extLst>
              <a:ext uri="{FF2B5EF4-FFF2-40B4-BE49-F238E27FC236}">
                <a16:creationId xmlns:a16="http://schemas.microsoft.com/office/drawing/2014/main" id="{101D7D1A-0A46-72F6-B065-95D46C37200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958206C5-4E0F-DFE1-19CD-C2B8DB011BB6}"/>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485636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D6E1-EE58-B276-0590-85F92CDDE3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84754C10-7E8A-3A61-4176-3E708323BA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03D2F228-24D2-EFDA-CCE9-68BE74AFA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A167-F83B-AFB6-174F-8E507B696B01}"/>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6" name="Footer Placeholder 5">
            <a:extLst>
              <a:ext uri="{FF2B5EF4-FFF2-40B4-BE49-F238E27FC236}">
                <a16:creationId xmlns:a16="http://schemas.microsoft.com/office/drawing/2014/main" id="{BC13D8C9-C1B0-2F25-4F1E-489AC1E897CA}"/>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80E523A-163C-D1E5-826B-6181D3F63061}"/>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2615284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3E08C-6DA7-F073-B178-A68BAB890572}"/>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157049F-2C10-5309-6BE5-1E41564FFF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91B2B1FF-C33E-F05C-D240-5461C18CFD1C}"/>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5" name="Footer Placeholder 4">
            <a:extLst>
              <a:ext uri="{FF2B5EF4-FFF2-40B4-BE49-F238E27FC236}">
                <a16:creationId xmlns:a16="http://schemas.microsoft.com/office/drawing/2014/main" id="{B5B18DC0-6197-CE53-6415-9399B1B8BA1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6DB079B-B07D-4350-118B-7ABD7BC26618}"/>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1473736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A75F6B-E7F5-BE13-E158-A1B2180A4D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1C32E46-D336-D354-CB92-4C5F85189C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F5E0FF0-9E16-DA0B-8BE4-53D6D8A1E2E7}"/>
              </a:ext>
            </a:extLst>
          </p:cNvPr>
          <p:cNvSpPr>
            <a:spLocks noGrp="1"/>
          </p:cNvSpPr>
          <p:nvPr>
            <p:ph type="dt" sz="half" idx="10"/>
          </p:nvPr>
        </p:nvSpPr>
        <p:spPr/>
        <p:txBody>
          <a:bodyPr/>
          <a:lstStyle/>
          <a:p>
            <a:fld id="{0F432319-AD6D-4069-B332-8A4DE2371C80}" type="datetimeFigureOut">
              <a:rPr lang="en-IL" smtClean="0"/>
              <a:t>06/28/2026</a:t>
            </a:fld>
            <a:endParaRPr lang="en-IL"/>
          </a:p>
        </p:txBody>
      </p:sp>
      <p:sp>
        <p:nvSpPr>
          <p:cNvPr id="5" name="Footer Placeholder 4">
            <a:extLst>
              <a:ext uri="{FF2B5EF4-FFF2-40B4-BE49-F238E27FC236}">
                <a16:creationId xmlns:a16="http://schemas.microsoft.com/office/drawing/2014/main" id="{CCD61003-AFB5-F1A3-BB04-AEF63785660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0DA1F37-BE5B-0F77-CF91-BFBC46102E26}"/>
              </a:ext>
            </a:extLst>
          </p:cNvPr>
          <p:cNvSpPr>
            <a:spLocks noGrp="1"/>
          </p:cNvSpPr>
          <p:nvPr>
            <p:ph type="sldNum" sz="quarter" idx="12"/>
          </p:nvPr>
        </p:nvSpPr>
        <p:spPr/>
        <p:txBody>
          <a:bodyPr/>
          <a:lstStyle/>
          <a:p>
            <a:fld id="{783472BE-44E8-4856-8228-C087FAEBFCCE}" type="slidenum">
              <a:rPr lang="en-IL" smtClean="0"/>
              <a:t>‹#›</a:t>
            </a:fld>
            <a:endParaRPr lang="en-IL"/>
          </a:p>
        </p:txBody>
      </p:sp>
    </p:spTree>
    <p:extLst>
      <p:ext uri="{BB962C8B-B14F-4D97-AF65-F5344CB8AC3E}">
        <p14:creationId xmlns:p14="http://schemas.microsoft.com/office/powerpoint/2010/main" val="1496794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F1094-C3C5-7991-7A99-36DC528B37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20C5FBA4-8195-7FC7-A93D-46F91FC724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6C4D203-18A1-C37B-7F9B-8616A9C35A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432319-AD6D-4069-B332-8A4DE2371C80}" type="datetimeFigureOut">
              <a:rPr lang="en-IL" smtClean="0"/>
              <a:t>06/28/2026</a:t>
            </a:fld>
            <a:endParaRPr lang="en-IL"/>
          </a:p>
        </p:txBody>
      </p:sp>
      <p:sp>
        <p:nvSpPr>
          <p:cNvPr id="5" name="Footer Placeholder 4">
            <a:extLst>
              <a:ext uri="{FF2B5EF4-FFF2-40B4-BE49-F238E27FC236}">
                <a16:creationId xmlns:a16="http://schemas.microsoft.com/office/drawing/2014/main" id="{F68614BD-198D-E725-1DDD-FEF0769309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AEE66D7E-44C4-F20E-F0A8-954C1A9F24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3472BE-44E8-4856-8228-C087FAEBFCCE}" type="slidenum">
              <a:rPr lang="en-IL" smtClean="0"/>
              <a:t>‹#›</a:t>
            </a:fld>
            <a:endParaRPr lang="en-IL"/>
          </a:p>
        </p:txBody>
      </p:sp>
      <p:sp>
        <p:nvSpPr>
          <p:cNvPr id="200" name="BottomBar"/>
          <p:cNvSpPr>
            <a:spLocks noGrp="1"/>
          </p:cNvSpPr>
          <p:nvPr/>
        </p:nvSpPr>
        <p:spPr>
          <a:xfrm>
            <a:off x="0" y="6200000"/>
            <a:ext cx="12192000" cy="148000"/>
          </a:xfrm>
          <a:prstGeom prst="rect">
            <a:avLst/>
          </a:prstGeom>
          <a:solidFill>
            <a:srgbClr val="1A2744"/>
          </a:solidFill>
          <a:ln>
            <a:noFill/>
          </a:ln>
        </p:spPr>
        <p:txBody>
          <a:bodyPr/>
          <a:lstStyle/>
          <a:p>
            <a:endParaRPr lang="en-US"/>
          </a:p>
        </p:txBody>
      </p:sp>
      <p:sp>
        <p:nvSpPr>
          <p:cNvPr id="201" name="GoldLine"/>
          <p:cNvSpPr>
            <a:spLocks noGrp="1"/>
          </p:cNvSpPr>
          <p:nvPr/>
        </p:nvSpPr>
        <p:spPr>
          <a:xfrm>
            <a:off x="0" y="6186000"/>
            <a:ext cx="9144000" cy="18000"/>
          </a:xfrm>
          <a:prstGeom prst="rect">
            <a:avLst/>
          </a:prstGeom>
          <a:solidFill>
            <a:srgbClr val="C9A84C"/>
          </a:solidFill>
          <a:ln>
            <a:noFill/>
          </a:ln>
        </p:spPr>
        <p:txBody>
          <a:bodyPr/>
          <a:lstStyle/>
          <a:p>
            <a:endParaRPr lang="en-US"/>
          </a:p>
        </p:txBody>
      </p:sp>
    </p:spTree>
    <p:extLst>
      <p:ext uri="{BB962C8B-B14F-4D97-AF65-F5344CB8AC3E}">
        <p14:creationId xmlns:p14="http://schemas.microsoft.com/office/powerpoint/2010/main" val="39493432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rgbClr val="1A2744"/>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10" name="BG"/>
          <p:cNvSpPr/>
          <p:nvPr/>
        </p:nvSpPr>
        <p:spPr>
          <a:xfrm>
            <a:off x="0" y="0"/>
            <a:ext cx="12192000" cy="6858000"/>
          </a:xfrm>
          <a:prstGeom prst="rect">
            <a:avLst/>
          </a:prstGeom>
          <a:solidFill>
            <a:srgbClr val="1A2744"/>
          </a:solidFill>
          <a:ln>
            <a:noFill/>
          </a:ln>
        </p:spPr>
        <p:txBody>
          <a:bodyPr lIns="0" tIns="0" rIns="0" bIns="0" anchor="ctr"/>
          <a:lstStyle/>
          <a:p>
            <a:pPr algn="l">
              <a:buNone/>
            </a:pPr>
            <a:endParaRPr lang="he-IL" sz="2800"/>
          </a:p>
        </p:txBody>
      </p:sp>
      <p:sp>
        <p:nvSpPr>
          <p:cNvPr id="11" name="TopBar"/>
          <p:cNvSpPr/>
          <p:nvPr/>
        </p:nvSpPr>
        <p:spPr>
          <a:xfrm>
            <a:off x="0" y="0"/>
            <a:ext cx="12192000" cy="50800"/>
          </a:xfrm>
          <a:prstGeom prst="rect">
            <a:avLst/>
          </a:prstGeom>
          <a:solidFill>
            <a:srgbClr val="C9A84C"/>
          </a:solidFill>
          <a:ln>
            <a:noFill/>
          </a:ln>
        </p:spPr>
        <p:txBody>
          <a:bodyPr lIns="0" tIns="0" rIns="0" bIns="0" anchor="ctr"/>
          <a:lstStyle/>
          <a:p>
            <a:pPr algn="l">
              <a:buNone/>
            </a:pPr>
            <a:endParaRPr lang="he-IL" sz="2800"/>
          </a:p>
        </p:txBody>
      </p:sp>
      <p:sp>
        <p:nvSpPr>
          <p:cNvPr id="12" name="BottomBar"/>
          <p:cNvSpPr/>
          <p:nvPr/>
        </p:nvSpPr>
        <p:spPr>
          <a:xfrm>
            <a:off x="0" y="6807200"/>
            <a:ext cx="12192000" cy="50800"/>
          </a:xfrm>
          <a:prstGeom prst="rect">
            <a:avLst/>
          </a:prstGeom>
          <a:solidFill>
            <a:srgbClr val="C9A84C"/>
          </a:solidFill>
          <a:ln>
            <a:noFill/>
          </a:ln>
        </p:spPr>
        <p:txBody>
          <a:bodyPr lIns="0" tIns="0" rIns="0" bIns="0" anchor="ctr"/>
          <a:lstStyle/>
          <a:p>
            <a:pPr algn="l">
              <a:buNone/>
            </a:pPr>
            <a:endParaRPr lang="he-IL" sz="2800"/>
          </a:p>
        </p:txBody>
      </p:sp>
      <p:sp>
        <p:nvSpPr>
          <p:cNvPr id="13" name="LeftAccent"/>
          <p:cNvSpPr/>
          <p:nvPr/>
        </p:nvSpPr>
        <p:spPr>
          <a:xfrm>
            <a:off x="609600" y="1016000"/>
            <a:ext cx="50800" cy="3810000"/>
          </a:xfrm>
          <a:prstGeom prst="rect">
            <a:avLst/>
          </a:prstGeom>
          <a:solidFill>
            <a:srgbClr val="C9A84C"/>
          </a:solidFill>
          <a:ln>
            <a:noFill/>
          </a:ln>
        </p:spPr>
        <p:txBody>
          <a:bodyPr lIns="0" tIns="0" rIns="0" bIns="0" anchor="ctr"/>
          <a:lstStyle/>
          <a:p>
            <a:pPr algn="l">
              <a:buNone/>
            </a:pPr>
            <a:endParaRPr lang="he-IL" sz="2800"/>
          </a:p>
        </p:txBody>
      </p:sp>
      <p:sp>
        <p:nvSpPr>
          <p:cNvPr id="20" name="SeminarLabel"/>
          <p:cNvSpPr/>
          <p:nvPr/>
        </p:nvSpPr>
        <p:spPr>
          <a:xfrm>
            <a:off x="863600" y="736600"/>
            <a:ext cx="10718800" cy="355600"/>
          </a:xfrm>
          <a:prstGeom prst="rect">
            <a:avLst/>
          </a:prstGeom>
          <a:noFill/>
          <a:ln>
            <a:noFill/>
          </a:ln>
        </p:spPr>
        <p:txBody>
          <a:bodyPr lIns="0" tIns="0" rIns="0" bIns="0" anchor="ctr"/>
          <a:lstStyle/>
          <a:p>
            <a:pPr algn="l">
              <a:buNone/>
            </a:pPr>
            <a:endParaRPr lang="en-US" sz="2000" b="0" i="0">
              <a:solidFill>
                <a:srgbClr val="C9A84C"/>
              </a:solidFill>
            </a:endParaRPr>
          </a:p>
        </p:txBody>
      </p:sp>
      <p:sp>
        <p:nvSpPr>
          <p:cNvPr id="21" name="MainTitle"/>
          <p:cNvSpPr/>
          <p:nvPr/>
        </p:nvSpPr>
        <p:spPr>
          <a:xfrm>
            <a:off x="863600" y="1143000"/>
            <a:ext cx="10718800" cy="1778000"/>
          </a:xfrm>
          <a:prstGeom prst="rect">
            <a:avLst/>
          </a:prstGeom>
          <a:noFill/>
          <a:ln>
            <a:noFill/>
          </a:ln>
        </p:spPr>
        <p:txBody>
          <a:bodyPr lIns="0" anchor="t"/>
          <a:lstStyle/>
          <a:p>
            <a:pPr algn="l">
              <a:buNone/>
            </a:pPr>
            <a:r>
              <a:rPr lang="en-US" sz="5400" b="1" dirty="0" err="1">
                <a:solidFill>
                  <a:srgbClr val="FFFFFF"/>
                </a:solidFill>
              </a:rPr>
              <a:t>FinMem</a:t>
            </a:r>
            <a:r>
              <a:rPr lang="en-US" sz="5400" b="1" dirty="0">
                <a:solidFill>
                  <a:srgbClr val="FFFFFF"/>
                </a:solidFill>
              </a:rPr>
              <a:t>: A Performance-Enhanced</a:t>
            </a:r>
          </a:p>
          <a:p>
            <a:r>
              <a:rPr lang="en-US" sz="5400" b="1" dirty="0">
                <a:solidFill>
                  <a:srgbClr val="FFFFFF"/>
                </a:solidFill>
              </a:rPr>
              <a:t>LLM Trading Agent With Layered Memory and Character Design</a:t>
            </a:r>
          </a:p>
          <a:p>
            <a:pPr algn="l">
              <a:buNone/>
            </a:pPr>
            <a:endParaRPr lang="en-US" sz="5400" b="1" dirty="0">
              <a:solidFill>
                <a:srgbClr val="FFFFFF"/>
              </a:solidFill>
            </a:endParaRPr>
          </a:p>
        </p:txBody>
      </p:sp>
      <p:sp>
        <p:nvSpPr>
          <p:cNvPr id="22" name="SubInfo"/>
          <p:cNvSpPr/>
          <p:nvPr/>
        </p:nvSpPr>
        <p:spPr>
          <a:xfrm>
            <a:off x="863600" y="3149600"/>
            <a:ext cx="10718800" cy="762000"/>
          </a:xfrm>
          <a:prstGeom prst="rect">
            <a:avLst/>
          </a:prstGeom>
          <a:noFill/>
          <a:ln>
            <a:noFill/>
          </a:ln>
        </p:spPr>
        <p:txBody>
          <a:bodyPr lIns="0" anchor="t"/>
          <a:lstStyle/>
          <a:p>
            <a:pPr algn="l">
              <a:buNone/>
            </a:pPr>
            <a:br>
              <a:rPr lang="en-US" sz="2400">
                <a:solidFill>
                  <a:srgbClr val="B8C8E0"/>
                </a:solidFill>
              </a:rPr>
            </a:br>
            <a:r>
              <a:rPr lang="en-US" sz="2400">
                <a:solidFill>
                  <a:srgbClr val="B8C8E0"/>
                </a:solidFill>
              </a:rPr>
              <a:t>Yu et al. IEEE Xplore 2024</a:t>
            </a:r>
          </a:p>
        </p:txBody>
      </p:sp>
      <p:sp>
        <p:nvSpPr>
          <p:cNvPr id="23" name="Divider"/>
          <p:cNvSpPr/>
          <p:nvPr/>
        </p:nvSpPr>
        <p:spPr>
          <a:xfrm>
            <a:off x="863600" y="4064000"/>
            <a:ext cx="5080000" cy="25400"/>
          </a:xfrm>
          <a:prstGeom prst="rect">
            <a:avLst/>
          </a:prstGeom>
          <a:solidFill>
            <a:srgbClr val="C9A84C"/>
          </a:solidFill>
          <a:ln>
            <a:noFill/>
          </a:ln>
        </p:spPr>
        <p:txBody>
          <a:bodyPr lIns="0" tIns="0" rIns="0" bIns="0" anchor="ctr"/>
          <a:lstStyle/>
          <a:p>
            <a:pPr algn="l">
              <a:buNone/>
            </a:pPr>
            <a:endParaRPr lang="he-IL" sz="2800"/>
          </a:p>
        </p:txBody>
      </p:sp>
      <p:sp>
        <p:nvSpPr>
          <p:cNvPr id="24" name="TeaserQuote"/>
          <p:cNvSpPr/>
          <p:nvPr/>
        </p:nvSpPr>
        <p:spPr>
          <a:xfrm>
            <a:off x="863600" y="4241800"/>
            <a:ext cx="10718800" cy="1143000"/>
          </a:xfrm>
          <a:prstGeom prst="rect">
            <a:avLst/>
          </a:prstGeom>
          <a:noFill/>
          <a:ln>
            <a:noFill/>
          </a:ln>
        </p:spPr>
        <p:txBody>
          <a:bodyPr lIns="0" anchor="t"/>
          <a:lstStyle/>
          <a:p>
            <a:pPr algn="l">
              <a:buNone/>
            </a:pPr>
            <a:r>
              <a:rPr lang="en-US" sz="2400" i="1">
                <a:solidFill>
                  <a:srgbClr val="D0DDEE"/>
                </a:solidFill>
              </a:rPr>
              <a:t>Presented by Dan Shoshan &amp; Nimrod Sagi</a:t>
            </a:r>
          </a:p>
        </p:txBody>
      </p:sp>
    </p:spTree>
    <p:extLst>
      <p:ext uri="{BB962C8B-B14F-4D97-AF65-F5344CB8AC3E}">
        <p14:creationId xmlns:p14="http://schemas.microsoft.com/office/powerpoint/2010/main" val="2313895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4445-BC52-5A51-65D6-F8D035C18C36}"/>
              </a:ext>
            </a:extLst>
          </p:cNvPr>
          <p:cNvSpPr>
            <a:spLocks noGrp="1"/>
          </p:cNvSpPr>
          <p:nvPr>
            <p:ph type="title"/>
          </p:nvPr>
        </p:nvSpPr>
        <p:spPr>
          <a:xfrm>
            <a:off x="702272" y="365125"/>
            <a:ext cx="11135497" cy="1325563"/>
          </a:xfrm>
        </p:spPr>
        <p:txBody>
          <a:bodyPr>
            <a:noAutofit/>
          </a:bodyPr>
          <a:lstStyle/>
          <a:p>
            <a:r>
              <a:rPr lang="en-US" sz="5400"/>
              <a:t>The Algorithm in the Windowless Room</a:t>
            </a:r>
          </a:p>
        </p:txBody>
      </p:sp>
      <p:sp>
        <p:nvSpPr>
          <p:cNvPr id="3" name="Content Placeholder 2">
            <a:extLst>
              <a:ext uri="{FF2B5EF4-FFF2-40B4-BE49-F238E27FC236}">
                <a16:creationId xmlns:a16="http://schemas.microsoft.com/office/drawing/2014/main" id="{46FC0D3E-08B9-1F8B-2429-DADE4C550C03}"/>
              </a:ext>
            </a:extLst>
          </p:cNvPr>
          <p:cNvSpPr>
            <a:spLocks noGrp="1"/>
          </p:cNvSpPr>
          <p:nvPr>
            <p:ph idx="1"/>
          </p:nvPr>
        </p:nvSpPr>
        <p:spPr>
          <a:xfrm>
            <a:off x="354231" y="1491993"/>
            <a:ext cx="11135497" cy="4351338"/>
          </a:xfrm>
        </p:spPr>
        <p:txBody>
          <a:bodyPr>
            <a:normAutofit/>
          </a:bodyPr>
          <a:lstStyle/>
          <a:p>
            <a:pPr>
              <a:buNone/>
            </a:pPr>
            <a:r>
              <a:rPr lang="en-US" sz="2400" i="1"/>
              <a:t>Imagine a trading algorithm locked in a windowless room.</a:t>
            </a:r>
          </a:p>
          <a:p>
            <a:pPr>
              <a:buNone/>
            </a:pPr>
            <a:r>
              <a:rPr lang="en-US" sz="2400" i="1"/>
              <a:t>No news. No Twitter. Just a stream of numbers.</a:t>
            </a:r>
          </a:p>
          <a:p>
            <a:pPr>
              <a:buNone/>
            </a:pPr>
            <a:endParaRPr lang="en-US" sz="2000"/>
          </a:p>
          <a:p>
            <a:pPr marL="342900" indent="-342900">
              <a:buFont typeface="Arial"/>
              <a:buChar char="•"/>
            </a:pPr>
            <a:r>
              <a:rPr lang="en-US" sz="2000"/>
              <a:t>That is how </a:t>
            </a:r>
            <a:r>
              <a:rPr lang="en-US" sz="2000" b="1"/>
              <a:t>DRL agents</a:t>
            </a:r>
            <a:r>
              <a:rPr lang="en-US" sz="2000"/>
              <a:t> trade - they only see price history, not text</a:t>
            </a:r>
          </a:p>
          <a:p>
            <a:pPr marL="342900" indent="-342900">
              <a:buFont typeface="Arial"/>
              <a:buChar char="•"/>
            </a:pPr>
            <a:r>
              <a:rPr lang="en-US" sz="2000"/>
              <a:t>They can't read </a:t>
            </a:r>
            <a:r>
              <a:rPr lang="en-US" sz="2000" b="1">
                <a:solidFill>
                  <a:srgbClr val="B03020"/>
                </a:solidFill>
              </a:rPr>
              <a:t>why</a:t>
            </a:r>
            <a:r>
              <a:rPr lang="en-US" sz="2000"/>
              <a:t> Tesla dropped 12% - and they can't explain a single Buy or Sell</a:t>
            </a:r>
          </a:p>
          <a:p>
            <a:pPr marL="342900" indent="-342900">
              <a:buFont typeface="Arial"/>
              <a:buChar char="•"/>
            </a:pPr>
            <a:r>
              <a:rPr lang="en-US" sz="2000"/>
              <a:t>Real markets are driven by </a:t>
            </a:r>
            <a:r>
              <a:rPr lang="en-US" sz="2000" b="1">
                <a:solidFill>
                  <a:srgbClr val="C9A84C"/>
                </a:solidFill>
              </a:rPr>
              <a:t>language</a:t>
            </a:r>
            <a:r>
              <a:rPr lang="en-US" sz="2000"/>
              <a:t> - earnings calls, </a:t>
            </a:r>
            <a:br>
              <a:rPr lang="en-US" sz="2000"/>
            </a:br>
            <a:r>
              <a:rPr lang="en-US" sz="2000"/>
              <a:t>analyst reports, tweets, regulatory filings</a:t>
            </a:r>
          </a:p>
          <a:p>
            <a:pPr marL="342900" indent="-342900">
              <a:buFont typeface="Arial"/>
              <a:buChar char="•"/>
            </a:pPr>
            <a:r>
              <a:rPr lang="en-US" sz="2000" b="1">
                <a:solidFill>
                  <a:srgbClr val="C9A84C"/>
                </a:solidFill>
              </a:rPr>
              <a:t>The question this paper asks:</a:t>
            </a:r>
            <a:r>
              <a:rPr lang="en-US" sz="2000" i="1"/>
              <a:t> </a:t>
            </a:r>
            <a:br>
              <a:rPr lang="en-US" sz="2000" i="1"/>
            </a:br>
            <a:r>
              <a:rPr lang="en-US" sz="2000" i="1"/>
              <a:t>what if we let the algorithm read - and remember?</a:t>
            </a:r>
          </a:p>
        </p:txBody>
      </p:sp>
      <p:pic>
        <p:nvPicPr>
          <p:cNvPr id="8" name="תמונה 7">
            <a:extLst>
              <a:ext uri="{FF2B5EF4-FFF2-40B4-BE49-F238E27FC236}">
                <a16:creationId xmlns:a16="http://schemas.microsoft.com/office/drawing/2014/main" id="{937DC420-6578-8EBA-F7A3-54544144F423}"/>
              </a:ext>
            </a:extLst>
          </p:cNvPr>
          <p:cNvPicPr>
            <a:picLocks noChangeAspect="1"/>
          </p:cNvPicPr>
          <p:nvPr/>
        </p:nvPicPr>
        <p:blipFill>
          <a:blip r:embed="rId2"/>
          <a:srcRect r="5696"/>
          <a:stretch>
            <a:fillRect/>
          </a:stretch>
        </p:blipFill>
        <p:spPr>
          <a:xfrm>
            <a:off x="6562464" y="3624028"/>
            <a:ext cx="5604822" cy="3063832"/>
          </a:xfrm>
          <a:prstGeom prst="rect">
            <a:avLst/>
          </a:prstGeom>
        </p:spPr>
      </p:pic>
    </p:spTree>
    <p:extLst>
      <p:ext uri="{BB962C8B-B14F-4D97-AF65-F5344CB8AC3E}">
        <p14:creationId xmlns:p14="http://schemas.microsoft.com/office/powerpoint/2010/main" val="2100673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1 - Background</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Why Existing Algorithms Fail</a:t>
            </a:r>
          </a:p>
        </p:txBody>
      </p:sp>
      <p:sp>
        <p:nvSpPr>
          <p:cNvPr id="12" name="DRLHeader"/>
          <p:cNvSpPr/>
          <p:nvPr/>
        </p:nvSpPr>
        <p:spPr>
          <a:xfrm>
            <a:off x="609600" y="1168400"/>
            <a:ext cx="5283200" cy="734540"/>
          </a:xfrm>
          <a:prstGeom prst="rect">
            <a:avLst/>
          </a:prstGeom>
          <a:solidFill>
            <a:srgbClr val="1A2744"/>
          </a:solidFill>
          <a:ln>
            <a:noFill/>
          </a:ln>
        </p:spPr>
        <p:txBody>
          <a:bodyPr lIns="180000" anchor="ctr"/>
          <a:lstStyle/>
          <a:p>
            <a:pPr algn="l">
              <a:buNone/>
            </a:pPr>
            <a:r>
              <a:rPr lang="en-US" sz="2400" b="1">
                <a:solidFill>
                  <a:srgbClr val="FFFFFF"/>
                </a:solidFill>
              </a:rPr>
              <a:t>Deep Reinforcement Learning</a:t>
            </a:r>
          </a:p>
          <a:p>
            <a:pPr algn="l">
              <a:buNone/>
            </a:pPr>
            <a:r>
              <a:rPr lang="en-US">
                <a:solidFill>
                  <a:srgbClr val="A0B4D6"/>
                </a:solidFill>
              </a:rPr>
              <a:t>PPO · DQN · A2C</a:t>
            </a:r>
          </a:p>
        </p:txBody>
      </p:sp>
      <p:sp>
        <p:nvSpPr>
          <p:cNvPr id="13" name="DRLBody"/>
          <p:cNvSpPr/>
          <p:nvPr/>
        </p:nvSpPr>
        <p:spPr>
          <a:xfrm>
            <a:off x="609600" y="1902940"/>
            <a:ext cx="5283200" cy="3862860"/>
          </a:xfrm>
          <a:prstGeom prst="rect">
            <a:avLst/>
          </a:prstGeom>
          <a:solidFill>
            <a:srgbClr val="F0F2F7"/>
          </a:solidFill>
          <a:ln>
            <a:noFill/>
          </a:ln>
        </p:spPr>
        <p:txBody>
          <a:bodyPr lIns="240000" tIns="240000" anchor="t"/>
          <a:lstStyle/>
          <a:p>
            <a:pPr marL="228600" indent="-228600" algn="l">
              <a:lnSpc>
                <a:spcPct val="150000"/>
              </a:lnSpc>
              <a:buFont typeface="Arial"/>
              <a:buChar char="✓"/>
            </a:pPr>
            <a:r>
              <a:rPr lang="en-US" sz="2000">
                <a:solidFill>
                  <a:srgbClr val="1A7A4A"/>
                </a:solidFill>
              </a:rPr>
              <a:t>Excellent on numerical data</a:t>
            </a:r>
          </a:p>
          <a:p>
            <a:pPr marL="228600" indent="-228600" algn="l">
              <a:lnSpc>
                <a:spcPct val="150000"/>
              </a:lnSpc>
              <a:buFont typeface="Arial"/>
              <a:buChar char="✓"/>
            </a:pPr>
            <a:r>
              <a:rPr lang="en-US" sz="2000">
                <a:solidFill>
                  <a:srgbClr val="1A7A4A"/>
                </a:solidFill>
              </a:rPr>
              <a:t>Learns from market rewards</a:t>
            </a:r>
          </a:p>
          <a:p>
            <a:pPr algn="l">
              <a:lnSpc>
                <a:spcPct val="150000"/>
              </a:lnSpc>
              <a:buNone/>
            </a:pPr>
            <a:r>
              <a:rPr lang="en-US" sz="1100">
                <a:solidFill>
                  <a:srgbClr val="8090A8"/>
                </a:solidFill>
              </a:rPr>
              <a:t> </a:t>
            </a:r>
          </a:p>
          <a:p>
            <a:pPr marL="228600" indent="-228600" algn="l">
              <a:lnSpc>
                <a:spcPct val="150000"/>
              </a:lnSpc>
              <a:buFont typeface="Arial"/>
              <a:buChar char="✗"/>
            </a:pPr>
            <a:r>
              <a:rPr lang="en-US" sz="2000">
                <a:solidFill>
                  <a:srgbClr val="B03020"/>
                </a:solidFill>
              </a:rPr>
              <a:t>Chokes on rich text - convergence fails</a:t>
            </a:r>
          </a:p>
          <a:p>
            <a:pPr marL="228600" indent="-228600" algn="l">
              <a:lnSpc>
                <a:spcPct val="150000"/>
              </a:lnSpc>
              <a:buFont typeface="Arial"/>
              <a:buChar char="✗"/>
            </a:pPr>
            <a:r>
              <a:rPr lang="en-US" sz="2000">
                <a:solidFill>
                  <a:srgbClr val="B03020"/>
                </a:solidFill>
              </a:rPr>
              <a:t>Black box - can't explain a Buy signal</a:t>
            </a:r>
          </a:p>
          <a:p>
            <a:pPr marL="228600" indent="-228600" algn="l">
              <a:lnSpc>
                <a:spcPct val="150000"/>
              </a:lnSpc>
              <a:buFont typeface="Arial"/>
              <a:buChar char="✗"/>
            </a:pPr>
            <a:r>
              <a:rPr lang="en-US" sz="2000">
                <a:solidFill>
                  <a:srgbClr val="B03020"/>
                </a:solidFill>
              </a:rPr>
              <a:t>Needs years of history to converge</a:t>
            </a:r>
          </a:p>
        </p:txBody>
      </p:sp>
      <p:sp>
        <p:nvSpPr>
          <p:cNvPr id="14" name="LLMHeader"/>
          <p:cNvSpPr/>
          <p:nvPr/>
        </p:nvSpPr>
        <p:spPr>
          <a:xfrm>
            <a:off x="6299200" y="1168399"/>
            <a:ext cx="5283200" cy="734541"/>
          </a:xfrm>
          <a:prstGeom prst="rect">
            <a:avLst/>
          </a:prstGeom>
          <a:solidFill>
            <a:srgbClr val="2E4272"/>
          </a:solidFill>
          <a:ln>
            <a:noFill/>
          </a:ln>
        </p:spPr>
        <p:txBody>
          <a:bodyPr lIns="180000" anchor="ctr"/>
          <a:lstStyle/>
          <a:p>
            <a:pPr algn="l">
              <a:buNone/>
            </a:pPr>
            <a:r>
              <a:rPr lang="en-US" sz="2400" b="1">
                <a:solidFill>
                  <a:srgbClr val="FFFFFF"/>
                </a:solidFill>
              </a:rPr>
              <a:t>Plain LLMs (e.g. GPT-4)</a:t>
            </a:r>
          </a:p>
          <a:p>
            <a:pPr algn="l">
              <a:buNone/>
            </a:pPr>
            <a:r>
              <a:rPr lang="en-US">
                <a:solidFill>
                  <a:srgbClr val="A0B4D6"/>
                </a:solidFill>
              </a:rPr>
              <a:t>frozen weights</a:t>
            </a:r>
          </a:p>
        </p:txBody>
      </p:sp>
      <p:sp>
        <p:nvSpPr>
          <p:cNvPr id="15" name="LLMBody"/>
          <p:cNvSpPr/>
          <p:nvPr/>
        </p:nvSpPr>
        <p:spPr>
          <a:xfrm>
            <a:off x="6299200" y="1902940"/>
            <a:ext cx="5283200" cy="3862860"/>
          </a:xfrm>
          <a:prstGeom prst="rect">
            <a:avLst/>
          </a:prstGeom>
          <a:solidFill>
            <a:srgbClr val="F0F2F7"/>
          </a:solidFill>
          <a:ln>
            <a:noFill/>
          </a:ln>
        </p:spPr>
        <p:txBody>
          <a:bodyPr lIns="240000" tIns="240000" anchor="t"/>
          <a:lstStyle/>
          <a:p>
            <a:pPr marL="228600" indent="-228600" algn="l">
              <a:lnSpc>
                <a:spcPct val="150000"/>
              </a:lnSpc>
              <a:buFont typeface="Arial"/>
              <a:buChar char="✓"/>
            </a:pPr>
            <a:r>
              <a:rPr lang="en-US" sz="2000">
                <a:solidFill>
                  <a:srgbClr val="1A7A4A"/>
                </a:solidFill>
              </a:rPr>
              <a:t>Great text comprehension</a:t>
            </a:r>
          </a:p>
          <a:p>
            <a:pPr marL="228600" indent="-228600" algn="l">
              <a:lnSpc>
                <a:spcPct val="150000"/>
              </a:lnSpc>
              <a:buFont typeface="Arial"/>
              <a:buChar char="✓"/>
            </a:pPr>
            <a:r>
              <a:rPr lang="en-US" sz="2000">
                <a:solidFill>
                  <a:srgbClr val="1A7A4A"/>
                </a:solidFill>
              </a:rPr>
              <a:t>Transparent reasoning chains</a:t>
            </a:r>
          </a:p>
          <a:p>
            <a:pPr algn="l">
              <a:lnSpc>
                <a:spcPct val="150000"/>
              </a:lnSpc>
              <a:buNone/>
            </a:pPr>
            <a:r>
              <a:rPr lang="en-US" sz="1100">
                <a:solidFill>
                  <a:srgbClr val="8090A8"/>
                </a:solidFill>
              </a:rPr>
              <a:t> </a:t>
            </a:r>
          </a:p>
          <a:p>
            <a:pPr marL="228600" indent="-228600" algn="l">
              <a:lnSpc>
                <a:spcPct val="150000"/>
              </a:lnSpc>
              <a:buFont typeface="Arial"/>
              <a:buChar char="✗"/>
            </a:pPr>
            <a:r>
              <a:rPr lang="en-US" sz="2000">
                <a:solidFill>
                  <a:srgbClr val="B03020"/>
                </a:solidFill>
              </a:rPr>
              <a:t>Context-window limited - can't feed 5 years</a:t>
            </a:r>
          </a:p>
          <a:p>
            <a:pPr marL="228600" indent="-228600" algn="l">
              <a:lnSpc>
                <a:spcPct val="150000"/>
              </a:lnSpc>
              <a:buFont typeface="Arial"/>
              <a:buChar char="✗"/>
            </a:pPr>
            <a:r>
              <a:rPr lang="en-US" sz="2000">
                <a:solidFill>
                  <a:srgbClr val="B03020"/>
                </a:solidFill>
              </a:rPr>
              <a:t>No sense of time decay</a:t>
            </a:r>
          </a:p>
          <a:p>
            <a:pPr marL="228600" indent="-228600" algn="l">
              <a:lnSpc>
                <a:spcPct val="150000"/>
              </a:lnSpc>
              <a:buFont typeface="Arial"/>
              <a:buChar char="✗"/>
            </a:pPr>
            <a:r>
              <a:rPr lang="en-US" sz="2000">
                <a:solidFill>
                  <a:srgbClr val="B03020"/>
                </a:solidFill>
              </a:rPr>
              <a:t>Old 10-K looks as fresh as today's news</a:t>
            </a:r>
          </a:p>
        </p:txBody>
      </p:sp>
      <p:sp>
        <p:nvSpPr>
          <p:cNvPr id="20" name="GapBanner"/>
          <p:cNvSpPr/>
          <p:nvPr/>
        </p:nvSpPr>
        <p:spPr>
          <a:xfrm>
            <a:off x="609600" y="5892800"/>
            <a:ext cx="10972800" cy="762000"/>
          </a:xfrm>
          <a:prstGeom prst="rect">
            <a:avLst/>
          </a:prstGeom>
          <a:solidFill>
            <a:srgbClr val="1A2744"/>
          </a:solidFill>
          <a:ln>
            <a:noFill/>
          </a:ln>
        </p:spPr>
        <p:txBody>
          <a:bodyPr lIns="240000" anchor="ctr"/>
          <a:lstStyle/>
          <a:p>
            <a:pPr algn="ctr">
              <a:buNone/>
            </a:pPr>
            <a:r>
              <a:rPr lang="en-US" sz="2400" b="1">
                <a:solidFill>
                  <a:srgbClr val="C9A84C"/>
                </a:solidFill>
              </a:rPr>
              <a:t>→ FinMem fills this gap</a:t>
            </a:r>
            <a:r>
              <a:rPr lang="en-US" sz="2000">
                <a:solidFill>
                  <a:srgbClr val="A0B4D6"/>
                </a:solidFill>
              </a:rPr>
              <a:t>   text comprehension + explainability + time decay</a:t>
            </a:r>
          </a:p>
        </p:txBody>
      </p:sp>
    </p:spTree>
    <p:extLst>
      <p:ext uri="{BB962C8B-B14F-4D97-AF65-F5344CB8AC3E}">
        <p14:creationId xmlns:p14="http://schemas.microsoft.com/office/powerpoint/2010/main" val="616960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F83167-BF18-0C33-E79C-D6A949FD8494}"/>
              </a:ext>
            </a:extLst>
          </p:cNvPr>
          <p:cNvSpPr>
            <a:spLocks noGrp="1"/>
          </p:cNvSpPr>
          <p:nvPr>
            <p:ph idx="1"/>
          </p:nvPr>
        </p:nvSpPr>
        <p:spPr>
          <a:xfrm>
            <a:off x="609600" y="1295400"/>
            <a:ext cx="10744200" cy="4413422"/>
          </a:xfrm>
        </p:spPr>
        <p:txBody>
          <a:bodyPr>
            <a:normAutofit fontScale="92500" lnSpcReduction="20000"/>
          </a:bodyPr>
          <a:lstStyle/>
          <a:p>
            <a:pPr>
              <a:buNone/>
            </a:pPr>
            <a:r>
              <a:rPr lang="en-US" sz="2000" b="1">
                <a:solidFill>
                  <a:srgbClr val="C9A84C"/>
                </a:solidFill>
              </a:rPr>
              <a:t>What is </a:t>
            </a:r>
            <a:r>
              <a:rPr lang="en-US" sz="2000" b="1" err="1">
                <a:solidFill>
                  <a:srgbClr val="C9A84C"/>
                </a:solidFill>
              </a:rPr>
              <a:t>FinGPT</a:t>
            </a:r>
            <a:r>
              <a:rPr lang="en-US" sz="2000" b="1">
                <a:solidFill>
                  <a:srgbClr val="C9A84C"/>
                </a:solidFill>
              </a:rPr>
              <a:t>?</a:t>
            </a:r>
            <a:br>
              <a:rPr lang="en-US" sz="2000" b="1">
                <a:solidFill>
                  <a:srgbClr val="C9A84C"/>
                </a:solidFill>
              </a:rPr>
            </a:br>
            <a:endParaRPr lang="en-US" sz="2000"/>
          </a:p>
          <a:p>
            <a:pPr marL="285750" indent="-285750">
              <a:buFont typeface="Arial"/>
              <a:buChar char="•"/>
            </a:pPr>
            <a:r>
              <a:rPr lang="en-US" sz="2000"/>
              <a:t>An open-source framework (Yang et al., 2023) that </a:t>
            </a:r>
            <a:r>
              <a:rPr lang="en-US" sz="2000" b="1"/>
              <a:t>fine-tunes Llama-2</a:t>
            </a:r>
            <a:r>
              <a:rPr lang="en-US" sz="2000"/>
              <a:t> on labelled financial sentiment data </a:t>
            </a:r>
          </a:p>
          <a:p>
            <a:pPr marL="285750" indent="-285750">
              <a:buFont typeface="Arial"/>
              <a:buChar char="•"/>
            </a:pPr>
            <a:r>
              <a:rPr lang="en-US" sz="2000"/>
              <a:t>Approach: </a:t>
            </a:r>
            <a:r>
              <a:rPr lang="en-US" sz="2000" b="1"/>
              <a:t>bake financial knowledge into the model weights</a:t>
            </a:r>
            <a:r>
              <a:rPr lang="en-US" sz="2000"/>
              <a:t> - the model "knows" finance at training time</a:t>
            </a:r>
          </a:p>
          <a:p>
            <a:pPr marL="285750" indent="-285750">
              <a:buFont typeface="Arial"/>
              <a:buChar char="•"/>
            </a:pPr>
            <a:r>
              <a:rPr lang="en-US" sz="2000" err="1"/>
              <a:t>FinGPT</a:t>
            </a:r>
            <a:r>
              <a:rPr lang="en-US" sz="2000"/>
              <a:t> collects diverse real-time financial data, such as news, social media, and corporate filings.</a:t>
            </a:r>
            <a:br>
              <a:rPr lang="en-US" sz="2000"/>
            </a:br>
            <a:endParaRPr lang="en-US" sz="2000"/>
          </a:p>
          <a:p>
            <a:pPr marL="285750" indent="-285750">
              <a:buFont typeface="Arial"/>
              <a:buChar char="•"/>
            </a:pPr>
            <a:r>
              <a:rPr lang="en-US" sz="2000"/>
              <a:t>While </a:t>
            </a:r>
            <a:r>
              <a:rPr lang="en-US" sz="2000" err="1"/>
              <a:t>FinGPT</a:t>
            </a:r>
            <a:r>
              <a:rPr lang="en-US" sz="2000"/>
              <a:t> achieves an impressive 82.1% accuracy in sentiment classification tasks , it performs poorly as an autonomous trading agent, often yielding negative returns and significantly underperforming </a:t>
            </a:r>
            <a:r>
              <a:rPr lang="en-US" sz="2000" err="1"/>
              <a:t>FinMem</a:t>
            </a:r>
            <a:r>
              <a:rPr lang="en-US" sz="2000"/>
              <a:t>.</a:t>
            </a:r>
          </a:p>
          <a:p>
            <a:pPr marL="285750" indent="-285750">
              <a:buFont typeface="Arial"/>
              <a:buChar char="•"/>
            </a:pPr>
            <a:endParaRPr lang="en-US" sz="2000"/>
          </a:p>
          <a:p>
            <a:pPr marL="285750" indent="-285750">
              <a:buFont typeface="Arial"/>
              <a:buChar char="•"/>
            </a:pPr>
            <a:r>
              <a:rPr lang="en-US" sz="2000" b="1">
                <a:solidFill>
                  <a:srgbClr val="1A7A4A"/>
                </a:solidFill>
              </a:rPr>
              <a:t>Strengths: </a:t>
            </a:r>
            <a:r>
              <a:rPr lang="en-US" sz="2000"/>
              <a:t>open-source, low cost, domain-adapted language understanding, no need for GPT-4</a:t>
            </a:r>
          </a:p>
          <a:p>
            <a:pPr marL="285750" indent="-285750">
              <a:buFont typeface="Arial"/>
              <a:buChar char="•"/>
            </a:pPr>
            <a:r>
              <a:rPr lang="en-US" sz="2000" b="1">
                <a:solidFill>
                  <a:srgbClr val="B03020"/>
                </a:solidFill>
              </a:rPr>
              <a:t>Weaknesses: </a:t>
            </a:r>
            <a:r>
              <a:rPr lang="en-US" sz="2000"/>
              <a:t>frozen knowledge after training - new market events require re-training; smaller model collapses to "Hold" under volatility</a:t>
            </a:r>
          </a:p>
          <a:p>
            <a:pPr>
              <a:buNone/>
            </a:pPr>
            <a:r>
              <a:rPr lang="en-US" sz="1800"/>
              <a:t> </a:t>
            </a:r>
          </a:p>
        </p:txBody>
      </p:sp>
      <p:sp>
        <p:nvSpPr>
          <p:cNvPr id="5" name="Label">
            <a:extLst>
              <a:ext uri="{FF2B5EF4-FFF2-40B4-BE49-F238E27FC236}">
                <a16:creationId xmlns:a16="http://schemas.microsoft.com/office/drawing/2014/main" id="{D66DD075-E27E-B5FA-104B-FAB92DEAD9D0}"/>
              </a:ext>
            </a:extLst>
          </p:cNvPr>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1 - Background</a:t>
            </a:r>
          </a:p>
        </p:txBody>
      </p:sp>
      <p:sp>
        <p:nvSpPr>
          <p:cNvPr id="6" name="Title">
            <a:extLst>
              <a:ext uri="{FF2B5EF4-FFF2-40B4-BE49-F238E27FC236}">
                <a16:creationId xmlns:a16="http://schemas.microsoft.com/office/drawing/2014/main" id="{BAFB6C81-B4F4-4C03-E4DD-1DCC7426D1ED}"/>
              </a:ext>
            </a:extLst>
          </p:cNvPr>
          <p:cNvSpPr/>
          <p:nvPr/>
        </p:nvSpPr>
        <p:spPr>
          <a:xfrm>
            <a:off x="609600" y="381000"/>
            <a:ext cx="10972800" cy="635000"/>
          </a:xfrm>
          <a:prstGeom prst="rect">
            <a:avLst/>
          </a:prstGeom>
          <a:noFill/>
          <a:ln>
            <a:noFill/>
          </a:ln>
        </p:spPr>
        <p:txBody>
          <a:bodyPr lIns="0" anchor="ctr"/>
          <a:lstStyle/>
          <a:p>
            <a:pPr algn="l">
              <a:buNone/>
            </a:pPr>
            <a:r>
              <a:rPr lang="en-US" sz="4000" b="1" err="1">
                <a:solidFill>
                  <a:srgbClr val="1A2744"/>
                </a:solidFill>
              </a:rPr>
              <a:t>FinGPT</a:t>
            </a:r>
            <a:r>
              <a:rPr lang="en-US" sz="4000" b="1">
                <a:solidFill>
                  <a:srgbClr val="1A2744"/>
                </a:solidFill>
              </a:rPr>
              <a:t> - Fine-Tuned LLM</a:t>
            </a:r>
          </a:p>
        </p:txBody>
      </p:sp>
    </p:spTree>
    <p:extLst>
      <p:ext uri="{BB962C8B-B14F-4D97-AF65-F5344CB8AC3E}">
        <p14:creationId xmlns:p14="http://schemas.microsoft.com/office/powerpoint/2010/main" val="1536579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8BB09-3F06-48CF-2FC8-B9394A15EB43}"/>
            </a:ext>
          </a:extLst>
        </p:cNvPr>
        <p:cNvGrpSpPr/>
        <p:nvPr/>
      </p:nvGrpSpPr>
      <p:grpSpPr>
        <a:xfrm>
          <a:off x="0" y="0"/>
          <a:ext cx="0" cy="0"/>
          <a:chOff x="0" y="0"/>
          <a:chExt cx="0" cy="0"/>
        </a:xfrm>
      </p:grpSpPr>
      <p:sp>
        <p:nvSpPr>
          <p:cNvPr id="15" name="Title">
            <a:extLst>
              <a:ext uri="{FF2B5EF4-FFF2-40B4-BE49-F238E27FC236}">
                <a16:creationId xmlns:a16="http://schemas.microsoft.com/office/drawing/2014/main" id="{44822119-4FDF-A167-71C1-38547B5900C3}"/>
              </a:ext>
            </a:extLst>
          </p:cNvPr>
          <p:cNvSpPr/>
          <p:nvPr/>
        </p:nvSpPr>
        <p:spPr>
          <a:xfrm>
            <a:off x="609600" y="532770"/>
            <a:ext cx="10972800" cy="635000"/>
          </a:xfrm>
          <a:prstGeom prst="rect">
            <a:avLst/>
          </a:prstGeom>
          <a:noFill/>
          <a:ln>
            <a:noFill/>
          </a:ln>
        </p:spPr>
        <p:txBody>
          <a:bodyPr lIns="0" anchor="ctr"/>
          <a:lstStyle/>
          <a:p>
            <a:pPr algn="l">
              <a:buNone/>
            </a:pPr>
            <a:r>
              <a:rPr lang="en-US" sz="4000" b="1">
                <a:solidFill>
                  <a:srgbClr val="1A2744"/>
                </a:solidFill>
              </a:rPr>
              <a:t>Generative Agents - The Smallville Paper</a:t>
            </a:r>
          </a:p>
        </p:txBody>
      </p:sp>
      <p:sp>
        <p:nvSpPr>
          <p:cNvPr id="18" name="Label">
            <a:extLst>
              <a:ext uri="{FF2B5EF4-FFF2-40B4-BE49-F238E27FC236}">
                <a16:creationId xmlns:a16="http://schemas.microsoft.com/office/drawing/2014/main" id="{A8740A47-8BD5-8902-0BBB-1BA6ACB59EB7}"/>
              </a:ext>
            </a:extLst>
          </p:cNvPr>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1 - Background</a:t>
            </a:r>
          </a:p>
        </p:txBody>
      </p:sp>
      <p:sp>
        <p:nvSpPr>
          <p:cNvPr id="2" name="Title">
            <a:extLst>
              <a:ext uri="{FF2B5EF4-FFF2-40B4-BE49-F238E27FC236}">
                <a16:creationId xmlns:a16="http://schemas.microsoft.com/office/drawing/2014/main" id="{8F712CFD-9E6F-70DF-0A21-1A724E6518EC}"/>
              </a:ext>
            </a:extLst>
          </p:cNvPr>
          <p:cNvSpPr/>
          <p:nvPr/>
        </p:nvSpPr>
        <p:spPr>
          <a:xfrm>
            <a:off x="609600" y="2131491"/>
            <a:ext cx="10972800" cy="2595017"/>
          </a:xfrm>
          <a:prstGeom prst="rect">
            <a:avLst/>
          </a:prstGeom>
          <a:noFill/>
          <a:ln>
            <a:noFill/>
          </a:ln>
        </p:spPr>
        <p:txBody>
          <a:bodyPr lIns="0" anchor="ctr"/>
          <a:lstStyle/>
          <a:p>
            <a:pPr marL="285750" indent="-285750" algn="l">
              <a:lnSpc>
                <a:spcPct val="150000"/>
              </a:lnSpc>
              <a:buFont typeface="Arial"/>
              <a:buChar char="•"/>
            </a:pPr>
            <a:r>
              <a:rPr lang="en-US" sz="2000" b="1">
                <a:solidFill>
                  <a:srgbClr val="C9A84C"/>
                </a:solidFill>
              </a:rPr>
              <a:t>The premise: </a:t>
            </a:r>
            <a:r>
              <a:rPr lang="en-US" sz="2000"/>
              <a:t>Park et al. (2023) built a virtual town - "Smallville"  and populated it with </a:t>
            </a:r>
            <a:r>
              <a:rPr lang="en-US" sz="2000" b="1"/>
              <a:t>25 LLM-powered agents</a:t>
            </a:r>
            <a:r>
              <a:rPr lang="en-US" sz="2000"/>
              <a:t> living, working, and socializing together</a:t>
            </a:r>
          </a:p>
          <a:p>
            <a:pPr marL="285750" indent="-285750" algn="l">
              <a:lnSpc>
                <a:spcPct val="150000"/>
              </a:lnSpc>
              <a:buFont typeface="Arial"/>
              <a:buChar char="•"/>
            </a:pPr>
            <a:r>
              <a:rPr lang="en-US" sz="2000" b="1">
                <a:solidFill>
                  <a:srgbClr val="C9A84C"/>
                </a:solidFill>
              </a:rPr>
              <a:t>The discovery: </a:t>
            </a:r>
            <a:r>
              <a:rPr lang="en-US" sz="2000"/>
              <a:t>agents only behaved believably when given </a:t>
            </a:r>
            <a:r>
              <a:rPr lang="en-US" sz="2000" b="1"/>
              <a:t>persistent memory + reflection</a:t>
            </a:r>
            <a:r>
              <a:rPr lang="en-US" sz="2000"/>
              <a:t> - without it they forgot context and acted randomly</a:t>
            </a:r>
          </a:p>
          <a:p>
            <a:pPr marL="285750" indent="-285750" algn="l">
              <a:lnSpc>
                <a:spcPct val="150000"/>
              </a:lnSpc>
              <a:buFont typeface="Arial"/>
              <a:buChar char="•"/>
            </a:pPr>
            <a:r>
              <a:rPr lang="en-US" sz="2000" b="1">
                <a:solidFill>
                  <a:srgbClr val="C9A84C"/>
                </a:solidFill>
              </a:rPr>
              <a:t>The characters: </a:t>
            </a:r>
            <a:r>
              <a:rPr lang="en-US" sz="2000"/>
              <a:t>each agent has a </a:t>
            </a:r>
            <a:r>
              <a:rPr lang="en-US" sz="2000" b="1"/>
              <a:t>fixed persona</a:t>
            </a:r>
            <a:r>
              <a:rPr lang="en-US" sz="2000"/>
              <a:t> (name, occupation, relationships) injected via prompt - what differs between them is their memory stream content, not the model</a:t>
            </a:r>
          </a:p>
          <a:p>
            <a:pPr marL="285750" indent="-285750" algn="l">
              <a:lnSpc>
                <a:spcPct val="150000"/>
              </a:lnSpc>
              <a:buFont typeface="Arial"/>
              <a:buChar char="•"/>
            </a:pPr>
            <a:r>
              <a:rPr lang="en-US" sz="2000" b="1">
                <a:solidFill>
                  <a:srgbClr val="C9A84C"/>
                </a:solidFill>
              </a:rPr>
              <a:t>The memory mechanism: </a:t>
            </a:r>
            <a:r>
              <a:rPr lang="en-US" sz="2000"/>
              <a:t>a flat stream scored by </a:t>
            </a:r>
            <a:r>
              <a:rPr lang="en-US" sz="2000" b="1"/>
              <a:t>Recency + Importance + Relevance</a:t>
            </a:r>
            <a:r>
              <a:rPr lang="en-US" sz="2000"/>
              <a:t> - one shared decay rate for every memory type</a:t>
            </a:r>
          </a:p>
        </p:txBody>
      </p:sp>
    </p:spTree>
    <p:extLst>
      <p:ext uri="{BB962C8B-B14F-4D97-AF65-F5344CB8AC3E}">
        <p14:creationId xmlns:p14="http://schemas.microsoft.com/office/powerpoint/2010/main" val="10755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0DCFAE10-A852-101D-1141-A2CA5C77480C}"/>
              </a:ext>
            </a:extLst>
          </p:cNvPr>
          <p:cNvPicPr>
            <a:picLocks noChangeAspect="1"/>
          </p:cNvPicPr>
          <p:nvPr/>
        </p:nvPicPr>
        <p:blipFill>
          <a:blip r:embed="rId3">
            <a:extLst>
              <a:ext uri="{28A0092B-C50C-407E-A947-70E740481C1C}">
                <a14:useLocalDpi xmlns:a14="http://schemas.microsoft.com/office/drawing/2010/main" val="0"/>
              </a:ext>
            </a:extLst>
          </a:blip>
          <a:srcRect t="2220" b="-2220"/>
          <a:stretch>
            <a:fillRect/>
          </a:stretch>
        </p:blipFill>
        <p:spPr>
          <a:xfrm>
            <a:off x="184108" y="812800"/>
            <a:ext cx="11635642" cy="6160466"/>
          </a:xfrm>
          <a:prstGeom prst="rect">
            <a:avLst/>
          </a:prstGeom>
        </p:spPr>
      </p:pic>
      <p:sp>
        <p:nvSpPr>
          <p:cNvPr id="15" name="Title">
            <a:extLst>
              <a:ext uri="{FF2B5EF4-FFF2-40B4-BE49-F238E27FC236}">
                <a16:creationId xmlns:a16="http://schemas.microsoft.com/office/drawing/2014/main" id="{CD258D61-BAE3-09F0-CAEF-25703E1B06E0}"/>
              </a:ext>
            </a:extLst>
          </p:cNvPr>
          <p:cNvSpPr/>
          <p:nvPr/>
        </p:nvSpPr>
        <p:spPr>
          <a:xfrm>
            <a:off x="271849" y="223851"/>
            <a:ext cx="12282615" cy="635000"/>
          </a:xfrm>
          <a:prstGeom prst="rect">
            <a:avLst/>
          </a:prstGeom>
          <a:noFill/>
          <a:ln>
            <a:noFill/>
          </a:ln>
        </p:spPr>
        <p:txBody>
          <a:bodyPr lIns="0" anchor="ctr"/>
          <a:lstStyle/>
          <a:p>
            <a:pPr algn="l">
              <a:buNone/>
            </a:pPr>
            <a:r>
              <a:rPr lang="en-US" sz="3600" b="1">
                <a:solidFill>
                  <a:srgbClr val="1A2744"/>
                </a:solidFill>
              </a:rPr>
              <a:t>Generative Agents: Interactive Simulacra of Human Behavior</a:t>
            </a:r>
          </a:p>
        </p:txBody>
      </p:sp>
      <p:sp>
        <p:nvSpPr>
          <p:cNvPr id="17" name="תיבת טקסט 16">
            <a:extLst>
              <a:ext uri="{FF2B5EF4-FFF2-40B4-BE49-F238E27FC236}">
                <a16:creationId xmlns:a16="http://schemas.microsoft.com/office/drawing/2014/main" id="{9B8C0D60-B8A2-F258-367E-6EBB8EAC2211}"/>
              </a:ext>
            </a:extLst>
          </p:cNvPr>
          <p:cNvSpPr txBox="1"/>
          <p:nvPr/>
        </p:nvSpPr>
        <p:spPr>
          <a:xfrm>
            <a:off x="9054353" y="674185"/>
            <a:ext cx="6096000" cy="461665"/>
          </a:xfrm>
          <a:prstGeom prst="rect">
            <a:avLst/>
          </a:prstGeom>
          <a:noFill/>
        </p:spPr>
        <p:txBody>
          <a:bodyPr wrap="square">
            <a:spAutoFit/>
          </a:bodyPr>
          <a:lstStyle/>
          <a:p>
            <a:pPr algn="l"/>
            <a:r>
              <a:rPr lang="en-US" sz="2400">
                <a:solidFill>
                  <a:srgbClr val="6070A0"/>
                </a:solidFill>
              </a:rPr>
              <a:t>(Park et al. 2023)</a:t>
            </a:r>
          </a:p>
        </p:txBody>
      </p:sp>
      <p:sp>
        <p:nvSpPr>
          <p:cNvPr id="18" name="Label">
            <a:extLst>
              <a:ext uri="{FF2B5EF4-FFF2-40B4-BE49-F238E27FC236}">
                <a16:creationId xmlns:a16="http://schemas.microsoft.com/office/drawing/2014/main" id="{AAE2946E-1400-1325-D5BE-C4569B3991D3}"/>
              </a:ext>
            </a:extLst>
          </p:cNvPr>
          <p:cNvSpPr/>
          <p:nvPr/>
        </p:nvSpPr>
        <p:spPr>
          <a:xfrm>
            <a:off x="424249" y="29918"/>
            <a:ext cx="10972800" cy="279400"/>
          </a:xfrm>
          <a:prstGeom prst="rect">
            <a:avLst/>
          </a:prstGeom>
          <a:noFill/>
          <a:ln>
            <a:noFill/>
          </a:ln>
        </p:spPr>
        <p:txBody>
          <a:bodyPr lIns="0" anchor="ctr"/>
          <a:lstStyle/>
          <a:p>
            <a:pPr algn="l">
              <a:buNone/>
            </a:pPr>
            <a:r>
              <a:rPr lang="en-US" sz="1600">
                <a:solidFill>
                  <a:srgbClr val="C9A84C"/>
                </a:solidFill>
              </a:rPr>
              <a:t>PART 1 - Background</a:t>
            </a:r>
          </a:p>
        </p:txBody>
      </p:sp>
    </p:spTree>
    <p:extLst>
      <p:ext uri="{BB962C8B-B14F-4D97-AF65-F5344CB8AC3E}">
        <p14:creationId xmlns:p14="http://schemas.microsoft.com/office/powerpoint/2010/main" val="3422586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1 - Motivation</a:t>
            </a:r>
          </a:p>
        </p:txBody>
      </p:sp>
      <p:sp>
        <p:nvSpPr>
          <p:cNvPr id="11" name="Title"/>
          <p:cNvSpPr/>
          <p:nvPr/>
        </p:nvSpPr>
        <p:spPr>
          <a:xfrm>
            <a:off x="609600" y="381000"/>
            <a:ext cx="10972800" cy="660400"/>
          </a:xfrm>
          <a:prstGeom prst="rect">
            <a:avLst/>
          </a:prstGeom>
          <a:noFill/>
          <a:ln>
            <a:noFill/>
          </a:ln>
        </p:spPr>
        <p:txBody>
          <a:bodyPr lIns="0" anchor="ctr"/>
          <a:lstStyle/>
          <a:p>
            <a:pPr algn="l">
              <a:buNone/>
            </a:pPr>
            <a:r>
              <a:rPr lang="en-US" sz="4000" b="1">
                <a:solidFill>
                  <a:srgbClr val="1A2744"/>
                </a:solidFill>
              </a:rPr>
              <a:t>The Human Bottleneck</a:t>
            </a:r>
          </a:p>
        </p:txBody>
      </p:sp>
      <p:sp>
        <p:nvSpPr>
          <p:cNvPr id="20" name="MillerBox"/>
          <p:cNvSpPr/>
          <p:nvPr/>
        </p:nvSpPr>
        <p:spPr>
          <a:xfrm>
            <a:off x="609600" y="1270000"/>
            <a:ext cx="5334000" cy="4826000"/>
          </a:xfrm>
          <a:prstGeom prst="rect">
            <a:avLst/>
          </a:prstGeom>
          <a:solidFill>
            <a:srgbClr val="1A2744"/>
          </a:solidFill>
          <a:ln>
            <a:noFill/>
          </a:ln>
        </p:spPr>
        <p:txBody>
          <a:bodyPr lIns="240000" tIns="240000" rIns="240000" anchor="t"/>
          <a:lstStyle/>
          <a:p>
            <a:pPr algn="ctr">
              <a:buNone/>
            </a:pPr>
            <a:r>
              <a:rPr lang="en-US">
                <a:solidFill>
                  <a:srgbClr val="C9A84C"/>
                </a:solidFill>
              </a:rPr>
              <a:t>Miller's Law</a:t>
            </a:r>
          </a:p>
          <a:p>
            <a:pPr algn="ctr">
              <a:buNone/>
            </a:pPr>
            <a:r>
              <a:rPr lang="en-US" sz="1600">
                <a:solidFill>
                  <a:srgbClr val="8090A8"/>
                </a:solidFill>
              </a:rPr>
              <a:t>Cognitive Psychology</a:t>
            </a:r>
          </a:p>
          <a:p>
            <a:pPr algn="ctr">
              <a:buNone/>
            </a:pPr>
            <a:r>
              <a:rPr lang="en-US" sz="1600">
                <a:solidFill>
                  <a:srgbClr val="8090A8"/>
                </a:solidFill>
              </a:rPr>
              <a:t> </a:t>
            </a:r>
          </a:p>
          <a:p>
            <a:pPr algn="ctr">
              <a:buNone/>
            </a:pPr>
            <a:r>
              <a:rPr lang="en-US" sz="9600" b="1">
                <a:solidFill>
                  <a:srgbClr val="FFFFFF"/>
                </a:solidFill>
              </a:rPr>
              <a:t>7±2</a:t>
            </a:r>
          </a:p>
          <a:p>
            <a:pPr algn="ctr">
              <a:buNone/>
            </a:pPr>
            <a:r>
              <a:rPr lang="en-US" sz="2000">
                <a:solidFill>
                  <a:srgbClr val="A0B4D6"/>
                </a:solidFill>
              </a:rPr>
              <a:t>items in working memory</a:t>
            </a:r>
          </a:p>
          <a:p>
            <a:pPr algn="ctr">
              <a:buNone/>
            </a:pPr>
            <a:r>
              <a:rPr lang="en-US" sz="1600">
                <a:solidFill>
                  <a:srgbClr val="8090A8"/>
                </a:solidFill>
              </a:rPr>
              <a:t> </a:t>
            </a:r>
          </a:p>
        </p:txBody>
      </p:sp>
      <p:sp>
        <p:nvSpPr>
          <p:cNvPr id="21" name="AnalystPanel"/>
          <p:cNvSpPr/>
          <p:nvPr/>
        </p:nvSpPr>
        <p:spPr>
          <a:xfrm>
            <a:off x="6197600" y="1270000"/>
            <a:ext cx="5384800" cy="4826000"/>
          </a:xfrm>
          <a:prstGeom prst="rect">
            <a:avLst/>
          </a:prstGeom>
          <a:solidFill>
            <a:srgbClr val="F0F2F7"/>
          </a:solidFill>
          <a:ln>
            <a:noFill/>
          </a:ln>
        </p:spPr>
        <p:txBody>
          <a:bodyPr lIns="240000" tIns="240000" rIns="240000" anchor="t"/>
          <a:lstStyle/>
          <a:p>
            <a:pPr algn="l">
              <a:lnSpc>
                <a:spcPct val="150000"/>
              </a:lnSpc>
              <a:buNone/>
            </a:pPr>
            <a:r>
              <a:rPr lang="en-US" sz="2000" b="1">
                <a:solidFill>
                  <a:srgbClr val="1A2744"/>
                </a:solidFill>
              </a:rPr>
              <a:t>An Analyst's Daily Feed</a:t>
            </a:r>
            <a:endParaRPr lang="en-US" sz="1600">
              <a:solidFill>
                <a:srgbClr val="8090A8"/>
              </a:solidFill>
            </a:endParaRPr>
          </a:p>
          <a:p>
            <a:pPr marL="228600" indent="-228600" algn="l">
              <a:lnSpc>
                <a:spcPct val="150000"/>
              </a:lnSpc>
              <a:buFont typeface="Arial"/>
              <a:buChar char="📰"/>
            </a:pPr>
            <a:r>
              <a:rPr lang="en-US" sz="2000">
                <a:solidFill>
                  <a:srgbClr val="2C3E50"/>
                </a:solidFill>
              </a:rPr>
              <a:t>Real-time newsfeed (100s/day)</a:t>
            </a:r>
          </a:p>
          <a:p>
            <a:pPr marL="228600" indent="-228600" algn="l">
              <a:lnSpc>
                <a:spcPct val="150000"/>
              </a:lnSpc>
              <a:buFont typeface="Arial"/>
              <a:buChar char="📋"/>
            </a:pPr>
            <a:r>
              <a:rPr lang="en-US" sz="2000">
                <a:solidFill>
                  <a:srgbClr val="2C3E50"/>
                </a:solidFill>
              </a:rPr>
              <a:t>Quarterly 10-Q filings</a:t>
            </a:r>
          </a:p>
          <a:p>
            <a:pPr marL="228600" indent="-228600" algn="l">
              <a:lnSpc>
                <a:spcPct val="150000"/>
              </a:lnSpc>
              <a:buFont typeface="Arial"/>
              <a:buChar char="📑"/>
            </a:pPr>
            <a:r>
              <a:rPr lang="en-US" sz="2000">
                <a:solidFill>
                  <a:srgbClr val="2C3E50"/>
                </a:solidFill>
              </a:rPr>
              <a:t>Annual 10-K reports (100+ pages)</a:t>
            </a:r>
          </a:p>
          <a:p>
            <a:pPr marL="228600" indent="-228600" algn="l">
              <a:lnSpc>
                <a:spcPct val="150000"/>
              </a:lnSpc>
              <a:buFont typeface="Arial"/>
              <a:buChar char="💬"/>
            </a:pPr>
            <a:r>
              <a:rPr lang="en-US" sz="2000">
                <a:solidFill>
                  <a:srgbClr val="2C3E50"/>
                </a:solidFill>
              </a:rPr>
              <a:t>Social media, sell-side reports</a:t>
            </a:r>
          </a:p>
          <a:p>
            <a:pPr algn="l">
              <a:lnSpc>
                <a:spcPct val="150000"/>
              </a:lnSpc>
              <a:buNone/>
            </a:pPr>
            <a:r>
              <a:rPr lang="en-US" sz="1600">
                <a:solidFill>
                  <a:srgbClr val="8090A8"/>
                </a:solidFill>
              </a:rPr>
              <a:t> </a:t>
            </a:r>
          </a:p>
          <a:p>
            <a:pPr algn="l">
              <a:lnSpc>
                <a:spcPct val="150000"/>
              </a:lnSpc>
              <a:buNone/>
            </a:pPr>
            <a:r>
              <a:rPr lang="en-US" b="1">
                <a:solidFill>
                  <a:srgbClr val="B03020"/>
                </a:solidFill>
              </a:rPr>
              <a:t>A human cannot weigh a tweet from today </a:t>
            </a:r>
            <a:br>
              <a:rPr lang="en-US" b="1">
                <a:solidFill>
                  <a:srgbClr val="B03020"/>
                </a:solidFill>
              </a:rPr>
            </a:br>
            <a:r>
              <a:rPr lang="en-US" b="1">
                <a:solidFill>
                  <a:srgbClr val="B03020"/>
                </a:solidFill>
              </a:rPr>
              <a:t>against a 10-K from eight months ago.</a:t>
            </a:r>
          </a:p>
        </p:txBody>
      </p:sp>
      <p:sp>
        <p:nvSpPr>
          <p:cNvPr id="30" name="Callout"/>
          <p:cNvSpPr/>
          <p:nvPr/>
        </p:nvSpPr>
        <p:spPr>
          <a:xfrm>
            <a:off x="609600" y="6223000"/>
            <a:ext cx="10972800" cy="457200"/>
          </a:xfrm>
          <a:prstGeom prst="rect">
            <a:avLst/>
          </a:prstGeom>
          <a:solidFill>
            <a:srgbClr val="1A2744"/>
          </a:solidFill>
          <a:ln>
            <a:noFill/>
          </a:ln>
        </p:spPr>
        <p:txBody>
          <a:bodyPr lIns="180000" anchor="ctr"/>
          <a:lstStyle/>
          <a:p>
            <a:pPr algn="ctr">
              <a:buNone/>
            </a:pPr>
            <a:r>
              <a:rPr lang="en-US" sz="2000" b="1" i="1">
                <a:solidFill>
                  <a:srgbClr val="C9A84C"/>
                </a:solidFill>
              </a:rPr>
              <a:t>We want machines that read, reason, and explain - with human-style memory.</a:t>
            </a:r>
          </a:p>
        </p:txBody>
      </p:sp>
      <p:sp>
        <p:nvSpPr>
          <p:cNvPr id="4" name="Title">
            <a:extLst>
              <a:ext uri="{FF2B5EF4-FFF2-40B4-BE49-F238E27FC236}">
                <a16:creationId xmlns:a16="http://schemas.microsoft.com/office/drawing/2014/main" id="{9D2C4DF7-D32E-1E64-D091-D8013F314E27}"/>
              </a:ext>
            </a:extLst>
          </p:cNvPr>
          <p:cNvSpPr/>
          <p:nvPr/>
        </p:nvSpPr>
        <p:spPr>
          <a:xfrm>
            <a:off x="775904" y="5232400"/>
            <a:ext cx="5218497" cy="660400"/>
          </a:xfrm>
          <a:prstGeom prst="rect">
            <a:avLst/>
          </a:prstGeom>
          <a:noFill/>
          <a:ln>
            <a:noFill/>
          </a:ln>
        </p:spPr>
        <p:txBody>
          <a:bodyPr lIns="0" anchor="ctr"/>
          <a:lstStyle/>
          <a:p>
            <a:pPr>
              <a:buNone/>
            </a:pPr>
            <a:r>
              <a:rPr lang="en-US" sz="1600">
                <a:solidFill>
                  <a:schemeClr val="bg2"/>
                </a:solidFill>
                <a:effectLst/>
              </a:rPr>
              <a:t>Miller, G. A. (1956). </a:t>
            </a:r>
            <a:r>
              <a:rPr lang="en-US" sz="1600" i="1">
                <a:solidFill>
                  <a:schemeClr val="bg2"/>
                </a:solidFill>
                <a:effectLst/>
              </a:rPr>
              <a:t>The magical number seven, plus or minus two: Some limits on our capacity for processing information</a:t>
            </a:r>
            <a:r>
              <a:rPr lang="en-US" sz="1600">
                <a:solidFill>
                  <a:schemeClr val="bg2"/>
                </a:solidFill>
                <a:effectLst/>
              </a:rPr>
              <a:t>. </a:t>
            </a:r>
            <a:r>
              <a:rPr lang="en-US" sz="1600" b="1">
                <a:solidFill>
                  <a:schemeClr val="bg2"/>
                </a:solidFill>
                <a:effectLst/>
              </a:rPr>
              <a:t>Psychological Review, 63</a:t>
            </a:r>
            <a:r>
              <a:rPr lang="en-US" sz="1600">
                <a:solidFill>
                  <a:schemeClr val="bg2"/>
                </a:solidFill>
                <a:effectLst/>
              </a:rPr>
              <a:t>(2), 81–97.</a:t>
            </a:r>
            <a:endParaRPr lang="en-US" sz="1600">
              <a:solidFill>
                <a:schemeClr val="bg2"/>
              </a:solidFill>
            </a:endParaRPr>
          </a:p>
        </p:txBody>
      </p:sp>
    </p:spTree>
    <p:extLst>
      <p:ext uri="{BB962C8B-B14F-4D97-AF65-F5344CB8AC3E}">
        <p14:creationId xmlns:p14="http://schemas.microsoft.com/office/powerpoint/2010/main" val="3434628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2 - Core Idea</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The Intellectual Lineage</a:t>
            </a:r>
          </a:p>
        </p:txBody>
      </p:sp>
      <p:sp>
        <p:nvSpPr>
          <p:cNvPr id="12" name="Smallville"/>
          <p:cNvSpPr/>
          <p:nvPr/>
        </p:nvSpPr>
        <p:spPr>
          <a:xfrm>
            <a:off x="193586" y="1168400"/>
            <a:ext cx="5243385" cy="4699000"/>
          </a:xfrm>
          <a:prstGeom prst="rect">
            <a:avLst/>
          </a:prstGeom>
          <a:solidFill>
            <a:srgbClr val="2E4272"/>
          </a:solidFill>
          <a:ln>
            <a:noFill/>
          </a:ln>
        </p:spPr>
        <p:txBody>
          <a:bodyPr lIns="240000" tIns="240000" rIns="240000" anchor="t"/>
          <a:lstStyle/>
          <a:p>
            <a:pPr algn="ctr">
              <a:lnSpc>
                <a:spcPct val="150000"/>
              </a:lnSpc>
              <a:buNone/>
            </a:pPr>
            <a:r>
              <a:rPr lang="en-US" sz="2800" b="1">
                <a:solidFill>
                  <a:srgbClr val="FFFFFF"/>
                </a:solidFill>
              </a:rPr>
              <a:t>Park et al. 2023</a:t>
            </a:r>
          </a:p>
          <a:p>
            <a:pPr algn="ctr">
              <a:lnSpc>
                <a:spcPct val="150000"/>
              </a:lnSpc>
              <a:buNone/>
            </a:pPr>
            <a:r>
              <a:rPr lang="en-US" sz="2000" i="1">
                <a:solidFill>
                  <a:srgbClr val="A0B4D6"/>
                </a:solidFill>
              </a:rPr>
              <a:t>Generative Agents - "Smallville"</a:t>
            </a:r>
          </a:p>
          <a:p>
            <a:pPr algn="l">
              <a:lnSpc>
                <a:spcPct val="150000"/>
              </a:lnSpc>
              <a:buNone/>
            </a:pPr>
            <a:r>
              <a:rPr lang="en-US" sz="1100">
                <a:solidFill>
                  <a:srgbClr val="8090A8"/>
                </a:solidFill>
              </a:rPr>
              <a:t> </a:t>
            </a:r>
          </a:p>
          <a:p>
            <a:pPr marL="228600" indent="-228600" algn="l">
              <a:lnSpc>
                <a:spcPct val="150000"/>
              </a:lnSpc>
              <a:buFont typeface="Arial"/>
              <a:buChar char="•"/>
            </a:pPr>
            <a:r>
              <a:rPr lang="en-US" sz="2000">
                <a:solidFill>
                  <a:srgbClr val="D4DCF0"/>
                </a:solidFill>
              </a:rPr>
              <a:t>25 LLM agents in a virtual town</a:t>
            </a:r>
          </a:p>
          <a:p>
            <a:pPr marL="228600" indent="-228600">
              <a:lnSpc>
                <a:spcPct val="150000"/>
              </a:lnSpc>
              <a:buFont typeface="Arial"/>
              <a:buChar char="•"/>
            </a:pPr>
            <a:r>
              <a:rPr lang="en-US" sz="2000">
                <a:solidFill>
                  <a:srgbClr val="D4DCF0"/>
                </a:solidFill>
              </a:rPr>
              <a:t>Fixed social personas</a:t>
            </a:r>
          </a:p>
          <a:p>
            <a:pPr marL="228600" indent="-228600" algn="l">
              <a:lnSpc>
                <a:spcPct val="150000"/>
              </a:lnSpc>
              <a:buFont typeface="Arial"/>
              <a:buChar char="•"/>
            </a:pPr>
            <a:r>
              <a:rPr lang="en-US" sz="2000">
                <a:solidFill>
                  <a:srgbClr val="D4DCF0"/>
                </a:solidFill>
              </a:rPr>
              <a:t>Persistent memory stream</a:t>
            </a:r>
          </a:p>
          <a:p>
            <a:pPr algn="l">
              <a:lnSpc>
                <a:spcPct val="150000"/>
              </a:lnSpc>
              <a:buNone/>
            </a:pPr>
            <a:r>
              <a:rPr lang="en-US" sz="1100">
                <a:solidFill>
                  <a:srgbClr val="8090A8"/>
                </a:solidFill>
              </a:rPr>
              <a:t> </a:t>
            </a:r>
          </a:p>
          <a:p>
            <a:pPr marL="228600" indent="-228600" algn="l">
              <a:lnSpc>
                <a:spcPct val="150000"/>
              </a:lnSpc>
              <a:buFont typeface="Arial"/>
              <a:buChar char="✗"/>
            </a:pPr>
            <a:r>
              <a:rPr lang="en-US" sz="2000" b="1">
                <a:solidFill>
                  <a:srgbClr val="B03020"/>
                </a:solidFill>
              </a:rPr>
              <a:t>FLAT memory - one decay rate for everything</a:t>
            </a:r>
          </a:p>
          <a:p>
            <a:pPr algn="l">
              <a:lnSpc>
                <a:spcPct val="150000"/>
              </a:lnSpc>
              <a:buNone/>
            </a:pPr>
            <a:r>
              <a:rPr lang="en-US" sz="1100">
                <a:solidFill>
                  <a:srgbClr val="8090A8"/>
                </a:solidFill>
              </a:rPr>
              <a:t> </a:t>
            </a:r>
          </a:p>
        </p:txBody>
      </p:sp>
      <p:sp>
        <p:nvSpPr>
          <p:cNvPr id="13" name="Arrow"/>
          <p:cNvSpPr/>
          <p:nvPr/>
        </p:nvSpPr>
        <p:spPr>
          <a:xfrm>
            <a:off x="5432539" y="2519299"/>
            <a:ext cx="927254" cy="1100201"/>
          </a:xfrm>
          <a:prstGeom prst="rect">
            <a:avLst/>
          </a:prstGeom>
          <a:noFill/>
          <a:ln>
            <a:noFill/>
          </a:ln>
        </p:spPr>
        <p:txBody>
          <a:bodyPr lIns="0" anchor="ctr"/>
          <a:lstStyle/>
          <a:p>
            <a:pPr algn="ctr">
              <a:buNone/>
            </a:pPr>
            <a:r>
              <a:rPr lang="en-US" sz="5400" b="1">
                <a:solidFill>
                  <a:srgbClr val="C9A84C"/>
                </a:solidFill>
              </a:rPr>
              <a:t>→</a:t>
            </a:r>
          </a:p>
        </p:txBody>
      </p:sp>
      <p:sp>
        <p:nvSpPr>
          <p:cNvPr id="14" name="AdaptLabel"/>
          <p:cNvSpPr/>
          <p:nvPr/>
        </p:nvSpPr>
        <p:spPr>
          <a:xfrm>
            <a:off x="5375938" y="3200400"/>
            <a:ext cx="1179074" cy="635000"/>
          </a:xfrm>
          <a:prstGeom prst="rect">
            <a:avLst/>
          </a:prstGeom>
          <a:noFill/>
          <a:ln>
            <a:noFill/>
          </a:ln>
        </p:spPr>
        <p:txBody>
          <a:bodyPr lIns="0" anchor="ctr"/>
          <a:lstStyle/>
          <a:p>
            <a:pPr algn="ctr">
              <a:buNone/>
            </a:pPr>
            <a:r>
              <a:rPr lang="en-US" sz="2000" b="1">
                <a:solidFill>
                  <a:srgbClr val="C9A84C"/>
                </a:solidFill>
              </a:rPr>
              <a:t>adapts</a:t>
            </a:r>
          </a:p>
        </p:txBody>
      </p:sp>
      <p:sp>
        <p:nvSpPr>
          <p:cNvPr id="15" name="FinMem"/>
          <p:cNvSpPr/>
          <p:nvPr/>
        </p:nvSpPr>
        <p:spPr>
          <a:xfrm>
            <a:off x="6426760" y="1168400"/>
            <a:ext cx="5295555" cy="4699000"/>
          </a:xfrm>
          <a:prstGeom prst="rect">
            <a:avLst/>
          </a:prstGeom>
          <a:solidFill>
            <a:srgbClr val="1A2744"/>
          </a:solidFill>
          <a:ln>
            <a:noFill/>
          </a:ln>
        </p:spPr>
        <p:txBody>
          <a:bodyPr lIns="240000" tIns="240000" rIns="240000" anchor="t"/>
          <a:lstStyle/>
          <a:p>
            <a:pPr algn="ctr">
              <a:lnSpc>
                <a:spcPct val="150000"/>
              </a:lnSpc>
              <a:buNone/>
            </a:pPr>
            <a:r>
              <a:rPr lang="en-US" sz="2800" b="1" dirty="0" err="1">
                <a:solidFill>
                  <a:srgbClr val="C9A84C"/>
                </a:solidFill>
              </a:rPr>
              <a:t>FinMem</a:t>
            </a:r>
            <a:r>
              <a:rPr lang="en-US" sz="2800" b="1" dirty="0">
                <a:solidFill>
                  <a:srgbClr val="C9A84C"/>
                </a:solidFill>
              </a:rPr>
              <a:t> (Yu et al. 2023)</a:t>
            </a:r>
          </a:p>
          <a:p>
            <a:pPr algn="ctr">
              <a:lnSpc>
                <a:spcPct val="150000"/>
              </a:lnSpc>
              <a:buNone/>
            </a:pPr>
            <a:r>
              <a:rPr lang="en-US" sz="2000" i="1" dirty="0">
                <a:solidFill>
                  <a:srgbClr val="A0B4D6"/>
                </a:solidFill>
              </a:rPr>
              <a:t>Finance adaptation of Smallville</a:t>
            </a:r>
          </a:p>
          <a:p>
            <a:pPr algn="l">
              <a:lnSpc>
                <a:spcPct val="150000"/>
              </a:lnSpc>
              <a:buNone/>
            </a:pPr>
            <a:r>
              <a:rPr lang="en-US" sz="1100" dirty="0">
                <a:solidFill>
                  <a:srgbClr val="8090A8"/>
                </a:solidFill>
              </a:rPr>
              <a:t> </a:t>
            </a:r>
          </a:p>
          <a:p>
            <a:pPr marL="228600" indent="-228600" algn="l">
              <a:lnSpc>
                <a:spcPct val="150000"/>
              </a:lnSpc>
              <a:buFont typeface="Arial"/>
              <a:buChar char="•"/>
            </a:pPr>
            <a:r>
              <a:rPr lang="en-US" sz="2000" dirty="0">
                <a:solidFill>
                  <a:srgbClr val="D4DCF0"/>
                </a:solidFill>
              </a:rPr>
              <a:t>Applied to daily stock trading</a:t>
            </a:r>
          </a:p>
          <a:p>
            <a:pPr marL="228600" indent="-228600" algn="l">
              <a:lnSpc>
                <a:spcPct val="150000"/>
              </a:lnSpc>
              <a:buFont typeface="Arial"/>
              <a:buChar char="•"/>
            </a:pPr>
            <a:r>
              <a:rPr lang="en-US" sz="2000" dirty="0">
                <a:solidFill>
                  <a:srgbClr val="D4DCF0"/>
                </a:solidFill>
              </a:rPr>
              <a:t>Dynamic risk profiling</a:t>
            </a:r>
          </a:p>
          <a:p>
            <a:pPr marL="228600" indent="-228600" algn="l">
              <a:lnSpc>
                <a:spcPct val="150000"/>
              </a:lnSpc>
              <a:buFont typeface="Arial"/>
              <a:buChar char="•"/>
            </a:pPr>
            <a:r>
              <a:rPr lang="en-US" sz="2000" dirty="0">
                <a:solidFill>
                  <a:srgbClr val="D4DCF0"/>
                </a:solidFill>
              </a:rPr>
              <a:t>Memory promotion</a:t>
            </a:r>
          </a:p>
          <a:p>
            <a:pPr marL="228600" indent="-228600">
              <a:lnSpc>
                <a:spcPct val="150000"/>
              </a:lnSpc>
              <a:buFont typeface="Arial"/>
              <a:buChar char="•"/>
            </a:pPr>
            <a:endParaRPr lang="en-US" sz="2000" dirty="0">
              <a:solidFill>
                <a:srgbClr val="D4DCF0"/>
              </a:solidFill>
            </a:endParaRPr>
          </a:p>
          <a:p>
            <a:pPr marL="228600" indent="-228600" algn="l">
              <a:lnSpc>
                <a:spcPct val="150000"/>
              </a:lnSpc>
              <a:buFont typeface="Arial"/>
              <a:buChar char="✓"/>
            </a:pPr>
            <a:r>
              <a:rPr lang="en-US" sz="2000" b="1" dirty="0">
                <a:solidFill>
                  <a:srgbClr val="1A7A4A"/>
                </a:solidFill>
              </a:rPr>
              <a:t>LAYERED - decay rate changes per layer</a:t>
            </a:r>
          </a:p>
          <a:p>
            <a:pPr algn="l">
              <a:lnSpc>
                <a:spcPct val="150000"/>
              </a:lnSpc>
              <a:buNone/>
            </a:pPr>
            <a:r>
              <a:rPr lang="en-US" sz="1100" dirty="0">
                <a:solidFill>
                  <a:srgbClr val="8090A8"/>
                </a:solidFill>
              </a:rPr>
              <a:t> </a:t>
            </a:r>
            <a:endParaRPr lang="en-US" i="1" dirty="0">
              <a:solidFill>
                <a:srgbClr val="8090A8"/>
              </a:solidFill>
            </a:endParaRPr>
          </a:p>
        </p:txBody>
      </p:sp>
    </p:spTree>
    <p:extLst>
      <p:ext uri="{BB962C8B-B14F-4D97-AF65-F5344CB8AC3E}">
        <p14:creationId xmlns:p14="http://schemas.microsoft.com/office/powerpoint/2010/main" val="2181403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1 - Background</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Task Definition &amp; Baselines</a:t>
            </a:r>
          </a:p>
        </p:txBody>
      </p:sp>
      <p:sp>
        <p:nvSpPr>
          <p:cNvPr id="20" name="TaskPanel"/>
          <p:cNvSpPr/>
          <p:nvPr/>
        </p:nvSpPr>
        <p:spPr>
          <a:xfrm>
            <a:off x="345989" y="1168400"/>
            <a:ext cx="5470611" cy="4342714"/>
          </a:xfrm>
          <a:prstGeom prst="rect">
            <a:avLst/>
          </a:prstGeom>
          <a:solidFill>
            <a:srgbClr val="1A2744"/>
          </a:solidFill>
          <a:ln>
            <a:noFill/>
          </a:ln>
        </p:spPr>
        <p:txBody>
          <a:bodyPr lIns="240000" tIns="240000" rIns="240000" anchor="t"/>
          <a:lstStyle/>
          <a:p>
            <a:pPr algn="l">
              <a:buNone/>
            </a:pPr>
            <a:r>
              <a:rPr lang="en-US" sz="2000" b="1" dirty="0">
                <a:solidFill>
                  <a:srgbClr val="C9A84C"/>
                </a:solidFill>
              </a:rPr>
              <a:t>The Task</a:t>
            </a:r>
          </a:p>
          <a:p>
            <a:pPr algn="l">
              <a:buNone/>
            </a:pPr>
            <a:r>
              <a:rPr lang="en-US" sz="1600" dirty="0">
                <a:solidFill>
                  <a:srgbClr val="8090A8"/>
                </a:solidFill>
              </a:rPr>
              <a:t> </a:t>
            </a:r>
          </a:p>
          <a:p>
            <a:pPr marL="228600" indent="-228600" algn="l">
              <a:buFont typeface="Arial"/>
              <a:buChar char="▸"/>
            </a:pPr>
            <a:r>
              <a:rPr lang="en-US" sz="2000" dirty="0">
                <a:solidFill>
                  <a:srgbClr val="FFFFFF"/>
                </a:solidFill>
              </a:rPr>
              <a:t>Daily Buy / Sell / Hold on a single stock</a:t>
            </a:r>
          </a:p>
          <a:p>
            <a:pPr marL="228600" indent="-228600" algn="l">
              <a:buFont typeface="Arial"/>
              <a:buChar char="▸"/>
            </a:pPr>
            <a:r>
              <a:rPr lang="en-US" sz="2000" dirty="0">
                <a:solidFill>
                  <a:srgbClr val="FFFFFF"/>
                </a:solidFill>
              </a:rPr>
              <a:t>5 tickers: TSLA NFLX AMZN MSFT COIN</a:t>
            </a:r>
          </a:p>
          <a:p>
            <a:pPr algn="l">
              <a:buNone/>
            </a:pPr>
            <a:r>
              <a:rPr lang="en-US" sz="1600" dirty="0">
                <a:solidFill>
                  <a:srgbClr val="8090A8"/>
                </a:solidFill>
              </a:rPr>
              <a:t> </a:t>
            </a:r>
          </a:p>
          <a:p>
            <a:pPr algn="l">
              <a:buNone/>
            </a:pPr>
            <a:r>
              <a:rPr lang="en-US" sz="2000" b="1" dirty="0">
                <a:solidFill>
                  <a:srgbClr val="C9A84C"/>
                </a:solidFill>
              </a:rPr>
              <a:t>Data Inputs</a:t>
            </a:r>
          </a:p>
          <a:p>
            <a:pPr algn="l">
              <a:buNone/>
            </a:pPr>
            <a:r>
              <a:rPr lang="en-US" sz="1600" dirty="0">
                <a:solidFill>
                  <a:srgbClr val="8090A8"/>
                </a:solidFill>
              </a:rPr>
              <a:t> </a:t>
            </a:r>
          </a:p>
          <a:p>
            <a:pPr marL="228600" indent="-228600" algn="l">
              <a:buFont typeface="Arial"/>
              <a:buChar char="▸"/>
            </a:pPr>
            <a:r>
              <a:rPr lang="en-US" sz="2000" dirty="0">
                <a:solidFill>
                  <a:srgbClr val="FFFFFF"/>
                </a:solidFill>
              </a:rPr>
              <a:t>Alpaca News API (daily text)</a:t>
            </a:r>
          </a:p>
          <a:p>
            <a:pPr marL="228600" indent="-228600" algn="l">
              <a:buFont typeface="Arial"/>
              <a:buChar char="▸"/>
            </a:pPr>
            <a:r>
              <a:rPr lang="en-US" sz="2000" dirty="0">
                <a:solidFill>
                  <a:srgbClr val="FFFFFF"/>
                </a:solidFill>
              </a:rPr>
              <a:t>SEC EDGAR (10-Q, 10-K filings)</a:t>
            </a:r>
          </a:p>
          <a:p>
            <a:pPr marL="228600" indent="-228600" algn="l">
              <a:buFont typeface="Arial"/>
              <a:buChar char="▸"/>
            </a:pPr>
            <a:r>
              <a:rPr lang="en-US" sz="2000" dirty="0">
                <a:solidFill>
                  <a:srgbClr val="FFFFFF"/>
                </a:solidFill>
              </a:rPr>
              <a:t>yfinance (adj. closing prices)</a:t>
            </a:r>
          </a:p>
          <a:p>
            <a:pPr algn="l">
              <a:buNone/>
            </a:pPr>
            <a:r>
              <a:rPr lang="en-US" sz="1600" dirty="0">
                <a:solidFill>
                  <a:srgbClr val="8090A8"/>
                </a:solidFill>
              </a:rPr>
              <a:t> </a:t>
            </a:r>
          </a:p>
          <a:p>
            <a:pPr algn="l">
              <a:buNone/>
            </a:pPr>
            <a:r>
              <a:rPr lang="en-US" b="1" i="1" dirty="0">
                <a:solidFill>
                  <a:srgbClr val="C9A84C"/>
                </a:solidFill>
              </a:rPr>
              <a:t>COIN = recent IPO → DRL can't train.</a:t>
            </a:r>
          </a:p>
          <a:p>
            <a:pPr algn="l">
              <a:buNone/>
            </a:pPr>
            <a:r>
              <a:rPr lang="en-US" b="1" i="1" dirty="0">
                <a:solidFill>
                  <a:srgbClr val="C9A84C"/>
                </a:solidFill>
              </a:rPr>
              <a:t>LLM-based agents can start day one.</a:t>
            </a:r>
          </a:p>
        </p:txBody>
      </p:sp>
      <p:sp>
        <p:nvSpPr>
          <p:cNvPr id="21" name="BasePanel"/>
          <p:cNvSpPr/>
          <p:nvPr/>
        </p:nvSpPr>
        <p:spPr>
          <a:xfrm>
            <a:off x="6222999" y="1168399"/>
            <a:ext cx="5623011" cy="4342713"/>
          </a:xfrm>
          <a:prstGeom prst="rect">
            <a:avLst/>
          </a:prstGeom>
          <a:solidFill>
            <a:srgbClr val="F0F2F7"/>
          </a:solidFill>
          <a:ln>
            <a:noFill/>
          </a:ln>
        </p:spPr>
        <p:txBody>
          <a:bodyPr lIns="240000" tIns="240000" rIns="240000" anchor="t"/>
          <a:lstStyle/>
          <a:p>
            <a:pPr algn="l">
              <a:buNone/>
            </a:pPr>
            <a:r>
              <a:rPr lang="en-US" sz="2000" b="1">
                <a:solidFill>
                  <a:srgbClr val="1A2744"/>
                </a:solidFill>
              </a:rPr>
              <a:t>Baselines</a:t>
            </a:r>
          </a:p>
          <a:p>
            <a:pPr algn="l">
              <a:buNone/>
            </a:pPr>
            <a:r>
              <a:rPr lang="en-US" sz="1600">
                <a:solidFill>
                  <a:srgbClr val="8090A8"/>
                </a:solidFill>
              </a:rPr>
              <a:t> </a:t>
            </a:r>
          </a:p>
          <a:p>
            <a:pPr marL="228600" indent="-228600" algn="l">
              <a:buFont typeface="Arial"/>
              <a:buChar char="→"/>
            </a:pPr>
            <a:r>
              <a:rPr lang="en-US" sz="2000" b="1">
                <a:solidFill>
                  <a:srgbClr val="1A2744"/>
                </a:solidFill>
              </a:rPr>
              <a:t>Buy &amp; Hold</a:t>
            </a:r>
            <a:r>
              <a:rPr lang="en-US">
                <a:solidFill>
                  <a:srgbClr val="6070A0"/>
                </a:solidFill>
              </a:rPr>
              <a:t>  (passive floor)</a:t>
            </a:r>
          </a:p>
          <a:p>
            <a:pPr algn="l">
              <a:buNone/>
            </a:pPr>
            <a:r>
              <a:rPr lang="en-US" sz="1600">
                <a:solidFill>
                  <a:srgbClr val="8090A8"/>
                </a:solidFill>
              </a:rPr>
              <a:t> </a:t>
            </a:r>
          </a:p>
          <a:p>
            <a:pPr marL="228600" indent="-228600" algn="l">
              <a:buFont typeface="Arial"/>
              <a:buChar char="→"/>
            </a:pPr>
            <a:r>
              <a:rPr lang="en-US" sz="2000" b="1">
                <a:solidFill>
                  <a:srgbClr val="1A2744"/>
                </a:solidFill>
              </a:rPr>
              <a:t>PPO · A2C · DQN</a:t>
            </a:r>
            <a:r>
              <a:rPr lang="en-US">
                <a:solidFill>
                  <a:srgbClr val="6070A0"/>
                </a:solidFill>
              </a:rPr>
              <a:t>  (DRL gold standard)</a:t>
            </a:r>
          </a:p>
          <a:p>
            <a:pPr algn="l">
              <a:buNone/>
            </a:pPr>
            <a:r>
              <a:rPr lang="en-US" sz="1600">
                <a:solidFill>
                  <a:srgbClr val="8090A8"/>
                </a:solidFill>
              </a:rPr>
              <a:t> </a:t>
            </a:r>
          </a:p>
          <a:p>
            <a:pPr marL="228600" indent="-228600" algn="l">
              <a:buFont typeface="Arial"/>
              <a:buChar char="→"/>
            </a:pPr>
            <a:r>
              <a:rPr lang="en-US" sz="2000" b="1">
                <a:solidFill>
                  <a:srgbClr val="1A2744"/>
                </a:solidFill>
              </a:rPr>
              <a:t>Generative Agents</a:t>
            </a:r>
            <a:r>
              <a:rPr lang="en-US">
                <a:solidFill>
                  <a:srgbClr val="6070A0"/>
                </a:solidFill>
              </a:rPr>
              <a:t>  (Park et al. 2023)</a:t>
            </a:r>
          </a:p>
          <a:p>
            <a:pPr algn="l">
              <a:buNone/>
            </a:pPr>
            <a:r>
              <a:rPr lang="en-US" sz="1600">
                <a:solidFill>
                  <a:srgbClr val="8090A8"/>
                </a:solidFill>
              </a:rPr>
              <a:t> </a:t>
            </a:r>
          </a:p>
          <a:p>
            <a:pPr marL="228600" indent="-228600" algn="l">
              <a:buFont typeface="Arial"/>
              <a:buChar char="→"/>
            </a:pPr>
            <a:r>
              <a:rPr lang="en-US" sz="2000" b="1">
                <a:solidFill>
                  <a:srgbClr val="1A2744"/>
                </a:solidFill>
              </a:rPr>
              <a:t>FinGPT</a:t>
            </a:r>
            <a:r>
              <a:rPr lang="en-US">
                <a:solidFill>
                  <a:srgbClr val="6070A0"/>
                </a:solidFill>
              </a:rPr>
              <a:t>  (Yang et al. — financial LLM)</a:t>
            </a:r>
          </a:p>
        </p:txBody>
      </p:sp>
    </p:spTree>
    <p:extLst>
      <p:ext uri="{BB962C8B-B14F-4D97-AF65-F5344CB8AC3E}">
        <p14:creationId xmlns:p14="http://schemas.microsoft.com/office/powerpoint/2010/main" val="1881028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2 - Core Idea</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Architecture Overview</a:t>
            </a:r>
          </a:p>
        </p:txBody>
      </p:sp>
      <p:sp>
        <p:nvSpPr>
          <p:cNvPr id="20" name="Module0"/>
          <p:cNvSpPr/>
          <p:nvPr/>
        </p:nvSpPr>
        <p:spPr>
          <a:xfrm>
            <a:off x="217615" y="1347573"/>
            <a:ext cx="3584146" cy="4182076"/>
          </a:xfrm>
          <a:prstGeom prst="rect">
            <a:avLst/>
          </a:prstGeom>
          <a:solidFill>
            <a:srgbClr val="2E4272"/>
          </a:solidFill>
          <a:ln>
            <a:noFill/>
          </a:ln>
        </p:spPr>
        <p:txBody>
          <a:bodyPr lIns="200000" tIns="200000" rIns="200000" anchor="t"/>
          <a:lstStyle/>
          <a:p>
            <a:pPr algn="l">
              <a:buNone/>
            </a:pPr>
            <a:r>
              <a:rPr lang="en-US" sz="3200" b="1">
                <a:solidFill>
                  <a:srgbClr val="3B82C4"/>
                </a:solidFill>
              </a:rPr>
              <a:t>Profiling Module</a:t>
            </a:r>
          </a:p>
          <a:p>
            <a:pPr algn="l">
              <a:buNone/>
            </a:pPr>
            <a:r>
              <a:rPr lang="en-US" sz="2000" i="1">
                <a:solidFill>
                  <a:srgbClr val="A0B4D6"/>
                </a:solidFill>
              </a:rPr>
              <a:t>Character &amp; Risk Persona</a:t>
            </a:r>
          </a:p>
          <a:p>
            <a:pPr algn="l">
              <a:buNone/>
            </a:pPr>
            <a:r>
              <a:rPr lang="en-US" sz="1400">
                <a:solidFill>
                  <a:srgbClr val="8090A8"/>
                </a:solidFill>
              </a:rPr>
              <a:t> </a:t>
            </a:r>
          </a:p>
          <a:p>
            <a:pPr marL="180000" indent="-180000" algn="l">
              <a:buFont typeface="Arial"/>
              <a:buChar char="▸"/>
            </a:pPr>
            <a:r>
              <a:rPr lang="en-US" sz="2400">
                <a:solidFill>
                  <a:srgbClr val="D4DCF0"/>
                </a:solidFill>
              </a:rPr>
              <a:t>Risk-Seeking</a:t>
            </a:r>
          </a:p>
          <a:p>
            <a:pPr marL="180000" indent="-180000" algn="l">
              <a:buFont typeface="Arial"/>
              <a:buChar char="▸"/>
            </a:pPr>
            <a:r>
              <a:rPr lang="en-US" sz="2400">
                <a:solidFill>
                  <a:srgbClr val="D4DCF0"/>
                </a:solidFill>
              </a:rPr>
              <a:t>Risk-Averse</a:t>
            </a:r>
          </a:p>
          <a:p>
            <a:pPr marL="180000" indent="-180000" algn="l">
              <a:buFont typeface="Arial"/>
              <a:buChar char="▸"/>
            </a:pPr>
            <a:r>
              <a:rPr lang="en-US" sz="2400">
                <a:solidFill>
                  <a:srgbClr val="D4DCF0"/>
                </a:solidFill>
              </a:rPr>
              <a:t>Self-Adaptive (dynamic)</a:t>
            </a:r>
          </a:p>
          <a:p>
            <a:pPr marL="180000" indent="-180000" algn="l">
              <a:buFont typeface="Arial"/>
              <a:buChar char="▸"/>
            </a:pPr>
            <a:r>
              <a:rPr lang="en-US" sz="2400">
                <a:solidFill>
                  <a:srgbClr val="D4DCF0"/>
                </a:solidFill>
              </a:rPr>
              <a:t>Prompt-engineered persona</a:t>
            </a:r>
          </a:p>
        </p:txBody>
      </p:sp>
      <p:sp>
        <p:nvSpPr>
          <p:cNvPr id="30" name="Module1"/>
          <p:cNvSpPr/>
          <p:nvPr/>
        </p:nvSpPr>
        <p:spPr>
          <a:xfrm>
            <a:off x="4148439" y="1347573"/>
            <a:ext cx="3584146" cy="4182076"/>
          </a:xfrm>
          <a:prstGeom prst="rect">
            <a:avLst/>
          </a:prstGeom>
          <a:solidFill>
            <a:srgbClr val="1A2744"/>
          </a:solidFill>
          <a:ln>
            <a:noFill/>
          </a:ln>
        </p:spPr>
        <p:txBody>
          <a:bodyPr lIns="200000" tIns="200000" rIns="200000" anchor="t"/>
          <a:lstStyle/>
          <a:p>
            <a:pPr algn="l">
              <a:buNone/>
            </a:pPr>
            <a:r>
              <a:rPr lang="en-US" sz="3200" b="1">
                <a:solidFill>
                  <a:srgbClr val="C9A84C"/>
                </a:solidFill>
              </a:rPr>
              <a:t>Memory Module</a:t>
            </a:r>
          </a:p>
          <a:p>
            <a:pPr algn="l">
              <a:buNone/>
            </a:pPr>
            <a:r>
              <a:rPr lang="en-US" sz="2000" i="1">
                <a:solidFill>
                  <a:srgbClr val="A0B4D6"/>
                </a:solidFill>
              </a:rPr>
              <a:t>Layered Storage + Working Memory</a:t>
            </a:r>
          </a:p>
          <a:p>
            <a:pPr algn="l">
              <a:buNone/>
            </a:pPr>
            <a:r>
              <a:rPr lang="en-US" sz="1400">
                <a:solidFill>
                  <a:srgbClr val="8090A8"/>
                </a:solidFill>
              </a:rPr>
              <a:t> </a:t>
            </a:r>
          </a:p>
          <a:p>
            <a:pPr marL="180000" indent="-180000" algn="l">
              <a:buFont typeface="Arial"/>
              <a:buChar char="▸"/>
            </a:pPr>
            <a:r>
              <a:rPr lang="en-US" sz="2400">
                <a:solidFill>
                  <a:srgbClr val="D4DCF0"/>
                </a:solidFill>
              </a:rPr>
              <a:t>Shallow (daily news)</a:t>
            </a:r>
          </a:p>
          <a:p>
            <a:pPr marL="180000" indent="-180000" algn="l">
              <a:buFont typeface="Arial"/>
              <a:buChar char="▸"/>
            </a:pPr>
            <a:r>
              <a:rPr lang="en-US" sz="2400">
                <a:solidFill>
                  <a:srgbClr val="D4DCF0"/>
                </a:solidFill>
              </a:rPr>
              <a:t>Intermediate (10-Q)</a:t>
            </a:r>
          </a:p>
          <a:p>
            <a:pPr marL="180000" indent="-180000" algn="l">
              <a:buFont typeface="Arial"/>
              <a:buChar char="▸"/>
            </a:pPr>
            <a:r>
              <a:rPr lang="en-US" sz="2400">
                <a:solidFill>
                  <a:srgbClr val="D4DCF0"/>
                </a:solidFill>
              </a:rPr>
              <a:t>Deep (10-K + reflections)</a:t>
            </a:r>
          </a:p>
          <a:p>
            <a:pPr marL="180000" indent="-180000" algn="l">
              <a:buFont typeface="Arial"/>
              <a:buChar char="▸"/>
            </a:pPr>
            <a:r>
              <a:rPr lang="en-US" sz="2400">
                <a:solidFill>
                  <a:srgbClr val="D4DCF0"/>
                </a:solidFill>
              </a:rPr>
              <a:t>Working memory (scratchpad)</a:t>
            </a:r>
          </a:p>
        </p:txBody>
      </p:sp>
      <p:sp>
        <p:nvSpPr>
          <p:cNvPr id="40" name="Module2"/>
          <p:cNvSpPr/>
          <p:nvPr/>
        </p:nvSpPr>
        <p:spPr>
          <a:xfrm>
            <a:off x="8079263" y="1337962"/>
            <a:ext cx="3895122" cy="4182076"/>
          </a:xfrm>
          <a:prstGeom prst="rect">
            <a:avLst/>
          </a:prstGeom>
          <a:solidFill>
            <a:srgbClr val="2E4272"/>
          </a:solidFill>
          <a:ln>
            <a:noFill/>
          </a:ln>
        </p:spPr>
        <p:txBody>
          <a:bodyPr lIns="200000" tIns="200000" rIns="200000" anchor="t"/>
          <a:lstStyle/>
          <a:p>
            <a:pPr algn="l">
              <a:buNone/>
            </a:pPr>
            <a:r>
              <a:rPr lang="en-US" sz="3200" b="1">
                <a:solidFill>
                  <a:srgbClr val="1A7A4A"/>
                </a:solidFill>
              </a:rPr>
              <a:t>Decision-Making Module</a:t>
            </a:r>
          </a:p>
          <a:p>
            <a:pPr algn="l">
              <a:buNone/>
            </a:pPr>
            <a:r>
              <a:rPr lang="en-US" sz="2000" i="1">
                <a:solidFill>
                  <a:srgbClr val="A0B4D6"/>
                </a:solidFill>
              </a:rPr>
              <a:t>Retrieve → Reason → Act</a:t>
            </a:r>
          </a:p>
          <a:p>
            <a:pPr algn="l">
              <a:buNone/>
            </a:pPr>
            <a:r>
              <a:rPr lang="en-US" sz="1400">
                <a:solidFill>
                  <a:srgbClr val="8090A8"/>
                </a:solidFill>
              </a:rPr>
              <a:t> </a:t>
            </a:r>
          </a:p>
          <a:p>
            <a:pPr marL="180000" indent="-180000" algn="l">
              <a:buFont typeface="Arial"/>
              <a:buChar char="▸"/>
            </a:pPr>
            <a:r>
              <a:rPr lang="en-US" sz="2400">
                <a:solidFill>
                  <a:srgbClr val="D4DCF0"/>
                </a:solidFill>
              </a:rPr>
              <a:t>Top-K retrieved per layer</a:t>
            </a:r>
          </a:p>
          <a:p>
            <a:pPr marL="180000" indent="-180000" algn="l">
              <a:buFont typeface="Arial"/>
              <a:buChar char="▸"/>
            </a:pPr>
            <a:r>
              <a:rPr lang="en-US" sz="2400">
                <a:solidFill>
                  <a:srgbClr val="D4DCF0"/>
                </a:solidFill>
              </a:rPr>
              <a:t>Structured LLM prompt</a:t>
            </a:r>
          </a:p>
          <a:p>
            <a:pPr marL="180000" indent="-180000" algn="l">
              <a:buFont typeface="Arial"/>
              <a:buChar char="▸"/>
            </a:pPr>
            <a:r>
              <a:rPr lang="en-US" sz="2400">
                <a:solidFill>
                  <a:srgbClr val="D4DCF0"/>
                </a:solidFill>
              </a:rPr>
              <a:t>Reasoning chain → Buy/Sell/Hold</a:t>
            </a:r>
          </a:p>
          <a:p>
            <a:pPr marL="180000" indent="-180000" algn="l">
              <a:buFont typeface="Arial"/>
              <a:buChar char="▸"/>
            </a:pPr>
            <a:r>
              <a:rPr lang="en-US" sz="2400">
                <a:solidFill>
                  <a:srgbClr val="D4DCF0"/>
                </a:solidFill>
              </a:rPr>
              <a:t>Logs every decision</a:t>
            </a:r>
          </a:p>
        </p:txBody>
      </p:sp>
    </p:spTree>
    <p:extLst>
      <p:ext uri="{BB962C8B-B14F-4D97-AF65-F5344CB8AC3E}">
        <p14:creationId xmlns:p14="http://schemas.microsoft.com/office/powerpoint/2010/main" val="2300577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a:solidFill>
                  <a:srgbClr val="C9A84C"/>
                </a:solidFill>
              </a:rPr>
              <a:t>PART 2 - Methodology</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400" b="1">
                <a:solidFill>
                  <a:srgbClr val="1A2744"/>
                </a:solidFill>
              </a:rPr>
              <a:t>The Profiling Module</a:t>
            </a:r>
          </a:p>
        </p:txBody>
      </p:sp>
      <p:grpSp>
        <p:nvGrpSpPr>
          <p:cNvPr id="4" name="קבוצה 3">
            <a:extLst>
              <a:ext uri="{FF2B5EF4-FFF2-40B4-BE49-F238E27FC236}">
                <a16:creationId xmlns:a16="http://schemas.microsoft.com/office/drawing/2014/main" id="{26A71525-7722-2C71-76A1-3E749A223C55}"/>
              </a:ext>
            </a:extLst>
          </p:cNvPr>
          <p:cNvGrpSpPr/>
          <p:nvPr/>
        </p:nvGrpSpPr>
        <p:grpSpPr>
          <a:xfrm>
            <a:off x="253313" y="1193114"/>
            <a:ext cx="11685372" cy="3910227"/>
            <a:chOff x="506627" y="1168400"/>
            <a:chExt cx="10960444" cy="3910227"/>
          </a:xfrm>
        </p:grpSpPr>
        <p:sp>
          <p:nvSpPr>
            <p:cNvPr id="20" name="P0"/>
            <p:cNvSpPr/>
            <p:nvPr/>
          </p:nvSpPr>
          <p:spPr>
            <a:xfrm>
              <a:off x="506627" y="1168400"/>
              <a:ext cx="3455773" cy="3910227"/>
            </a:xfrm>
            <a:prstGeom prst="rect">
              <a:avLst/>
            </a:prstGeom>
            <a:solidFill>
              <a:srgbClr val="3B82C4"/>
            </a:solidFill>
            <a:ln>
              <a:noFill/>
            </a:ln>
          </p:spPr>
          <p:txBody>
            <a:bodyPr lIns="144000" tIns="0" rIns="108000" anchor="t"/>
            <a:lstStyle/>
            <a:p>
              <a:pPr algn="ctr">
                <a:lnSpc>
                  <a:spcPct val="150000"/>
                </a:lnSpc>
                <a:buNone/>
              </a:pPr>
              <a:r>
                <a:rPr lang="en-US" sz="2800" b="1">
                  <a:solidFill>
                    <a:srgbClr val="FFFFFF"/>
                  </a:solidFill>
                </a:rPr>
                <a:t>Risk-Seeking</a:t>
              </a:r>
            </a:p>
            <a:p>
              <a:pPr algn="ctr">
                <a:lnSpc>
                  <a:spcPct val="150000"/>
                </a:lnSpc>
                <a:buNone/>
              </a:pPr>
              <a:r>
                <a:rPr lang="en-US" sz="2000" i="1">
                  <a:solidFill>
                    <a:srgbClr val="D4DCF0"/>
                  </a:solidFill>
                </a:rPr>
                <a:t>Trades aggressively</a:t>
              </a:r>
              <a:endParaRPr lang="en-US" sz="1200">
                <a:solidFill>
                  <a:srgbClr val="8090A8"/>
                </a:solidFill>
              </a:endParaRPr>
            </a:p>
            <a:p>
              <a:pPr marL="180000" indent="-180000" algn="l">
                <a:lnSpc>
                  <a:spcPct val="150000"/>
                </a:lnSpc>
                <a:buFont typeface="Arial"/>
                <a:buChar char="▸"/>
              </a:pPr>
              <a:r>
                <a:rPr lang="en-US" sz="2000">
                  <a:solidFill>
                    <a:srgbClr val="FFFFFF"/>
                  </a:solidFill>
                </a:rPr>
                <a:t>Frequent Buy signals</a:t>
              </a:r>
            </a:p>
            <a:p>
              <a:pPr marL="180000" indent="-180000" algn="l">
                <a:lnSpc>
                  <a:spcPct val="150000"/>
                </a:lnSpc>
                <a:buFont typeface="Arial"/>
                <a:buChar char="▸"/>
              </a:pPr>
              <a:r>
                <a:rPr lang="en-US" sz="2000">
                  <a:solidFill>
                    <a:srgbClr val="FFFFFF"/>
                  </a:solidFill>
                </a:rPr>
                <a:t>Rides upward momentum</a:t>
              </a:r>
            </a:p>
            <a:p>
              <a:pPr marL="180000" indent="-180000" algn="l">
                <a:lnSpc>
                  <a:spcPct val="150000"/>
                </a:lnSpc>
                <a:buFont typeface="Arial"/>
                <a:buChar char="▸"/>
              </a:pPr>
              <a:r>
                <a:rPr lang="en-US" sz="2000">
                  <a:solidFill>
                    <a:srgbClr val="FFFFFF"/>
                  </a:solidFill>
                </a:rPr>
                <a:t>Active position changes</a:t>
              </a:r>
            </a:p>
            <a:p>
              <a:pPr marL="180000" indent="-180000" algn="l">
                <a:lnSpc>
                  <a:spcPct val="150000"/>
                </a:lnSpc>
                <a:buFont typeface="Arial"/>
                <a:buChar char="▸"/>
              </a:pPr>
              <a:r>
                <a:rPr lang="en-US" sz="2000">
                  <a:solidFill>
                    <a:srgbClr val="FFFFFF"/>
                  </a:solidFill>
                </a:rPr>
                <a:t>→ Triggered when short-term return &gt; 0</a:t>
              </a:r>
            </a:p>
          </p:txBody>
        </p:sp>
        <p:sp>
          <p:nvSpPr>
            <p:cNvPr id="30" name="P1"/>
            <p:cNvSpPr/>
            <p:nvPr/>
          </p:nvSpPr>
          <p:spPr>
            <a:xfrm>
              <a:off x="4246606" y="1168400"/>
              <a:ext cx="3352800" cy="3910227"/>
            </a:xfrm>
            <a:prstGeom prst="rect">
              <a:avLst/>
            </a:prstGeom>
            <a:solidFill>
              <a:srgbClr val="B03020"/>
            </a:solidFill>
            <a:ln>
              <a:noFill/>
            </a:ln>
          </p:spPr>
          <p:txBody>
            <a:bodyPr lIns="144000" tIns="0" rIns="108000" anchor="t"/>
            <a:lstStyle/>
            <a:p>
              <a:pPr algn="ctr">
                <a:lnSpc>
                  <a:spcPct val="150000"/>
                </a:lnSpc>
                <a:buNone/>
              </a:pPr>
              <a:r>
                <a:rPr lang="en-US" sz="2800" b="1">
                  <a:solidFill>
                    <a:srgbClr val="FFFFFF"/>
                  </a:solidFill>
                </a:rPr>
                <a:t>Risk-Averse</a:t>
              </a:r>
            </a:p>
            <a:p>
              <a:pPr algn="ctr">
                <a:lnSpc>
                  <a:spcPct val="150000"/>
                </a:lnSpc>
                <a:buNone/>
              </a:pPr>
              <a:r>
                <a:rPr lang="en-US" sz="2000" i="1">
                  <a:solidFill>
                    <a:srgbClr val="D4DCF0"/>
                  </a:solidFill>
                </a:rPr>
                <a:t>Trades conservatively</a:t>
              </a:r>
              <a:endParaRPr lang="en-US" sz="1200">
                <a:solidFill>
                  <a:srgbClr val="8090A8"/>
                </a:solidFill>
              </a:endParaRPr>
            </a:p>
            <a:p>
              <a:pPr marL="180000" indent="-180000" algn="l">
                <a:lnSpc>
                  <a:spcPct val="150000"/>
                </a:lnSpc>
                <a:buFont typeface="Arial"/>
                <a:buChar char="▸"/>
              </a:pPr>
              <a:r>
                <a:rPr lang="en-US" sz="2000">
                  <a:solidFill>
                    <a:srgbClr val="FFFFFF"/>
                  </a:solidFill>
                </a:rPr>
                <a:t>Defaults to HOLD often</a:t>
              </a:r>
            </a:p>
            <a:p>
              <a:pPr marL="180000" indent="-180000" algn="l">
                <a:lnSpc>
                  <a:spcPct val="150000"/>
                </a:lnSpc>
                <a:buFont typeface="Arial"/>
                <a:buChar char="▸"/>
              </a:pPr>
              <a:r>
                <a:rPr lang="en-US" sz="2000">
                  <a:solidFill>
                    <a:srgbClr val="FFFFFF"/>
                  </a:solidFill>
                </a:rPr>
                <a:t>Cuts losses early</a:t>
              </a:r>
            </a:p>
            <a:p>
              <a:pPr marL="180000" indent="-180000" algn="l">
                <a:lnSpc>
                  <a:spcPct val="150000"/>
                </a:lnSpc>
                <a:buFont typeface="Arial"/>
                <a:buChar char="▸"/>
              </a:pPr>
              <a:r>
                <a:rPr lang="en-US" sz="2000">
                  <a:solidFill>
                    <a:srgbClr val="FFFFFF"/>
                  </a:solidFill>
                </a:rPr>
                <a:t>Reduces position sizes</a:t>
              </a:r>
            </a:p>
            <a:p>
              <a:pPr marL="180000" indent="-180000" algn="l">
                <a:lnSpc>
                  <a:spcPct val="150000"/>
                </a:lnSpc>
                <a:buFont typeface="Arial"/>
                <a:buChar char="▸"/>
              </a:pPr>
              <a:r>
                <a:rPr lang="en-US" sz="2000">
                  <a:solidFill>
                    <a:srgbClr val="FFFFFF"/>
                  </a:solidFill>
                </a:rPr>
                <a:t>→ Triggered when short-term return &lt; 0</a:t>
              </a:r>
            </a:p>
          </p:txBody>
        </p:sp>
        <p:sp>
          <p:nvSpPr>
            <p:cNvPr id="40" name="P2"/>
            <p:cNvSpPr/>
            <p:nvPr/>
          </p:nvSpPr>
          <p:spPr>
            <a:xfrm>
              <a:off x="7883612" y="1168400"/>
              <a:ext cx="3583459" cy="3910227"/>
            </a:xfrm>
            <a:prstGeom prst="rect">
              <a:avLst/>
            </a:prstGeom>
            <a:solidFill>
              <a:srgbClr val="1A7A4A"/>
            </a:solidFill>
            <a:ln>
              <a:noFill/>
            </a:ln>
          </p:spPr>
          <p:txBody>
            <a:bodyPr lIns="144000" tIns="0" rIns="108000" anchor="t"/>
            <a:lstStyle/>
            <a:p>
              <a:pPr algn="ctr">
                <a:lnSpc>
                  <a:spcPct val="150000"/>
                </a:lnSpc>
                <a:buNone/>
              </a:pPr>
              <a:r>
                <a:rPr lang="en-US" sz="2800" b="1">
                  <a:solidFill>
                    <a:srgbClr val="FFFFFF"/>
                  </a:solidFill>
                </a:rPr>
                <a:t>Self-Adaptive ★</a:t>
              </a:r>
            </a:p>
            <a:p>
              <a:pPr algn="ctr">
                <a:lnSpc>
                  <a:spcPct val="150000"/>
                </a:lnSpc>
                <a:buNone/>
              </a:pPr>
              <a:r>
                <a:rPr lang="en-US" sz="2000" i="1">
                  <a:solidFill>
                    <a:srgbClr val="D4DCF0"/>
                  </a:solidFill>
                </a:rPr>
                <a:t>Dynamic - the key innovation</a:t>
              </a:r>
              <a:endParaRPr lang="en-US" sz="1200">
                <a:solidFill>
                  <a:srgbClr val="8090A8"/>
                </a:solidFill>
              </a:endParaRPr>
            </a:p>
            <a:p>
              <a:pPr marL="180000" indent="-180000" algn="l">
                <a:lnSpc>
                  <a:spcPct val="150000"/>
                </a:lnSpc>
                <a:buFont typeface="Arial"/>
                <a:buChar char="▸"/>
              </a:pPr>
              <a:r>
                <a:rPr lang="en-US" sz="2000">
                  <a:solidFill>
                    <a:srgbClr val="FFFFFF"/>
                  </a:solidFill>
                </a:rPr>
                <a:t>Monitors short-term cumulative return</a:t>
              </a:r>
            </a:p>
            <a:p>
              <a:pPr marL="180000" indent="-180000" algn="l">
                <a:lnSpc>
                  <a:spcPct val="150000"/>
                </a:lnSpc>
                <a:buFont typeface="Arial"/>
                <a:buChar char="▸"/>
              </a:pPr>
              <a:r>
                <a:rPr lang="en-US" sz="2000">
                  <a:solidFill>
                    <a:srgbClr val="FFFFFF"/>
                  </a:solidFill>
                </a:rPr>
                <a:t>Switches persona based on performance</a:t>
              </a:r>
            </a:p>
            <a:p>
              <a:pPr marL="180000" indent="-180000" algn="l">
                <a:lnSpc>
                  <a:spcPct val="150000"/>
                </a:lnSpc>
                <a:buFont typeface="Arial"/>
                <a:buChar char="▸"/>
              </a:pPr>
              <a:r>
                <a:rPr lang="en-US" sz="2000">
                  <a:solidFill>
                    <a:srgbClr val="FFFFFF"/>
                  </a:solidFill>
                </a:rPr>
                <a:t>Rewrites its own system prompt mid-game</a:t>
              </a:r>
            </a:p>
          </p:txBody>
        </p:sp>
      </p:grpSp>
      <p:sp>
        <p:nvSpPr>
          <p:cNvPr id="60" name="Rule"/>
          <p:cNvSpPr/>
          <p:nvPr/>
        </p:nvSpPr>
        <p:spPr>
          <a:xfrm>
            <a:off x="609600" y="5461000"/>
            <a:ext cx="10972800" cy="660400"/>
          </a:xfrm>
          <a:prstGeom prst="rect">
            <a:avLst/>
          </a:prstGeom>
          <a:solidFill>
            <a:srgbClr val="F0F2F7"/>
          </a:solidFill>
          <a:ln>
            <a:noFill/>
          </a:ln>
        </p:spPr>
        <p:txBody>
          <a:bodyPr lIns="240000" anchor="ctr"/>
          <a:lstStyle/>
          <a:p>
            <a:pPr algn="ctr">
              <a:buNone/>
            </a:pPr>
            <a:r>
              <a:rPr lang="en-US" sz="2400" b="1">
                <a:solidFill>
                  <a:srgbClr val="1A2744"/>
                </a:solidFill>
              </a:rPr>
              <a:t>Switching rule: </a:t>
            </a:r>
            <a:r>
              <a:rPr lang="en-US" sz="2400">
                <a:solidFill>
                  <a:srgbClr val="2C3E50"/>
                </a:solidFill>
              </a:rPr>
              <a:t>if short-term return </a:t>
            </a:r>
            <a:r>
              <a:rPr lang="en-US" sz="2400" b="1">
                <a:solidFill>
                  <a:srgbClr val="B03020"/>
                </a:solidFill>
              </a:rPr>
              <a:t>&lt; 0</a:t>
            </a:r>
            <a:r>
              <a:rPr lang="en-US" sz="2400">
                <a:solidFill>
                  <a:srgbClr val="2C3E50"/>
                </a:solidFill>
              </a:rPr>
              <a:t> → Risk-Averse  |  if </a:t>
            </a:r>
            <a:r>
              <a:rPr lang="en-US" sz="2400" b="1">
                <a:solidFill>
                  <a:srgbClr val="1A7A4A"/>
                </a:solidFill>
              </a:rPr>
              <a:t>&gt; 0</a:t>
            </a:r>
            <a:r>
              <a:rPr lang="en-US" sz="2400">
                <a:solidFill>
                  <a:srgbClr val="2C3E50"/>
                </a:solidFill>
              </a:rPr>
              <a:t> → Risk-Seeking  | </a:t>
            </a:r>
            <a:br>
              <a:rPr lang="en-US" sz="2400">
                <a:solidFill>
                  <a:srgbClr val="2C3E50"/>
                </a:solidFill>
              </a:rPr>
            </a:br>
            <a:r>
              <a:rPr lang="en-US" sz="2400">
                <a:solidFill>
                  <a:srgbClr val="2C3E50"/>
                </a:solidFill>
              </a:rPr>
              <a:t> The Framework injects the appropriate risk persona into the prompt mid-game</a:t>
            </a:r>
          </a:p>
        </p:txBody>
      </p:sp>
    </p:spTree>
    <p:extLst>
      <p:ext uri="{BB962C8B-B14F-4D97-AF65-F5344CB8AC3E}">
        <p14:creationId xmlns:p14="http://schemas.microsoft.com/office/powerpoint/2010/main" val="3125543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1EE8E4-DC2D-974C-71B9-ACE8F1F1241C}"/>
              </a:ext>
            </a:extLst>
          </p:cNvPr>
          <p:cNvPicPr>
            <a:picLocks noChangeAspect="1"/>
          </p:cNvPicPr>
          <p:nvPr/>
        </p:nvPicPr>
        <p:blipFill>
          <a:blip r:embed="rId2"/>
          <a:stretch>
            <a:fillRect/>
          </a:stretch>
        </p:blipFill>
        <p:spPr>
          <a:xfrm>
            <a:off x="3239" y="0"/>
            <a:ext cx="12185522" cy="6858000"/>
          </a:xfrm>
          <a:prstGeom prst="rect">
            <a:avLst/>
          </a:prstGeom>
        </p:spPr>
      </p:pic>
      <p:sp>
        <p:nvSpPr>
          <p:cNvPr id="8" name="מלבן 7">
            <a:extLst>
              <a:ext uri="{FF2B5EF4-FFF2-40B4-BE49-F238E27FC236}">
                <a16:creationId xmlns:a16="http://schemas.microsoft.com/office/drawing/2014/main" id="{02250676-6EE1-CA01-0391-A8F3C5F87DDE}"/>
              </a:ext>
            </a:extLst>
          </p:cNvPr>
          <p:cNvSpPr/>
          <p:nvPr/>
        </p:nvSpPr>
        <p:spPr>
          <a:xfrm>
            <a:off x="7105135" y="0"/>
            <a:ext cx="3015049" cy="667265"/>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b="1">
              <a:solidFill>
                <a:srgbClr val="000512"/>
              </a:solidFill>
            </a:endParaRPr>
          </a:p>
        </p:txBody>
      </p:sp>
      <p:sp>
        <p:nvSpPr>
          <p:cNvPr id="9" name="תיבת טקסט 8">
            <a:extLst>
              <a:ext uri="{FF2B5EF4-FFF2-40B4-BE49-F238E27FC236}">
                <a16:creationId xmlns:a16="http://schemas.microsoft.com/office/drawing/2014/main" id="{65288E66-08D3-4301-6797-7B594A18E972}"/>
              </a:ext>
            </a:extLst>
          </p:cNvPr>
          <p:cNvSpPr txBox="1"/>
          <p:nvPr/>
        </p:nvSpPr>
        <p:spPr>
          <a:xfrm>
            <a:off x="7080421" y="-37070"/>
            <a:ext cx="1705233" cy="769441"/>
          </a:xfrm>
          <a:prstGeom prst="rect">
            <a:avLst/>
          </a:prstGeom>
          <a:noFill/>
        </p:spPr>
        <p:txBody>
          <a:bodyPr wrap="square" rtlCol="1">
            <a:spAutoFit/>
          </a:bodyPr>
          <a:lstStyle/>
          <a:p>
            <a:r>
              <a:rPr lang="en-US" sz="4400" b="1">
                <a:solidFill>
                  <a:srgbClr val="000512"/>
                </a:solidFill>
              </a:rPr>
              <a:t>Flow</a:t>
            </a:r>
            <a:endParaRPr lang="he-IL" sz="4400" b="1">
              <a:solidFill>
                <a:srgbClr val="000512"/>
              </a:solidFill>
            </a:endParaRPr>
          </a:p>
        </p:txBody>
      </p:sp>
    </p:spTree>
    <p:extLst>
      <p:ext uri="{BB962C8B-B14F-4D97-AF65-F5344CB8AC3E}">
        <p14:creationId xmlns:p14="http://schemas.microsoft.com/office/powerpoint/2010/main" val="1826951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2 - Methodology</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The Data Pipeline</a:t>
            </a:r>
          </a:p>
        </p:txBody>
      </p:sp>
      <p:sp>
        <p:nvSpPr>
          <p:cNvPr id="20" name="S0"/>
          <p:cNvSpPr/>
          <p:nvPr/>
        </p:nvSpPr>
        <p:spPr>
          <a:xfrm>
            <a:off x="429846" y="1155700"/>
            <a:ext cx="2336800" cy="4064000"/>
          </a:xfrm>
          <a:prstGeom prst="rect">
            <a:avLst/>
          </a:prstGeom>
          <a:solidFill>
            <a:srgbClr val="1A2744"/>
          </a:solidFill>
          <a:ln>
            <a:noFill/>
          </a:ln>
        </p:spPr>
        <p:txBody>
          <a:bodyPr lIns="180000" tIns="180000" anchor="t"/>
          <a:lstStyle/>
          <a:p>
            <a:pPr algn="ctr">
              <a:buNone/>
            </a:pPr>
            <a:r>
              <a:rPr lang="en-US" sz="4000" b="1" dirty="0">
                <a:solidFill>
                  <a:srgbClr val="C9A84C"/>
                </a:solidFill>
              </a:rPr>
              <a:t>1</a:t>
            </a:r>
          </a:p>
          <a:p>
            <a:pPr algn="ctr">
              <a:buNone/>
            </a:pPr>
            <a:r>
              <a:rPr lang="en-US" sz="2800" b="1" dirty="0">
                <a:solidFill>
                  <a:srgbClr val="FFFFFF"/>
                </a:solidFill>
              </a:rPr>
              <a:t>Fetch &amp; summary</a:t>
            </a:r>
          </a:p>
          <a:p>
            <a:pPr algn="ctr">
              <a:buNone/>
            </a:pPr>
            <a:r>
              <a:rPr lang="en-US" i="1" dirty="0">
                <a:solidFill>
                  <a:srgbClr val="A0B4D6"/>
                </a:solidFill>
              </a:rPr>
              <a:t>Sources</a:t>
            </a:r>
          </a:p>
          <a:p>
            <a:pPr algn="l">
              <a:buNone/>
            </a:pPr>
            <a:r>
              <a:rPr lang="en-US" sz="1100" dirty="0">
                <a:solidFill>
                  <a:srgbClr val="8090A8"/>
                </a:solidFill>
              </a:rPr>
              <a:t> </a:t>
            </a:r>
          </a:p>
          <a:p>
            <a:pPr marL="160000" indent="-160000" algn="l">
              <a:buFont typeface="Arial"/>
              <a:buChar char="▸"/>
            </a:pPr>
            <a:r>
              <a:rPr lang="en-US" dirty="0">
                <a:solidFill>
                  <a:srgbClr val="D4DCF0"/>
                </a:solidFill>
              </a:rPr>
              <a:t>Alpaca News API - Daily text headlines</a:t>
            </a:r>
          </a:p>
          <a:p>
            <a:pPr marL="160000" indent="-160000" algn="l">
              <a:buFont typeface="Arial"/>
              <a:buChar char="▸"/>
            </a:pPr>
            <a:r>
              <a:rPr lang="en-US" dirty="0">
                <a:solidFill>
                  <a:srgbClr val="D4DCF0"/>
                </a:solidFill>
              </a:rPr>
              <a:t>SEC EDGAR</a:t>
            </a:r>
          </a:p>
          <a:p>
            <a:pPr marL="160000" indent="-160000" algn="l">
              <a:buFont typeface="Arial"/>
              <a:buChar char="▸"/>
            </a:pPr>
            <a:r>
              <a:rPr lang="en-US" dirty="0">
                <a:solidFill>
                  <a:srgbClr val="D4DCF0"/>
                </a:solidFill>
              </a:rPr>
              <a:t>10-Q / 10-K filings</a:t>
            </a:r>
          </a:p>
          <a:p>
            <a:pPr marL="160000" indent="-160000" algn="l">
              <a:buFont typeface="Arial"/>
              <a:buChar char="▸"/>
            </a:pPr>
            <a:r>
              <a:rPr lang="en-US" dirty="0">
                <a:solidFill>
                  <a:srgbClr val="D4DCF0"/>
                </a:solidFill>
              </a:rPr>
              <a:t>yfinance</a:t>
            </a:r>
          </a:p>
          <a:p>
            <a:pPr marL="160000" indent="-160000" algn="l">
              <a:buFont typeface="Arial"/>
              <a:buChar char="▸"/>
            </a:pPr>
            <a:r>
              <a:rPr lang="en-US" dirty="0">
                <a:solidFill>
                  <a:srgbClr val="D4DCF0"/>
                </a:solidFill>
              </a:rPr>
              <a:t>Summary by LLM</a:t>
            </a:r>
          </a:p>
        </p:txBody>
      </p:sp>
      <p:sp>
        <p:nvSpPr>
          <p:cNvPr id="30" name="S1"/>
          <p:cNvSpPr/>
          <p:nvPr/>
        </p:nvSpPr>
        <p:spPr>
          <a:xfrm>
            <a:off x="3251834" y="1168400"/>
            <a:ext cx="2336800" cy="4064000"/>
          </a:xfrm>
          <a:prstGeom prst="rect">
            <a:avLst/>
          </a:prstGeom>
          <a:solidFill>
            <a:srgbClr val="2E4272"/>
          </a:solidFill>
          <a:ln>
            <a:noFill/>
          </a:ln>
        </p:spPr>
        <p:txBody>
          <a:bodyPr lIns="180000" tIns="180000" anchor="t"/>
          <a:lstStyle/>
          <a:p>
            <a:pPr algn="ctr">
              <a:buNone/>
            </a:pPr>
            <a:r>
              <a:rPr lang="en-US" sz="4000" b="1">
                <a:solidFill>
                  <a:srgbClr val="C9A84C"/>
                </a:solidFill>
              </a:rPr>
              <a:t>2</a:t>
            </a:r>
          </a:p>
          <a:p>
            <a:pPr algn="ctr">
              <a:buNone/>
            </a:pPr>
            <a:r>
              <a:rPr lang="en-US" sz="2800" b="1">
                <a:solidFill>
                  <a:srgbClr val="FFFFFF"/>
                </a:solidFill>
              </a:rPr>
              <a:t>Sentiment</a:t>
            </a:r>
          </a:p>
          <a:p>
            <a:pPr algn="ctr">
              <a:buNone/>
            </a:pPr>
            <a:r>
              <a:rPr lang="en-US" i="1" err="1">
                <a:solidFill>
                  <a:srgbClr val="A0B4D6"/>
                </a:solidFill>
              </a:rPr>
              <a:t>FinBERT</a:t>
            </a:r>
            <a:endParaRPr lang="en-US" i="1">
              <a:solidFill>
                <a:srgbClr val="A0B4D6"/>
              </a:solidFill>
            </a:endParaRPr>
          </a:p>
          <a:p>
            <a:pPr algn="l">
              <a:buNone/>
            </a:pPr>
            <a:r>
              <a:rPr lang="en-US" sz="1100">
                <a:solidFill>
                  <a:srgbClr val="8090A8"/>
                </a:solidFill>
              </a:rPr>
              <a:t> </a:t>
            </a:r>
          </a:p>
          <a:p>
            <a:pPr marL="160000" indent="-160000" algn="l">
              <a:buFont typeface="Arial"/>
              <a:buChar char="▸"/>
            </a:pPr>
            <a:r>
              <a:rPr lang="en-US">
                <a:solidFill>
                  <a:srgbClr val="D4DCF0"/>
                </a:solidFill>
              </a:rPr>
              <a:t>Transformer fine-tuned on financial text</a:t>
            </a:r>
          </a:p>
          <a:p>
            <a:pPr marL="160000" indent="-160000" algn="l">
              <a:buFont typeface="Arial"/>
              <a:buChar char="▸"/>
            </a:pPr>
            <a:r>
              <a:rPr lang="en-US">
                <a:solidFill>
                  <a:srgbClr val="D4DCF0"/>
                </a:solidFill>
              </a:rPr>
              <a:t>Outputs [POS/NEU/NEG]</a:t>
            </a:r>
          </a:p>
          <a:p>
            <a:pPr marL="160000" indent="-160000" algn="l">
              <a:buFont typeface="Arial"/>
              <a:buChar char="▸"/>
            </a:pPr>
            <a:r>
              <a:rPr lang="en-US">
                <a:solidFill>
                  <a:srgbClr val="D4DCF0"/>
                </a:solidFill>
              </a:rPr>
              <a:t>Label appended to text</a:t>
            </a:r>
          </a:p>
        </p:txBody>
      </p:sp>
      <p:sp>
        <p:nvSpPr>
          <p:cNvPr id="40" name="S2"/>
          <p:cNvSpPr/>
          <p:nvPr/>
        </p:nvSpPr>
        <p:spPr>
          <a:xfrm>
            <a:off x="6072554" y="1155700"/>
            <a:ext cx="2336800" cy="4064000"/>
          </a:xfrm>
          <a:prstGeom prst="rect">
            <a:avLst/>
          </a:prstGeom>
          <a:solidFill>
            <a:srgbClr val="2E4272"/>
          </a:solidFill>
          <a:ln>
            <a:noFill/>
          </a:ln>
        </p:spPr>
        <p:txBody>
          <a:bodyPr lIns="180000" tIns="180000" anchor="t"/>
          <a:lstStyle/>
          <a:p>
            <a:pPr algn="ctr">
              <a:buNone/>
            </a:pPr>
            <a:r>
              <a:rPr lang="en-US" sz="4000" b="1">
                <a:solidFill>
                  <a:srgbClr val="C9A84C"/>
                </a:solidFill>
              </a:rPr>
              <a:t>3</a:t>
            </a:r>
          </a:p>
          <a:p>
            <a:pPr algn="ctr">
              <a:buNone/>
            </a:pPr>
            <a:r>
              <a:rPr lang="en-US" sz="2800" b="1">
                <a:solidFill>
                  <a:srgbClr val="FFFFFF"/>
                </a:solidFill>
              </a:rPr>
              <a:t>Embed</a:t>
            </a:r>
          </a:p>
          <a:p>
            <a:pPr algn="ctr">
              <a:buNone/>
            </a:pPr>
            <a:r>
              <a:rPr lang="en-US" i="1">
                <a:solidFill>
                  <a:srgbClr val="A0B4D6"/>
                </a:solidFill>
              </a:rPr>
              <a:t>Vectorize</a:t>
            </a:r>
          </a:p>
          <a:p>
            <a:pPr algn="l">
              <a:buNone/>
            </a:pPr>
            <a:r>
              <a:rPr lang="en-US" sz="1100">
                <a:solidFill>
                  <a:srgbClr val="8090A8"/>
                </a:solidFill>
              </a:rPr>
              <a:t> </a:t>
            </a:r>
          </a:p>
          <a:p>
            <a:pPr marL="160000" indent="-160000" algn="l">
              <a:buFont typeface="Arial"/>
              <a:buChar char="▸"/>
            </a:pPr>
            <a:r>
              <a:rPr lang="en-US">
                <a:solidFill>
                  <a:srgbClr val="D4DCF0"/>
                </a:solidFill>
              </a:rPr>
              <a:t>OpenAI ada-002</a:t>
            </a:r>
          </a:p>
          <a:p>
            <a:pPr marL="160000" indent="-160000" algn="l">
              <a:buFont typeface="Arial"/>
              <a:buChar char="▸"/>
            </a:pPr>
            <a:r>
              <a:rPr lang="en-US">
                <a:solidFill>
                  <a:srgbClr val="D4DCF0"/>
                </a:solidFill>
              </a:rPr>
              <a:t>Convert text → vector</a:t>
            </a:r>
          </a:p>
          <a:p>
            <a:pPr marL="160000" indent="-160000" algn="l">
              <a:buFont typeface="Arial"/>
              <a:buChar char="▸"/>
            </a:pPr>
            <a:r>
              <a:rPr lang="en-US">
                <a:solidFill>
                  <a:srgbClr val="D4DCF0"/>
                </a:solidFill>
              </a:rPr>
              <a:t>Semantic similarity</a:t>
            </a:r>
          </a:p>
          <a:p>
            <a:pPr marL="160000" indent="-160000" algn="l">
              <a:buFont typeface="Arial"/>
              <a:buChar char="▸"/>
            </a:pPr>
            <a:r>
              <a:rPr lang="en-US">
                <a:solidFill>
                  <a:srgbClr val="D4DCF0"/>
                </a:solidFill>
              </a:rPr>
              <a:t>Enables FAISS lookup</a:t>
            </a:r>
          </a:p>
        </p:txBody>
      </p:sp>
      <p:sp>
        <p:nvSpPr>
          <p:cNvPr id="45" name="Arr2"/>
          <p:cNvSpPr/>
          <p:nvPr/>
        </p:nvSpPr>
        <p:spPr>
          <a:xfrm>
            <a:off x="8612554" y="2971800"/>
            <a:ext cx="203200" cy="406400"/>
          </a:xfrm>
          <a:prstGeom prst="rect">
            <a:avLst/>
          </a:prstGeom>
          <a:noFill/>
          <a:ln>
            <a:noFill/>
          </a:ln>
        </p:spPr>
        <p:txBody>
          <a:bodyPr lIns="0" anchor="ctr"/>
          <a:lstStyle/>
          <a:p>
            <a:pPr algn="ctr">
              <a:buNone/>
            </a:pPr>
            <a:r>
              <a:rPr lang="en-US" sz="3200" b="1">
                <a:solidFill>
                  <a:srgbClr val="C9A84C"/>
                </a:solidFill>
              </a:rPr>
              <a:t>→</a:t>
            </a:r>
          </a:p>
        </p:txBody>
      </p:sp>
      <p:sp>
        <p:nvSpPr>
          <p:cNvPr id="50" name="S3"/>
          <p:cNvSpPr/>
          <p:nvPr/>
        </p:nvSpPr>
        <p:spPr>
          <a:xfrm>
            <a:off x="8995508" y="1168400"/>
            <a:ext cx="2336800" cy="4064000"/>
          </a:xfrm>
          <a:prstGeom prst="rect">
            <a:avLst/>
          </a:prstGeom>
          <a:solidFill>
            <a:srgbClr val="1A2744"/>
          </a:solidFill>
          <a:ln>
            <a:noFill/>
          </a:ln>
        </p:spPr>
        <p:txBody>
          <a:bodyPr lIns="180000" tIns="180000" anchor="t"/>
          <a:lstStyle/>
          <a:p>
            <a:pPr algn="ctr">
              <a:buNone/>
            </a:pPr>
            <a:r>
              <a:rPr lang="en-US" sz="4000" b="1">
                <a:solidFill>
                  <a:srgbClr val="C9A84C"/>
                </a:solidFill>
              </a:rPr>
              <a:t>4</a:t>
            </a:r>
          </a:p>
          <a:p>
            <a:pPr algn="ctr">
              <a:buNone/>
            </a:pPr>
            <a:r>
              <a:rPr lang="en-US" sz="2800" b="1">
                <a:solidFill>
                  <a:srgbClr val="FFFFFF"/>
                </a:solidFill>
              </a:rPr>
              <a:t>Store</a:t>
            </a:r>
          </a:p>
          <a:p>
            <a:pPr algn="ctr">
              <a:buNone/>
            </a:pPr>
            <a:r>
              <a:rPr lang="en-US" i="1">
                <a:solidFill>
                  <a:srgbClr val="A0B4D6"/>
                </a:solidFill>
              </a:rPr>
              <a:t>FAISS</a:t>
            </a:r>
          </a:p>
          <a:p>
            <a:pPr algn="l">
              <a:buNone/>
            </a:pPr>
            <a:r>
              <a:rPr lang="en-US" sz="1100">
                <a:solidFill>
                  <a:srgbClr val="8090A8"/>
                </a:solidFill>
              </a:rPr>
              <a:t> </a:t>
            </a:r>
          </a:p>
          <a:p>
            <a:pPr marL="160000" indent="-160000" algn="l">
              <a:buFont typeface="Arial"/>
              <a:buChar char="▸"/>
            </a:pPr>
            <a:r>
              <a:rPr lang="en-US">
                <a:solidFill>
                  <a:srgbClr val="D4DCF0"/>
                </a:solidFill>
              </a:rPr>
              <a:t>Vector database</a:t>
            </a:r>
          </a:p>
          <a:p>
            <a:pPr marL="160000" indent="-160000" algn="l">
              <a:buFont typeface="Arial"/>
              <a:buChar char="▸"/>
            </a:pPr>
            <a:r>
              <a:rPr lang="en-US">
                <a:solidFill>
                  <a:srgbClr val="D4DCF0"/>
                </a:solidFill>
              </a:rPr>
              <a:t>Separate index per layer</a:t>
            </a:r>
          </a:p>
          <a:p>
            <a:pPr marL="160000" indent="-160000" algn="l">
              <a:buFont typeface="Arial"/>
              <a:buChar char="▸"/>
            </a:pPr>
            <a:r>
              <a:rPr lang="en-US">
                <a:solidFill>
                  <a:srgbClr val="D4DCF0"/>
                </a:solidFill>
              </a:rPr>
              <a:t>Efficient top-K retrieval</a:t>
            </a:r>
          </a:p>
          <a:p>
            <a:pPr marL="160000" indent="-160000" algn="l">
              <a:buFont typeface="Arial"/>
              <a:buChar char="▸"/>
            </a:pPr>
            <a:r>
              <a:rPr lang="en-US">
                <a:solidFill>
                  <a:srgbClr val="D4DCF0"/>
                </a:solidFill>
              </a:rPr>
              <a:t>Different params per layer</a:t>
            </a:r>
          </a:p>
        </p:txBody>
      </p:sp>
      <p:sp>
        <p:nvSpPr>
          <p:cNvPr id="4" name="Arr2">
            <a:extLst>
              <a:ext uri="{FF2B5EF4-FFF2-40B4-BE49-F238E27FC236}">
                <a16:creationId xmlns:a16="http://schemas.microsoft.com/office/drawing/2014/main" id="{769B2FC9-A54A-7BF2-6FA7-FFAF1399984F}"/>
              </a:ext>
            </a:extLst>
          </p:cNvPr>
          <p:cNvSpPr/>
          <p:nvPr/>
        </p:nvSpPr>
        <p:spPr>
          <a:xfrm>
            <a:off x="2908274" y="2997200"/>
            <a:ext cx="203200" cy="406400"/>
          </a:xfrm>
          <a:prstGeom prst="rect">
            <a:avLst/>
          </a:prstGeom>
          <a:noFill/>
          <a:ln>
            <a:noFill/>
          </a:ln>
        </p:spPr>
        <p:txBody>
          <a:bodyPr lIns="0" anchor="ctr"/>
          <a:lstStyle/>
          <a:p>
            <a:pPr algn="ctr">
              <a:buNone/>
            </a:pPr>
            <a:r>
              <a:rPr lang="en-US" sz="3200" b="1">
                <a:solidFill>
                  <a:srgbClr val="C9A84C"/>
                </a:solidFill>
              </a:rPr>
              <a:t>→</a:t>
            </a:r>
          </a:p>
        </p:txBody>
      </p:sp>
      <p:sp>
        <p:nvSpPr>
          <p:cNvPr id="5" name="Arr2">
            <a:extLst>
              <a:ext uri="{FF2B5EF4-FFF2-40B4-BE49-F238E27FC236}">
                <a16:creationId xmlns:a16="http://schemas.microsoft.com/office/drawing/2014/main" id="{BB62FA93-F5A2-85C3-B1DA-54A434E362EF}"/>
              </a:ext>
            </a:extLst>
          </p:cNvPr>
          <p:cNvSpPr/>
          <p:nvPr/>
        </p:nvSpPr>
        <p:spPr>
          <a:xfrm>
            <a:off x="5791834" y="2971800"/>
            <a:ext cx="203200" cy="406400"/>
          </a:xfrm>
          <a:prstGeom prst="rect">
            <a:avLst/>
          </a:prstGeom>
          <a:noFill/>
          <a:ln>
            <a:noFill/>
          </a:ln>
        </p:spPr>
        <p:txBody>
          <a:bodyPr lIns="0" anchor="ctr"/>
          <a:lstStyle/>
          <a:p>
            <a:pPr algn="ctr">
              <a:buNone/>
            </a:pPr>
            <a:r>
              <a:rPr lang="en-US" sz="3200" b="1">
                <a:solidFill>
                  <a:srgbClr val="C9A84C"/>
                </a:solidFill>
              </a:rPr>
              <a:t>→</a:t>
            </a:r>
          </a:p>
        </p:txBody>
      </p:sp>
    </p:spTree>
    <p:extLst>
      <p:ext uri="{BB962C8B-B14F-4D97-AF65-F5344CB8AC3E}">
        <p14:creationId xmlns:p14="http://schemas.microsoft.com/office/powerpoint/2010/main" val="404478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8AA9D-57D7-9976-A794-5CC2B51EDFD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B9410D-3833-1D50-BFF1-9D96FEC2795B}"/>
              </a:ext>
            </a:extLst>
          </p:cNvPr>
          <p:cNvPicPr>
            <a:picLocks noChangeAspect="1"/>
          </p:cNvPicPr>
          <p:nvPr/>
        </p:nvPicPr>
        <p:blipFill>
          <a:blip r:embed="rId2"/>
          <a:stretch>
            <a:fillRect/>
          </a:stretch>
        </p:blipFill>
        <p:spPr>
          <a:xfrm>
            <a:off x="0" y="0"/>
            <a:ext cx="12185522" cy="6858000"/>
          </a:xfrm>
          <a:prstGeom prst="rect">
            <a:avLst/>
          </a:prstGeom>
        </p:spPr>
      </p:pic>
      <p:sp>
        <p:nvSpPr>
          <p:cNvPr id="8" name="מלבן 7">
            <a:extLst>
              <a:ext uri="{FF2B5EF4-FFF2-40B4-BE49-F238E27FC236}">
                <a16:creationId xmlns:a16="http://schemas.microsoft.com/office/drawing/2014/main" id="{9ADB6D79-98D7-FAE8-34AD-852D43F64C4F}"/>
              </a:ext>
            </a:extLst>
          </p:cNvPr>
          <p:cNvSpPr/>
          <p:nvPr/>
        </p:nvSpPr>
        <p:spPr>
          <a:xfrm>
            <a:off x="7105135" y="0"/>
            <a:ext cx="3015049" cy="667265"/>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b="1">
              <a:solidFill>
                <a:srgbClr val="000512"/>
              </a:solidFill>
            </a:endParaRPr>
          </a:p>
        </p:txBody>
      </p:sp>
      <p:sp>
        <p:nvSpPr>
          <p:cNvPr id="9" name="תיבת טקסט 8">
            <a:extLst>
              <a:ext uri="{FF2B5EF4-FFF2-40B4-BE49-F238E27FC236}">
                <a16:creationId xmlns:a16="http://schemas.microsoft.com/office/drawing/2014/main" id="{BF1FCF7A-FF29-C0A2-94F9-699C3853D229}"/>
              </a:ext>
            </a:extLst>
          </p:cNvPr>
          <p:cNvSpPr txBox="1"/>
          <p:nvPr/>
        </p:nvSpPr>
        <p:spPr>
          <a:xfrm>
            <a:off x="7080421" y="-37070"/>
            <a:ext cx="1705233" cy="769441"/>
          </a:xfrm>
          <a:prstGeom prst="rect">
            <a:avLst/>
          </a:prstGeom>
          <a:noFill/>
        </p:spPr>
        <p:txBody>
          <a:bodyPr wrap="square" rtlCol="1">
            <a:spAutoFit/>
          </a:bodyPr>
          <a:lstStyle/>
          <a:p>
            <a:r>
              <a:rPr lang="en-US" sz="4400" b="1">
                <a:solidFill>
                  <a:srgbClr val="000512"/>
                </a:solidFill>
              </a:rPr>
              <a:t>Flow</a:t>
            </a:r>
            <a:endParaRPr lang="he-IL" sz="4400" b="1">
              <a:solidFill>
                <a:srgbClr val="000512"/>
              </a:solidFill>
            </a:endParaRPr>
          </a:p>
        </p:txBody>
      </p:sp>
      <p:pic>
        <p:nvPicPr>
          <p:cNvPr id="4" name="גרפיקה 3" descr="סימון תג 1 עם מילוי מלא">
            <a:extLst>
              <a:ext uri="{FF2B5EF4-FFF2-40B4-BE49-F238E27FC236}">
                <a16:creationId xmlns:a16="http://schemas.microsoft.com/office/drawing/2014/main" id="{2D971D99-A328-9FA1-8A7F-878189AA9E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3287" y="553987"/>
            <a:ext cx="700226" cy="700226"/>
          </a:xfrm>
          <a:prstGeom prst="rect">
            <a:avLst/>
          </a:prstGeom>
        </p:spPr>
      </p:pic>
    </p:spTree>
    <p:extLst>
      <p:ext uri="{BB962C8B-B14F-4D97-AF65-F5344CB8AC3E}">
        <p14:creationId xmlns:p14="http://schemas.microsoft.com/office/powerpoint/2010/main" val="3219768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2 - Methodology</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The Layered Memory Module</a:t>
            </a:r>
          </a:p>
        </p:txBody>
      </p:sp>
      <p:sp>
        <p:nvSpPr>
          <p:cNvPr id="20" name="H0"/>
          <p:cNvSpPr/>
          <p:nvPr/>
        </p:nvSpPr>
        <p:spPr>
          <a:xfrm>
            <a:off x="609600" y="1168400"/>
            <a:ext cx="2540000" cy="482600"/>
          </a:xfrm>
          <a:prstGeom prst="rect">
            <a:avLst/>
          </a:prstGeom>
          <a:solidFill>
            <a:srgbClr val="1A2744"/>
          </a:solidFill>
          <a:ln>
            <a:noFill/>
          </a:ln>
        </p:spPr>
        <p:txBody>
          <a:bodyPr lIns="120000" anchor="ctr"/>
          <a:lstStyle/>
          <a:p>
            <a:pPr algn="ctr">
              <a:buNone/>
            </a:pPr>
            <a:r>
              <a:rPr lang="en-US" sz="2000" b="1">
                <a:solidFill>
                  <a:srgbClr val="FFFFFF"/>
                </a:solidFill>
              </a:rPr>
              <a:t>Layer</a:t>
            </a:r>
          </a:p>
        </p:txBody>
      </p:sp>
      <p:sp>
        <p:nvSpPr>
          <p:cNvPr id="21" name="H1"/>
          <p:cNvSpPr/>
          <p:nvPr/>
        </p:nvSpPr>
        <p:spPr>
          <a:xfrm>
            <a:off x="3225800" y="1168400"/>
            <a:ext cx="2032000" cy="482600"/>
          </a:xfrm>
          <a:prstGeom prst="rect">
            <a:avLst/>
          </a:prstGeom>
          <a:solidFill>
            <a:srgbClr val="1A2744"/>
          </a:solidFill>
          <a:ln>
            <a:noFill/>
          </a:ln>
        </p:spPr>
        <p:txBody>
          <a:bodyPr lIns="120000" anchor="ctr"/>
          <a:lstStyle/>
          <a:p>
            <a:pPr algn="ctr">
              <a:buNone/>
            </a:pPr>
            <a:r>
              <a:rPr lang="en-US" sz="2000" b="1">
                <a:solidFill>
                  <a:srgbClr val="FFFFFF"/>
                </a:solidFill>
              </a:rPr>
              <a:t>Source Data</a:t>
            </a:r>
          </a:p>
        </p:txBody>
      </p:sp>
      <p:sp>
        <p:nvSpPr>
          <p:cNvPr id="22" name="H2"/>
          <p:cNvSpPr/>
          <p:nvPr/>
        </p:nvSpPr>
        <p:spPr>
          <a:xfrm>
            <a:off x="5334000" y="1168400"/>
            <a:ext cx="1778000" cy="482600"/>
          </a:xfrm>
          <a:prstGeom prst="rect">
            <a:avLst/>
          </a:prstGeom>
          <a:solidFill>
            <a:srgbClr val="1A2744"/>
          </a:solidFill>
          <a:ln>
            <a:noFill/>
          </a:ln>
        </p:spPr>
        <p:txBody>
          <a:bodyPr lIns="120000" anchor="ctr"/>
          <a:lstStyle/>
          <a:p>
            <a:pPr algn="ctr">
              <a:buNone/>
            </a:pPr>
            <a:r>
              <a:rPr lang="en-US" sz="2000" b="1">
                <a:solidFill>
                  <a:srgbClr val="FFFFFF"/>
                </a:solidFill>
              </a:rPr>
              <a:t>Decay Rate</a:t>
            </a:r>
          </a:p>
        </p:txBody>
      </p:sp>
      <p:sp>
        <p:nvSpPr>
          <p:cNvPr id="23" name="H3"/>
          <p:cNvSpPr/>
          <p:nvPr/>
        </p:nvSpPr>
        <p:spPr>
          <a:xfrm>
            <a:off x="7188200" y="1168400"/>
            <a:ext cx="3860800" cy="482600"/>
          </a:xfrm>
          <a:prstGeom prst="rect">
            <a:avLst/>
          </a:prstGeom>
          <a:solidFill>
            <a:srgbClr val="1A2744"/>
          </a:solidFill>
          <a:ln>
            <a:noFill/>
          </a:ln>
        </p:spPr>
        <p:txBody>
          <a:bodyPr lIns="120000" anchor="ctr"/>
          <a:lstStyle/>
          <a:p>
            <a:pPr algn="ctr">
              <a:buNone/>
            </a:pPr>
            <a:r>
              <a:rPr lang="en-US" sz="2000" b="1">
                <a:solidFill>
                  <a:srgbClr val="FFFFFF"/>
                </a:solidFill>
              </a:rPr>
              <a:t>Cognitive Analog</a:t>
            </a:r>
          </a:p>
        </p:txBody>
      </p:sp>
      <p:sp>
        <p:nvSpPr>
          <p:cNvPr id="30" name="R0C0"/>
          <p:cNvSpPr/>
          <p:nvPr/>
        </p:nvSpPr>
        <p:spPr>
          <a:xfrm>
            <a:off x="609600" y="1752600"/>
            <a:ext cx="2540000" cy="914400"/>
          </a:xfrm>
          <a:prstGeom prst="rect">
            <a:avLst/>
          </a:prstGeom>
          <a:solidFill>
            <a:srgbClr val="3B82C4"/>
          </a:solidFill>
          <a:ln>
            <a:noFill/>
          </a:ln>
        </p:spPr>
        <p:txBody>
          <a:bodyPr lIns="150000" anchor="ctr"/>
          <a:lstStyle/>
          <a:p>
            <a:pPr algn="ctr">
              <a:buNone/>
            </a:pPr>
            <a:r>
              <a:rPr lang="en-US" sz="2400" b="1">
                <a:solidFill>
                  <a:srgbClr val="FFFFFF"/>
                </a:solidFill>
              </a:rPr>
              <a:t>Shallow</a:t>
            </a:r>
          </a:p>
        </p:txBody>
      </p:sp>
      <p:sp>
        <p:nvSpPr>
          <p:cNvPr id="31" name="R0C1"/>
          <p:cNvSpPr/>
          <p:nvPr/>
        </p:nvSpPr>
        <p:spPr>
          <a:xfrm>
            <a:off x="3225800" y="1752600"/>
            <a:ext cx="2032000" cy="914400"/>
          </a:xfrm>
          <a:prstGeom prst="rect">
            <a:avLst/>
          </a:prstGeom>
          <a:solidFill>
            <a:srgbClr val="F8F9FC"/>
          </a:solidFill>
          <a:ln>
            <a:noFill/>
          </a:ln>
        </p:spPr>
        <p:txBody>
          <a:bodyPr lIns="150000" anchor="ctr"/>
          <a:lstStyle/>
          <a:p>
            <a:pPr algn="l">
              <a:buNone/>
            </a:pPr>
            <a:r>
              <a:rPr lang="en-US" sz="2000">
                <a:solidFill>
                  <a:srgbClr val="1A2744"/>
                </a:solidFill>
              </a:rPr>
              <a:t>Daily news</a:t>
            </a:r>
          </a:p>
        </p:txBody>
      </p:sp>
      <p:sp>
        <p:nvSpPr>
          <p:cNvPr id="32" name="R0C2"/>
          <p:cNvSpPr/>
          <p:nvPr/>
        </p:nvSpPr>
        <p:spPr>
          <a:xfrm>
            <a:off x="5334000" y="1752600"/>
            <a:ext cx="1778000" cy="914400"/>
          </a:xfrm>
          <a:prstGeom prst="rect">
            <a:avLst/>
          </a:prstGeom>
          <a:solidFill>
            <a:srgbClr val="F8F9FC"/>
          </a:solidFill>
          <a:ln>
            <a:noFill/>
          </a:ln>
        </p:spPr>
        <p:txBody>
          <a:bodyPr lIns="150000" anchor="ctr"/>
          <a:lstStyle/>
          <a:p>
            <a:pPr algn="l">
              <a:buNone/>
            </a:pPr>
            <a:r>
              <a:rPr lang="en-US" sz="2000" dirty="0">
                <a:solidFill>
                  <a:srgbClr val="1A2744"/>
                </a:solidFill>
              </a:rPr>
              <a:t>Fast  (14 days)</a:t>
            </a:r>
          </a:p>
        </p:txBody>
      </p:sp>
      <p:sp>
        <p:nvSpPr>
          <p:cNvPr id="33" name="R0C3"/>
          <p:cNvSpPr/>
          <p:nvPr/>
        </p:nvSpPr>
        <p:spPr>
          <a:xfrm>
            <a:off x="7188200" y="1752600"/>
            <a:ext cx="3860800" cy="914400"/>
          </a:xfrm>
          <a:prstGeom prst="rect">
            <a:avLst/>
          </a:prstGeom>
          <a:solidFill>
            <a:srgbClr val="F8F9FC"/>
          </a:solidFill>
          <a:ln>
            <a:noFill/>
          </a:ln>
        </p:spPr>
        <p:txBody>
          <a:bodyPr lIns="150000" anchor="ctr"/>
          <a:lstStyle/>
          <a:p>
            <a:pPr algn="l">
              <a:buNone/>
            </a:pPr>
            <a:r>
              <a:rPr lang="en-US" sz="2000">
                <a:solidFill>
                  <a:srgbClr val="1A2744"/>
                </a:solidFill>
              </a:rPr>
              <a:t>Short-term memory</a:t>
            </a:r>
          </a:p>
        </p:txBody>
      </p:sp>
      <p:sp>
        <p:nvSpPr>
          <p:cNvPr id="40" name="R1C0"/>
          <p:cNvSpPr/>
          <p:nvPr/>
        </p:nvSpPr>
        <p:spPr>
          <a:xfrm>
            <a:off x="609600" y="2768600"/>
            <a:ext cx="2540000" cy="914400"/>
          </a:xfrm>
          <a:prstGeom prst="rect">
            <a:avLst/>
          </a:prstGeom>
          <a:solidFill>
            <a:srgbClr val="2E4272"/>
          </a:solidFill>
          <a:ln>
            <a:noFill/>
          </a:ln>
        </p:spPr>
        <p:txBody>
          <a:bodyPr lIns="150000" anchor="ctr"/>
          <a:lstStyle/>
          <a:p>
            <a:pPr algn="ctr">
              <a:buNone/>
            </a:pPr>
            <a:r>
              <a:rPr lang="en-US" sz="2400" b="1">
                <a:solidFill>
                  <a:srgbClr val="FFFFFF"/>
                </a:solidFill>
              </a:rPr>
              <a:t>Intermediate</a:t>
            </a:r>
          </a:p>
        </p:txBody>
      </p:sp>
      <p:sp>
        <p:nvSpPr>
          <p:cNvPr id="41" name="R1C1"/>
          <p:cNvSpPr/>
          <p:nvPr/>
        </p:nvSpPr>
        <p:spPr>
          <a:xfrm>
            <a:off x="3225800" y="2768600"/>
            <a:ext cx="2032000" cy="914400"/>
          </a:xfrm>
          <a:prstGeom prst="rect">
            <a:avLst/>
          </a:prstGeom>
          <a:solidFill>
            <a:srgbClr val="F0F2F7"/>
          </a:solidFill>
          <a:ln>
            <a:noFill/>
          </a:ln>
        </p:spPr>
        <p:txBody>
          <a:bodyPr lIns="150000" anchor="ctr"/>
          <a:lstStyle/>
          <a:p>
            <a:pPr algn="l">
              <a:buNone/>
            </a:pPr>
            <a:r>
              <a:rPr lang="en-US" sz="2000">
                <a:solidFill>
                  <a:srgbClr val="1A2744"/>
                </a:solidFill>
              </a:rPr>
              <a:t>Quarterly 10-Q</a:t>
            </a:r>
          </a:p>
        </p:txBody>
      </p:sp>
      <p:sp>
        <p:nvSpPr>
          <p:cNvPr id="42" name="R1C2"/>
          <p:cNvSpPr/>
          <p:nvPr/>
        </p:nvSpPr>
        <p:spPr>
          <a:xfrm>
            <a:off x="5334000" y="2768600"/>
            <a:ext cx="1778000" cy="914400"/>
          </a:xfrm>
          <a:prstGeom prst="rect">
            <a:avLst/>
          </a:prstGeom>
          <a:solidFill>
            <a:srgbClr val="F0F2F7"/>
          </a:solidFill>
          <a:ln>
            <a:noFill/>
          </a:ln>
        </p:spPr>
        <p:txBody>
          <a:bodyPr lIns="150000" anchor="ctr"/>
          <a:lstStyle/>
          <a:p>
            <a:pPr algn="l">
              <a:buNone/>
            </a:pPr>
            <a:r>
              <a:rPr lang="en-US" sz="2000">
                <a:solidFill>
                  <a:srgbClr val="1A2744"/>
                </a:solidFill>
              </a:rPr>
              <a:t>Moderate (90 days)</a:t>
            </a:r>
          </a:p>
        </p:txBody>
      </p:sp>
      <p:sp>
        <p:nvSpPr>
          <p:cNvPr id="43" name="R1C3"/>
          <p:cNvSpPr/>
          <p:nvPr/>
        </p:nvSpPr>
        <p:spPr>
          <a:xfrm>
            <a:off x="7188200" y="2768600"/>
            <a:ext cx="3860800" cy="914400"/>
          </a:xfrm>
          <a:prstGeom prst="rect">
            <a:avLst/>
          </a:prstGeom>
          <a:solidFill>
            <a:srgbClr val="F0F2F7"/>
          </a:solidFill>
          <a:ln>
            <a:noFill/>
          </a:ln>
        </p:spPr>
        <p:txBody>
          <a:bodyPr lIns="150000" anchor="ctr"/>
          <a:lstStyle/>
          <a:p>
            <a:pPr algn="l">
              <a:buNone/>
            </a:pPr>
            <a:r>
              <a:rPr lang="en-US" sz="2000">
                <a:solidFill>
                  <a:srgbClr val="1A2744"/>
                </a:solidFill>
              </a:rPr>
              <a:t>Episodic memory</a:t>
            </a:r>
          </a:p>
        </p:txBody>
      </p:sp>
      <p:sp>
        <p:nvSpPr>
          <p:cNvPr id="50" name="R2C0"/>
          <p:cNvSpPr/>
          <p:nvPr/>
        </p:nvSpPr>
        <p:spPr>
          <a:xfrm>
            <a:off x="609600" y="3784600"/>
            <a:ext cx="2540000" cy="914400"/>
          </a:xfrm>
          <a:prstGeom prst="rect">
            <a:avLst/>
          </a:prstGeom>
          <a:solidFill>
            <a:srgbClr val="1A2744"/>
          </a:solidFill>
          <a:ln>
            <a:noFill/>
          </a:ln>
        </p:spPr>
        <p:txBody>
          <a:bodyPr lIns="150000" anchor="ctr"/>
          <a:lstStyle/>
          <a:p>
            <a:pPr algn="ctr">
              <a:buNone/>
            </a:pPr>
            <a:r>
              <a:rPr lang="en-US" sz="2400" b="1">
                <a:solidFill>
                  <a:srgbClr val="FFFFFF"/>
                </a:solidFill>
              </a:rPr>
              <a:t>Deep</a:t>
            </a:r>
          </a:p>
        </p:txBody>
      </p:sp>
      <p:sp>
        <p:nvSpPr>
          <p:cNvPr id="51" name="R2C1"/>
          <p:cNvSpPr/>
          <p:nvPr/>
        </p:nvSpPr>
        <p:spPr>
          <a:xfrm>
            <a:off x="3225800" y="3784600"/>
            <a:ext cx="2032000" cy="914400"/>
          </a:xfrm>
          <a:prstGeom prst="rect">
            <a:avLst/>
          </a:prstGeom>
          <a:solidFill>
            <a:srgbClr val="F8F9FC"/>
          </a:solidFill>
          <a:ln>
            <a:noFill/>
          </a:ln>
        </p:spPr>
        <p:txBody>
          <a:bodyPr lIns="150000" anchor="ctr"/>
          <a:lstStyle/>
          <a:p>
            <a:pPr algn="l">
              <a:buNone/>
            </a:pPr>
            <a:r>
              <a:rPr lang="en-US" sz="2000">
                <a:solidFill>
                  <a:srgbClr val="1A2744"/>
                </a:solidFill>
              </a:rPr>
              <a:t>Annual 10-K + reflections</a:t>
            </a:r>
          </a:p>
        </p:txBody>
      </p:sp>
      <p:sp>
        <p:nvSpPr>
          <p:cNvPr id="52" name="R2C2"/>
          <p:cNvSpPr/>
          <p:nvPr/>
        </p:nvSpPr>
        <p:spPr>
          <a:xfrm>
            <a:off x="5334000" y="3784600"/>
            <a:ext cx="1778000" cy="914400"/>
          </a:xfrm>
          <a:prstGeom prst="rect">
            <a:avLst/>
          </a:prstGeom>
          <a:solidFill>
            <a:srgbClr val="F8F9FC"/>
          </a:solidFill>
          <a:ln>
            <a:noFill/>
          </a:ln>
        </p:spPr>
        <p:txBody>
          <a:bodyPr lIns="150000" anchor="ctr"/>
          <a:lstStyle/>
          <a:p>
            <a:pPr algn="l">
              <a:buNone/>
            </a:pPr>
            <a:r>
              <a:rPr lang="en-US" sz="2000">
                <a:solidFill>
                  <a:srgbClr val="1A2744"/>
                </a:solidFill>
              </a:rPr>
              <a:t>Slow (1 year)</a:t>
            </a:r>
          </a:p>
        </p:txBody>
      </p:sp>
      <p:sp>
        <p:nvSpPr>
          <p:cNvPr id="53" name="R2C3"/>
          <p:cNvSpPr/>
          <p:nvPr/>
        </p:nvSpPr>
        <p:spPr>
          <a:xfrm>
            <a:off x="7188200" y="3784600"/>
            <a:ext cx="3860800" cy="914400"/>
          </a:xfrm>
          <a:prstGeom prst="rect">
            <a:avLst/>
          </a:prstGeom>
          <a:solidFill>
            <a:srgbClr val="F8F9FC"/>
          </a:solidFill>
          <a:ln>
            <a:noFill/>
          </a:ln>
        </p:spPr>
        <p:txBody>
          <a:bodyPr lIns="150000" anchor="ctr"/>
          <a:lstStyle/>
          <a:p>
            <a:pPr algn="l">
              <a:buNone/>
            </a:pPr>
            <a:r>
              <a:rPr lang="en-US" sz="2000">
                <a:solidFill>
                  <a:srgbClr val="1A2744"/>
                </a:solidFill>
              </a:rPr>
              <a:t>Semantic/procedural</a:t>
            </a:r>
          </a:p>
        </p:txBody>
      </p:sp>
      <p:sp>
        <p:nvSpPr>
          <p:cNvPr id="60" name="R3C0"/>
          <p:cNvSpPr/>
          <p:nvPr/>
        </p:nvSpPr>
        <p:spPr>
          <a:xfrm>
            <a:off x="609600" y="4800600"/>
            <a:ext cx="2540000" cy="914400"/>
          </a:xfrm>
          <a:prstGeom prst="rect">
            <a:avLst/>
          </a:prstGeom>
          <a:solidFill>
            <a:srgbClr val="A08030"/>
          </a:solidFill>
          <a:ln>
            <a:noFill/>
          </a:ln>
        </p:spPr>
        <p:txBody>
          <a:bodyPr lIns="150000" anchor="ctr"/>
          <a:lstStyle/>
          <a:p>
            <a:pPr algn="ctr">
              <a:buNone/>
            </a:pPr>
            <a:r>
              <a:rPr lang="en-US" sz="2400" b="1">
                <a:solidFill>
                  <a:srgbClr val="FFFFFF"/>
                </a:solidFill>
              </a:rPr>
              <a:t>Working</a:t>
            </a:r>
          </a:p>
        </p:txBody>
      </p:sp>
      <p:sp>
        <p:nvSpPr>
          <p:cNvPr id="61" name="R3C1"/>
          <p:cNvSpPr/>
          <p:nvPr/>
        </p:nvSpPr>
        <p:spPr>
          <a:xfrm>
            <a:off x="3225800" y="4800600"/>
            <a:ext cx="2032000" cy="914400"/>
          </a:xfrm>
          <a:prstGeom prst="rect">
            <a:avLst/>
          </a:prstGeom>
          <a:solidFill>
            <a:srgbClr val="F0F2F7"/>
          </a:solidFill>
          <a:ln>
            <a:noFill/>
          </a:ln>
        </p:spPr>
        <p:txBody>
          <a:bodyPr lIns="150000" anchor="ctr"/>
          <a:lstStyle/>
          <a:p>
            <a:pPr algn="l">
              <a:buNone/>
            </a:pPr>
            <a:r>
              <a:rPr lang="en-US" sz="2000">
                <a:solidFill>
                  <a:srgbClr val="1A2744"/>
                </a:solidFill>
              </a:rPr>
              <a:t>LLM's active scratchpad</a:t>
            </a:r>
          </a:p>
        </p:txBody>
      </p:sp>
      <p:sp>
        <p:nvSpPr>
          <p:cNvPr id="62" name="R3C2"/>
          <p:cNvSpPr/>
          <p:nvPr/>
        </p:nvSpPr>
        <p:spPr>
          <a:xfrm>
            <a:off x="5334000" y="4800600"/>
            <a:ext cx="1778000" cy="914400"/>
          </a:xfrm>
          <a:prstGeom prst="rect">
            <a:avLst/>
          </a:prstGeom>
          <a:solidFill>
            <a:srgbClr val="F0F2F7"/>
          </a:solidFill>
          <a:ln>
            <a:noFill/>
          </a:ln>
        </p:spPr>
        <p:txBody>
          <a:bodyPr lIns="150000" anchor="ctr"/>
          <a:lstStyle/>
          <a:p>
            <a:pPr algn="l">
              <a:buNone/>
            </a:pPr>
            <a:r>
              <a:rPr lang="en-US" sz="2000">
                <a:solidFill>
                  <a:srgbClr val="1A2744"/>
                </a:solidFill>
              </a:rPr>
              <a:t>Transient</a:t>
            </a:r>
          </a:p>
        </p:txBody>
      </p:sp>
      <p:sp>
        <p:nvSpPr>
          <p:cNvPr id="63" name="R3C3"/>
          <p:cNvSpPr/>
          <p:nvPr/>
        </p:nvSpPr>
        <p:spPr>
          <a:xfrm>
            <a:off x="7188200" y="4800600"/>
            <a:ext cx="3860800" cy="914400"/>
          </a:xfrm>
          <a:prstGeom prst="rect">
            <a:avLst/>
          </a:prstGeom>
          <a:solidFill>
            <a:srgbClr val="F0F2F7"/>
          </a:solidFill>
          <a:ln>
            <a:noFill/>
          </a:ln>
        </p:spPr>
        <p:txBody>
          <a:bodyPr lIns="150000" anchor="ctr"/>
          <a:lstStyle/>
          <a:p>
            <a:pPr algn="l">
              <a:buNone/>
            </a:pPr>
            <a:r>
              <a:rPr lang="en-US" sz="2000">
                <a:solidFill>
                  <a:srgbClr val="1A2744"/>
                </a:solidFill>
              </a:rPr>
              <a:t>Conscious thought</a:t>
            </a:r>
          </a:p>
        </p:txBody>
      </p:sp>
    </p:spTree>
    <p:extLst>
      <p:ext uri="{BB962C8B-B14F-4D97-AF65-F5344CB8AC3E}">
        <p14:creationId xmlns:p14="http://schemas.microsoft.com/office/powerpoint/2010/main" val="1018946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400">
                <a:solidFill>
                  <a:srgbClr val="C9A84C"/>
                </a:solidFill>
              </a:rPr>
              <a:t>PART 2 - Methodology</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3600" b="1">
                <a:solidFill>
                  <a:srgbClr val="1A2744"/>
                </a:solidFill>
              </a:rPr>
              <a:t>The Memory Scoring Formula</a:t>
            </a:r>
          </a:p>
        </p:txBody>
      </p:sp>
      <mc:AlternateContent xmlns:mc="http://schemas.openxmlformats.org/markup-compatibility/2006" xmlns:a14="http://schemas.microsoft.com/office/drawing/2010/main">
        <mc:Choice Requires="a14">
          <p:sp>
            <p:nvSpPr>
              <p:cNvPr id="20" name="ParkBox"/>
              <p:cNvSpPr/>
              <p:nvPr/>
            </p:nvSpPr>
            <p:spPr>
              <a:xfrm>
                <a:off x="518983" y="1168400"/>
                <a:ext cx="5400000" cy="3556000"/>
              </a:xfrm>
              <a:prstGeom prst="rect">
                <a:avLst/>
              </a:prstGeom>
              <a:solidFill>
                <a:srgbClr val="F0F2F7"/>
              </a:solidFill>
              <a:ln>
                <a:noFill/>
              </a:ln>
            </p:spPr>
            <p:txBody>
              <a:bodyPr lIns="144000" tIns="180000" rIns="0" anchor="t"/>
              <a:lstStyle/>
              <a:p>
                <a:pPr algn="ctr">
                  <a:buNone/>
                </a:pPr>
                <a:r>
                  <a:rPr lang="en-US" sz="2000" b="1">
                    <a:solidFill>
                      <a:srgbClr val="1A2744"/>
                    </a:solidFill>
                  </a:rPr>
                  <a:t>Park et al. (Smallville)</a:t>
                </a:r>
              </a:p>
              <a:p>
                <a:pPr algn="l">
                  <a:buNone/>
                </a:pPr>
                <a:r>
                  <a:rPr lang="en-US" sz="1050">
                    <a:solidFill>
                      <a:srgbClr val="8090A8"/>
                    </a:solidFill>
                  </a:rPr>
                  <a:t> </a:t>
                </a:r>
              </a:p>
              <a:p>
                <a:pPr algn="ctr">
                  <a:buNone/>
                </a:pPr>
                <a14:m>
                  <m:oMathPara xmlns:m="http://schemas.openxmlformats.org/officeDocument/2006/math">
                    <m:oMathParaPr>
                      <m:jc m:val="centerGroup"/>
                    </m:oMathParaPr>
                    <m:oMath xmlns:m="http://schemas.openxmlformats.org/officeDocument/2006/math">
                      <m:r>
                        <a:rPr lang="en-US" sz="2000" b="1" i="0" dirty="0" smtClean="0">
                          <a:solidFill>
                            <a:srgbClr val="1A2744"/>
                          </a:solidFill>
                          <a:latin typeface="Cambria Math" panose="02040503050406030204" pitchFamily="18" charset="0"/>
                        </a:rPr>
                        <m:t>𝐬𝐜𝐨𝐫𝐞</m:t>
                      </m:r>
                      <m:r>
                        <a:rPr lang="en-US" sz="2000" b="1" i="0" dirty="0" smtClean="0">
                          <a:solidFill>
                            <a:srgbClr val="1A2744"/>
                          </a:solidFill>
                          <a:latin typeface="Cambria Math" panose="02040503050406030204" pitchFamily="18" charset="0"/>
                        </a:rPr>
                        <m:t>=</m:t>
                      </m:r>
                      <m:r>
                        <a:rPr lang="en-US" sz="2000" b="1" i="0" dirty="0" smtClean="0">
                          <a:solidFill>
                            <a:srgbClr val="1A2744"/>
                          </a:solidFill>
                          <a:latin typeface="Cambria Math" panose="02040503050406030204" pitchFamily="18" charset="0"/>
                        </a:rPr>
                        <m:t>𝐫𝐞𝐜𝐞𝐧𝐜𝐲</m:t>
                      </m:r>
                      <m:r>
                        <a:rPr lang="en-US" sz="2000" b="1" i="0" dirty="0" smtClean="0">
                          <a:solidFill>
                            <a:srgbClr val="1A2744"/>
                          </a:solidFill>
                          <a:latin typeface="Cambria Math" panose="02040503050406030204" pitchFamily="18" charset="0"/>
                        </a:rPr>
                        <m:t>+</m:t>
                      </m:r>
                      <m:r>
                        <a:rPr lang="en-US" sz="2000" b="1" i="0" dirty="0" smtClean="0">
                          <a:solidFill>
                            <a:srgbClr val="1A2744"/>
                          </a:solidFill>
                          <a:latin typeface="Cambria Math" panose="02040503050406030204" pitchFamily="18" charset="0"/>
                        </a:rPr>
                        <m:t>𝐢𝐦𝐩𝐨𝐫𝐭𝐚𝐧𝐜𝐞</m:t>
                      </m:r>
                      <m:r>
                        <a:rPr lang="en-US" sz="2000" b="1" i="0" dirty="0" smtClean="0">
                          <a:solidFill>
                            <a:srgbClr val="1A2744"/>
                          </a:solidFill>
                          <a:latin typeface="Cambria Math" panose="02040503050406030204" pitchFamily="18" charset="0"/>
                        </a:rPr>
                        <m:t>+</m:t>
                      </m:r>
                      <m:r>
                        <a:rPr lang="en-US" sz="2000" b="1" i="0" dirty="0" smtClean="0">
                          <a:solidFill>
                            <a:srgbClr val="1A2744"/>
                          </a:solidFill>
                          <a:latin typeface="Cambria Math" panose="02040503050406030204" pitchFamily="18" charset="0"/>
                        </a:rPr>
                        <m:t>𝐫𝐞𝐥𝐞𝐯𝐚𝐧𝐜𝐞</m:t>
                      </m:r>
                    </m:oMath>
                  </m:oMathPara>
                </a14:m>
                <a:endParaRPr lang="en-US" sz="2000" b="1">
                  <a:solidFill>
                    <a:srgbClr val="1A2744"/>
                  </a:solidFill>
                </a:endParaRPr>
              </a:p>
              <a:p>
                <a:pPr algn="l">
                  <a:buNone/>
                </a:pPr>
                <a:r>
                  <a:rPr lang="en-US" sz="1000">
                    <a:solidFill>
                      <a:srgbClr val="8090A8"/>
                    </a:solidFill>
                  </a:rPr>
                  <a:t> </a:t>
                </a:r>
              </a:p>
              <a:p>
                <a:pPr algn="ctr">
                  <a:buNone/>
                </a:pPr>
                <a14:m>
                  <m:oMathPara xmlns:m="http://schemas.openxmlformats.org/officeDocument/2006/math">
                    <m:oMathParaPr>
                      <m:jc m:val="centerGroup"/>
                    </m:oMathParaPr>
                    <m:oMath xmlns:m="http://schemas.openxmlformats.org/officeDocument/2006/math">
                      <m:r>
                        <a:rPr lang="en-US" sz="2400" i="1" dirty="0" smtClean="0">
                          <a:solidFill>
                            <a:srgbClr val="2E4272"/>
                          </a:solidFill>
                          <a:latin typeface="Cambria Math" panose="02040503050406030204" pitchFamily="18" charset="0"/>
                        </a:rPr>
                        <m:t>𝑟𝑒𝑐𝑒𝑛𝑐𝑦</m:t>
                      </m:r>
                      <m:r>
                        <a:rPr lang="en-US" sz="2400" i="1" dirty="0" smtClean="0">
                          <a:solidFill>
                            <a:srgbClr val="2E4272"/>
                          </a:solidFill>
                          <a:latin typeface="Cambria Math" panose="02040503050406030204" pitchFamily="18" charset="0"/>
                        </a:rPr>
                        <m:t> = </m:t>
                      </m:r>
                      <m:sSup>
                        <m:sSupPr>
                          <m:ctrlPr>
                            <a:rPr lang="en-US" sz="2400" i="1" dirty="0" smtClean="0">
                              <a:solidFill>
                                <a:srgbClr val="2E4272"/>
                              </a:solidFill>
                              <a:latin typeface="Cambria Math" panose="02040503050406030204" pitchFamily="18" charset="0"/>
                            </a:rPr>
                          </m:ctrlPr>
                        </m:sSupPr>
                        <m:e>
                          <m:r>
                            <a:rPr lang="en-US" sz="2400" i="1" dirty="0">
                              <a:solidFill>
                                <a:srgbClr val="2E4272"/>
                              </a:solidFill>
                              <a:latin typeface="Cambria Math" panose="02040503050406030204" pitchFamily="18" charset="0"/>
                            </a:rPr>
                            <m:t>0</m:t>
                          </m:r>
                          <m:r>
                            <a:rPr lang="en-US" sz="2400" i="1" dirty="0">
                              <a:solidFill>
                                <a:srgbClr val="2E4272"/>
                              </a:solidFill>
                              <a:latin typeface="Cambria Math" panose="02040503050406030204" pitchFamily="18" charset="0"/>
                            </a:rPr>
                            <m:t>.</m:t>
                          </m:r>
                          <m:r>
                            <a:rPr lang="en-US" sz="2400" i="1" dirty="0">
                              <a:solidFill>
                                <a:srgbClr val="2E4272"/>
                              </a:solidFill>
                              <a:latin typeface="Cambria Math" panose="02040503050406030204" pitchFamily="18" charset="0"/>
                            </a:rPr>
                            <m:t>995</m:t>
                          </m:r>
                        </m:e>
                        <m:sup>
                          <m:r>
                            <a:rPr lang="en-US" sz="2400" i="1" dirty="0">
                              <a:solidFill>
                                <a:srgbClr val="2E4272"/>
                              </a:solidFill>
                              <a:latin typeface="Cambria Math" panose="02040503050406030204" pitchFamily="18" charset="0"/>
                            </a:rPr>
                            <m:t>(</m:t>
                          </m:r>
                          <m:r>
                            <a:rPr lang="en-US" sz="2400" i="1" dirty="0">
                              <a:solidFill>
                                <a:srgbClr val="2E4272"/>
                              </a:solidFill>
                              <a:latin typeface="Cambria Math" panose="02040503050406030204" pitchFamily="18" charset="0"/>
                            </a:rPr>
                            <m:t>h</m:t>
                          </m:r>
                          <m:r>
                            <a:rPr lang="en-US" sz="2400" i="1" dirty="0">
                              <a:solidFill>
                                <a:srgbClr val="2E4272"/>
                              </a:solidFill>
                              <a:latin typeface="Cambria Math" panose="02040503050406030204" pitchFamily="18" charset="0"/>
                            </a:rPr>
                            <m:t>𝑜𝑢𝑟𝑠</m:t>
                          </m:r>
                          <m:r>
                            <a:rPr lang="en-US" sz="2400" i="1" dirty="0">
                              <a:solidFill>
                                <a:srgbClr val="2E4272"/>
                              </a:solidFill>
                              <a:latin typeface="Cambria Math" panose="02040503050406030204" pitchFamily="18" charset="0"/>
                            </a:rPr>
                            <m:t> </m:t>
                          </m:r>
                          <m:r>
                            <a:rPr lang="en-US" sz="2400" i="1" dirty="0">
                              <a:solidFill>
                                <a:srgbClr val="2E4272"/>
                              </a:solidFill>
                              <a:latin typeface="Cambria Math" panose="02040503050406030204" pitchFamily="18" charset="0"/>
                            </a:rPr>
                            <m:t>𝑠𝑖𝑛𝑐𝑒</m:t>
                          </m:r>
                          <m:r>
                            <a:rPr lang="en-US" sz="2400" i="1" dirty="0">
                              <a:solidFill>
                                <a:srgbClr val="2E4272"/>
                              </a:solidFill>
                              <a:latin typeface="Cambria Math" panose="02040503050406030204" pitchFamily="18" charset="0"/>
                            </a:rPr>
                            <m:t> </m:t>
                          </m:r>
                          <m:r>
                            <a:rPr lang="en-US" sz="2400" i="1" dirty="0">
                              <a:solidFill>
                                <a:srgbClr val="2E4272"/>
                              </a:solidFill>
                              <a:latin typeface="Cambria Math" panose="02040503050406030204" pitchFamily="18" charset="0"/>
                            </a:rPr>
                            <m:t>𝑎𝑐𝑐𝑒𝑠𝑠</m:t>
                          </m:r>
                          <m:r>
                            <a:rPr lang="en-US" sz="2400" i="1" dirty="0">
                              <a:solidFill>
                                <a:srgbClr val="2E4272"/>
                              </a:solidFill>
                              <a:latin typeface="Cambria Math" panose="02040503050406030204" pitchFamily="18" charset="0"/>
                            </a:rPr>
                            <m:t>)</m:t>
                          </m:r>
                          <m:r>
                            <m:rPr>
                              <m:nor/>
                            </m:rPr>
                            <a:rPr lang="en-US" sz="2400" dirty="0">
                              <a:solidFill>
                                <a:srgbClr val="2E4272"/>
                              </a:solidFill>
                            </a:rPr>
                            <m:t> </m:t>
                          </m:r>
                        </m:sup>
                      </m:sSup>
                    </m:oMath>
                  </m:oMathPara>
                </a14:m>
                <a:endParaRPr lang="en-US" sz="1200">
                  <a:solidFill>
                    <a:srgbClr val="8090A8"/>
                  </a:solidFill>
                </a:endParaRPr>
              </a:p>
              <a:p>
                <a:pPr algn="ctr">
                  <a:buNone/>
                </a:pPr>
                <a:endParaRPr lang="en-US" sz="1200">
                  <a:solidFill>
                    <a:srgbClr val="8090A8"/>
                  </a:solidFill>
                </a:endParaRPr>
              </a:p>
              <a:p>
                <a:pPr marL="120000" indent="-120000" algn="l">
                  <a:lnSpc>
                    <a:spcPct val="150000"/>
                  </a:lnSpc>
                  <a:buFont typeface="Arial"/>
                  <a:buChar char="•"/>
                </a:pPr>
                <a:r>
                  <a:rPr lang="en-US">
                    <a:solidFill>
                      <a:srgbClr val="2C3E50"/>
                    </a:solidFill>
                  </a:rPr>
                  <a:t>relevance = cosine similarity vs query</a:t>
                </a:r>
              </a:p>
              <a:p>
                <a:pPr marL="120000" indent="-120000" algn="l">
                  <a:lnSpc>
                    <a:spcPct val="150000"/>
                  </a:lnSpc>
                  <a:buFont typeface="Arial"/>
                  <a:buChar char="•"/>
                </a:pPr>
                <a:r>
                  <a:rPr lang="en-US">
                    <a:solidFill>
                      <a:srgbClr val="2C3E50"/>
                    </a:solidFill>
                  </a:rPr>
                  <a:t>importance = LLM-assigned score (1-10)</a:t>
                </a:r>
              </a:p>
              <a:p>
                <a:pPr marL="120000" indent="-120000" algn="l">
                  <a:lnSpc>
                    <a:spcPct val="150000"/>
                  </a:lnSpc>
                  <a:buFont typeface="Arial"/>
                  <a:buChar char="✗"/>
                </a:pPr>
                <a:r>
                  <a:rPr lang="en-US" b="1">
                    <a:solidFill>
                      <a:srgbClr val="B03020"/>
                    </a:solidFill>
                  </a:rPr>
                  <a:t>One decay rate for ALL memory types</a:t>
                </a:r>
              </a:p>
            </p:txBody>
          </p:sp>
        </mc:Choice>
        <mc:Fallback xmlns="">
          <p:sp>
            <p:nvSpPr>
              <p:cNvPr id="20" name="ParkBox"/>
              <p:cNvSpPr>
                <a:spLocks noRot="1" noChangeAspect="1" noMove="1" noResize="1" noEditPoints="1" noAdjustHandles="1" noChangeArrowheads="1" noChangeShapeType="1" noTextEdit="1"/>
              </p:cNvSpPr>
              <p:nvPr/>
            </p:nvSpPr>
            <p:spPr>
              <a:xfrm>
                <a:off x="518983" y="1168400"/>
                <a:ext cx="5400000" cy="3556000"/>
              </a:xfrm>
              <a:prstGeom prst="rect">
                <a:avLst/>
              </a:prstGeom>
              <a:blipFill>
                <a:blip r:embed="rId2"/>
                <a:stretch>
                  <a:fillRect l="-226" r="-22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FinMemBox"/>
              <p:cNvSpPr/>
              <p:nvPr/>
            </p:nvSpPr>
            <p:spPr>
              <a:xfrm>
                <a:off x="6426202" y="1168400"/>
                <a:ext cx="5362144" cy="3556000"/>
              </a:xfrm>
              <a:prstGeom prst="rect">
                <a:avLst/>
              </a:prstGeom>
              <a:solidFill>
                <a:srgbClr val="1A2744"/>
              </a:solidFill>
              <a:ln>
                <a:noFill/>
              </a:ln>
            </p:spPr>
            <p:txBody>
              <a:bodyPr lIns="200000" tIns="180000" anchor="t"/>
              <a:lstStyle/>
              <a:p>
                <a:pPr algn="ctr">
                  <a:buNone/>
                </a:pPr>
                <a:r>
                  <a:rPr lang="en-US" sz="2000" b="1" err="1">
                    <a:solidFill>
                      <a:srgbClr val="C9A84C"/>
                    </a:solidFill>
                  </a:rPr>
                  <a:t>FinMem</a:t>
                </a:r>
                <a:r>
                  <a:rPr lang="en-US" sz="2000" b="1">
                    <a:solidFill>
                      <a:srgbClr val="C9A84C"/>
                    </a:solidFill>
                  </a:rPr>
                  <a:t> (this paper)</a:t>
                </a:r>
              </a:p>
              <a:p>
                <a:pPr algn="l">
                  <a:buNone/>
                </a:pPr>
                <a:r>
                  <a:rPr lang="en-US" sz="1050">
                    <a:solidFill>
                      <a:srgbClr val="8090A8"/>
                    </a:solidFill>
                  </a:rPr>
                  <a:t> </a:t>
                </a:r>
              </a:p>
              <a:p>
                <a:pPr algn="ctr">
                  <a:buNone/>
                </a:pPr>
                <a14:m>
                  <m:oMath xmlns:m="http://schemas.openxmlformats.org/officeDocument/2006/math">
                    <m:sSubSup>
                      <m:sSubSupPr>
                        <m:ctrlPr>
                          <a:rPr lang="en-US" sz="2000" i="1" dirty="0">
                            <a:solidFill>
                              <a:srgbClr val="D4DCF0"/>
                            </a:solidFill>
                            <a:latin typeface="Cambria Math" panose="02040503050406030204" pitchFamily="18" charset="0"/>
                          </a:rPr>
                        </m:ctrlPr>
                      </m:sSubSupPr>
                      <m:e>
                        <m:r>
                          <a:rPr lang="en-US" sz="2000" i="1" dirty="0">
                            <a:solidFill>
                              <a:srgbClr val="D4DCF0"/>
                            </a:solidFill>
                            <a:latin typeface="Cambria Math" panose="02040503050406030204" pitchFamily="18" charset="0"/>
                          </a:rPr>
                          <m:t>𝛾</m:t>
                        </m:r>
                      </m:e>
                      <m:sub>
                        <m:r>
                          <a:rPr lang="en-US" sz="2000" dirty="0">
                            <a:solidFill>
                              <a:srgbClr val="D4DCF0"/>
                            </a:solidFill>
                            <a:latin typeface="Cambria Math" panose="02040503050406030204" pitchFamily="18" charset="0"/>
                          </a:rPr>
                          <m:t>𝑙</m:t>
                        </m:r>
                      </m:sub>
                      <m:sup>
                        <m:r>
                          <a:rPr lang="en-US" sz="2000" dirty="0">
                            <a:solidFill>
                              <a:srgbClr val="D4DCF0"/>
                            </a:solidFill>
                            <a:latin typeface="Cambria Math" panose="02040503050406030204" pitchFamily="18" charset="0"/>
                          </a:rPr>
                          <m:t>𝐸</m:t>
                        </m:r>
                      </m:sup>
                    </m:sSubSup>
                    <m:r>
                      <a:rPr lang="en-US" sz="2000" dirty="0">
                        <a:solidFill>
                          <a:srgbClr val="D4DCF0"/>
                        </a:solidFill>
                        <a:latin typeface="Cambria Math" panose="02040503050406030204" pitchFamily="18" charset="0"/>
                      </a:rPr>
                      <m:t>=</m:t>
                    </m:r>
                    <m:sSubSup>
                      <m:sSubSupPr>
                        <m:ctrlPr>
                          <a:rPr lang="en-US" sz="2000" i="1" dirty="0">
                            <a:solidFill>
                              <a:srgbClr val="D4DCF0"/>
                            </a:solidFill>
                            <a:latin typeface="Cambria Math" panose="02040503050406030204" pitchFamily="18" charset="0"/>
                          </a:rPr>
                        </m:ctrlPr>
                      </m:sSubSupPr>
                      <m:e>
                        <m:r>
                          <a:rPr lang="en-US" sz="2000" dirty="0">
                            <a:solidFill>
                              <a:srgbClr val="D4DCF0"/>
                            </a:solidFill>
                            <a:latin typeface="Cambria Math" panose="02040503050406030204" pitchFamily="18" charset="0"/>
                          </a:rPr>
                          <m:t>𝑆</m:t>
                        </m:r>
                      </m:e>
                      <m:sub>
                        <m:sSub>
                          <m:sSubPr>
                            <m:ctrlPr>
                              <a:rPr lang="en-US" sz="2000" i="1" dirty="0">
                                <a:solidFill>
                                  <a:srgbClr val="D4DCF0"/>
                                </a:solidFill>
                                <a:latin typeface="Cambria Math" panose="02040503050406030204" pitchFamily="18" charset="0"/>
                              </a:rPr>
                            </m:ctrlPr>
                          </m:sSubPr>
                          <m:e>
                            <m:r>
                              <m:rPr>
                                <m:nor/>
                              </m:rPr>
                              <a:rPr lang="en-US" sz="2000" i="1" dirty="0">
                                <a:solidFill>
                                  <a:srgbClr val="D4DCF0"/>
                                </a:solidFill>
                              </a:rPr>
                              <m:t>Recency</m:t>
                            </m:r>
                          </m:e>
                          <m:sub>
                            <m:r>
                              <a:rPr lang="en-US" sz="2000" dirty="0">
                                <a:solidFill>
                                  <a:srgbClr val="D4DCF0"/>
                                </a:solidFill>
                                <a:latin typeface="Cambria Math" panose="02040503050406030204" pitchFamily="18" charset="0"/>
                              </a:rPr>
                              <m:t>𝑙</m:t>
                            </m:r>
                          </m:sub>
                        </m:sSub>
                      </m:sub>
                      <m:sup>
                        <m:r>
                          <a:rPr lang="en-US" sz="2000" dirty="0">
                            <a:solidFill>
                              <a:srgbClr val="D4DCF0"/>
                            </a:solidFill>
                            <a:latin typeface="Cambria Math" panose="02040503050406030204" pitchFamily="18" charset="0"/>
                          </a:rPr>
                          <m:t>𝐸</m:t>
                        </m:r>
                      </m:sup>
                    </m:sSubSup>
                    <m:r>
                      <a:rPr lang="en-US" sz="2000" dirty="0">
                        <a:solidFill>
                          <a:srgbClr val="D4DCF0"/>
                        </a:solidFill>
                        <a:latin typeface="Cambria Math" panose="02040503050406030204" pitchFamily="18" charset="0"/>
                      </a:rPr>
                      <m:t>+</m:t>
                    </m:r>
                    <m:sSubSup>
                      <m:sSubSupPr>
                        <m:ctrlPr>
                          <a:rPr lang="en-US" sz="2000" i="1" dirty="0">
                            <a:solidFill>
                              <a:srgbClr val="D4DCF0"/>
                            </a:solidFill>
                            <a:latin typeface="Cambria Math" panose="02040503050406030204" pitchFamily="18" charset="0"/>
                          </a:rPr>
                        </m:ctrlPr>
                      </m:sSubSupPr>
                      <m:e>
                        <m:r>
                          <a:rPr lang="en-US" sz="2000" dirty="0">
                            <a:solidFill>
                              <a:srgbClr val="D4DCF0"/>
                            </a:solidFill>
                            <a:latin typeface="Cambria Math" panose="02040503050406030204" pitchFamily="18" charset="0"/>
                          </a:rPr>
                          <m:t>𝑆</m:t>
                        </m:r>
                      </m:e>
                      <m:sub>
                        <m:sSub>
                          <m:sSubPr>
                            <m:ctrlPr>
                              <a:rPr lang="en-US" sz="2000" i="1" dirty="0">
                                <a:solidFill>
                                  <a:srgbClr val="D4DCF0"/>
                                </a:solidFill>
                                <a:latin typeface="Cambria Math" panose="02040503050406030204" pitchFamily="18" charset="0"/>
                              </a:rPr>
                            </m:ctrlPr>
                          </m:sSubPr>
                          <m:e>
                            <m:r>
                              <m:rPr>
                                <m:nor/>
                              </m:rPr>
                              <a:rPr lang="en-US" sz="2000" i="1" dirty="0">
                                <a:solidFill>
                                  <a:srgbClr val="D4DCF0"/>
                                </a:solidFill>
                              </a:rPr>
                              <m:t>Relevancy</m:t>
                            </m:r>
                          </m:e>
                          <m:sub>
                            <m:r>
                              <a:rPr lang="en-US" sz="2000" dirty="0">
                                <a:solidFill>
                                  <a:srgbClr val="D4DCF0"/>
                                </a:solidFill>
                                <a:latin typeface="Cambria Math" panose="02040503050406030204" pitchFamily="18" charset="0"/>
                              </a:rPr>
                              <m:t>𝑙</m:t>
                            </m:r>
                          </m:sub>
                        </m:sSub>
                      </m:sub>
                      <m:sup>
                        <m:r>
                          <a:rPr lang="en-US" sz="2000" dirty="0">
                            <a:solidFill>
                              <a:srgbClr val="D4DCF0"/>
                            </a:solidFill>
                            <a:latin typeface="Cambria Math" panose="02040503050406030204" pitchFamily="18" charset="0"/>
                          </a:rPr>
                          <m:t>𝐸</m:t>
                        </m:r>
                      </m:sup>
                    </m:sSubSup>
                    <m:r>
                      <a:rPr lang="en-US" sz="2000" dirty="0">
                        <a:solidFill>
                          <a:srgbClr val="D4DCF0"/>
                        </a:solidFill>
                        <a:latin typeface="Cambria Math" panose="02040503050406030204" pitchFamily="18" charset="0"/>
                      </a:rPr>
                      <m:t>+</m:t>
                    </m:r>
                    <m:sSubSup>
                      <m:sSubSupPr>
                        <m:ctrlPr>
                          <a:rPr lang="en-US" sz="2000" i="1" dirty="0">
                            <a:solidFill>
                              <a:srgbClr val="D4DCF0"/>
                            </a:solidFill>
                            <a:latin typeface="Cambria Math" panose="02040503050406030204" pitchFamily="18" charset="0"/>
                          </a:rPr>
                        </m:ctrlPr>
                      </m:sSubSupPr>
                      <m:e>
                        <m:r>
                          <a:rPr lang="en-US" sz="2000" dirty="0">
                            <a:solidFill>
                              <a:srgbClr val="D4DCF0"/>
                            </a:solidFill>
                            <a:latin typeface="Cambria Math" panose="02040503050406030204" pitchFamily="18" charset="0"/>
                          </a:rPr>
                          <m:t>𝑆</m:t>
                        </m:r>
                      </m:e>
                      <m:sub>
                        <m:sSub>
                          <m:sSubPr>
                            <m:ctrlPr>
                              <a:rPr lang="en-US" sz="2000" i="1" dirty="0">
                                <a:solidFill>
                                  <a:srgbClr val="D4DCF0"/>
                                </a:solidFill>
                                <a:latin typeface="Cambria Math" panose="02040503050406030204" pitchFamily="18" charset="0"/>
                              </a:rPr>
                            </m:ctrlPr>
                          </m:sSubPr>
                          <m:e>
                            <m:r>
                              <m:rPr>
                                <m:nor/>
                              </m:rPr>
                              <a:rPr lang="en-US" sz="2000" i="1" dirty="0">
                                <a:solidFill>
                                  <a:srgbClr val="D4DCF0"/>
                                </a:solidFill>
                              </a:rPr>
                              <m:t>Importance</m:t>
                            </m:r>
                          </m:e>
                          <m:sub>
                            <m:r>
                              <a:rPr lang="en-US" sz="2000" dirty="0">
                                <a:solidFill>
                                  <a:srgbClr val="D4DCF0"/>
                                </a:solidFill>
                                <a:latin typeface="Cambria Math" panose="02040503050406030204" pitchFamily="18" charset="0"/>
                              </a:rPr>
                              <m:t>𝑙</m:t>
                            </m:r>
                          </m:sub>
                        </m:sSub>
                      </m:sub>
                      <m:sup>
                        <m:r>
                          <a:rPr lang="en-US" sz="2000" dirty="0">
                            <a:solidFill>
                              <a:srgbClr val="D4DCF0"/>
                            </a:solidFill>
                            <a:latin typeface="Cambria Math" panose="02040503050406030204" pitchFamily="18" charset="0"/>
                          </a:rPr>
                          <m:t>𝐸</m:t>
                        </m:r>
                      </m:sup>
                    </m:sSubSup>
                  </m:oMath>
                </a14:m>
                <a:r>
                  <a:rPr lang="en-US" sz="1000">
                    <a:solidFill>
                      <a:srgbClr val="8090A8"/>
                    </a:solidFill>
                  </a:rPr>
                  <a:t> </a:t>
                </a:r>
              </a:p>
              <a:p>
                <a:pPr algn="ctr"/>
                <a14:m>
                  <m:oMathPara xmlns:m="http://schemas.openxmlformats.org/officeDocument/2006/math">
                    <m:oMathParaPr>
                      <m:jc m:val="centerGroup"/>
                    </m:oMathParaPr>
                    <m:oMath xmlns:m="http://schemas.openxmlformats.org/officeDocument/2006/math">
                      <m:sSubSup>
                        <m:sSubSupPr>
                          <m:ctrlPr>
                            <a:rPr lang="en-US" sz="2000" i="1" dirty="0">
                              <a:solidFill>
                                <a:srgbClr val="D4DCF0"/>
                              </a:solidFill>
                              <a:latin typeface="Cambria Math" panose="02040503050406030204" pitchFamily="18" charset="0"/>
                            </a:rPr>
                          </m:ctrlPr>
                        </m:sSubSupPr>
                        <m:e>
                          <m:r>
                            <a:rPr lang="en-US" sz="2000" i="1" dirty="0">
                              <a:solidFill>
                                <a:srgbClr val="D4DCF0"/>
                              </a:solidFill>
                              <a:latin typeface="Cambria Math" panose="02040503050406030204" pitchFamily="18" charset="0"/>
                            </a:rPr>
                            <m:t>𝑆</m:t>
                          </m:r>
                        </m:e>
                        <m:sub>
                          <m:sSub>
                            <m:sSubPr>
                              <m:ctrlPr>
                                <a:rPr lang="en-US" sz="2000" i="1" dirty="0">
                                  <a:solidFill>
                                    <a:srgbClr val="D4DCF0"/>
                                  </a:solidFill>
                                  <a:latin typeface="Cambria Math" panose="02040503050406030204" pitchFamily="18" charset="0"/>
                                </a:rPr>
                              </m:ctrlPr>
                            </m:sSubPr>
                            <m:e>
                              <m:r>
                                <m:rPr>
                                  <m:nor/>
                                </m:rPr>
                                <a:rPr lang="en-US" sz="2000" i="1" dirty="0">
                                  <a:solidFill>
                                    <a:srgbClr val="D4DCF0"/>
                                  </a:solidFill>
                                </a:rPr>
                                <m:t>Recency</m:t>
                              </m:r>
                            </m:e>
                            <m:sub>
                              <m:r>
                                <a:rPr lang="en-US" sz="2000" i="1" dirty="0">
                                  <a:solidFill>
                                    <a:srgbClr val="D4DCF0"/>
                                  </a:solidFill>
                                  <a:latin typeface="Cambria Math" panose="02040503050406030204" pitchFamily="18" charset="0"/>
                                </a:rPr>
                                <m:t>𝑙</m:t>
                              </m:r>
                            </m:sub>
                          </m:sSub>
                        </m:sub>
                        <m:sup>
                          <m:r>
                            <a:rPr lang="en-US" sz="2000" i="1" dirty="0">
                              <a:solidFill>
                                <a:srgbClr val="D4DCF0"/>
                              </a:solidFill>
                              <a:latin typeface="Cambria Math" panose="02040503050406030204" pitchFamily="18" charset="0"/>
                            </a:rPr>
                            <m:t>𝐸</m:t>
                          </m:r>
                        </m:sup>
                      </m:sSubSup>
                      <m:r>
                        <a:rPr lang="en-US" sz="2000" i="1" dirty="0">
                          <a:solidFill>
                            <a:srgbClr val="D4DCF0"/>
                          </a:solidFill>
                          <a:latin typeface="Cambria Math" panose="02040503050406030204" pitchFamily="18" charset="0"/>
                        </a:rPr>
                        <m:t>=</m:t>
                      </m:r>
                      <m:sSup>
                        <m:sSupPr>
                          <m:ctrlPr>
                            <a:rPr lang="en-US" sz="2000" i="1" dirty="0">
                              <a:solidFill>
                                <a:srgbClr val="D4DCF0"/>
                              </a:solidFill>
                              <a:latin typeface="Cambria Math" panose="02040503050406030204" pitchFamily="18" charset="0"/>
                            </a:rPr>
                          </m:ctrlPr>
                        </m:sSupPr>
                        <m:e>
                          <m:r>
                            <a:rPr lang="en-US" sz="2000" i="1" dirty="0">
                              <a:solidFill>
                                <a:srgbClr val="D4DCF0"/>
                              </a:solidFill>
                              <a:latin typeface="Cambria Math" panose="02040503050406030204" pitchFamily="18" charset="0"/>
                            </a:rPr>
                            <m:t>𝑒</m:t>
                          </m:r>
                        </m:e>
                        <m:sup>
                          <m:r>
                            <a:rPr lang="en-US" sz="2000" i="1" dirty="0">
                              <a:solidFill>
                                <a:srgbClr val="D4DCF0"/>
                              </a:solidFill>
                              <a:latin typeface="Cambria Math" panose="02040503050406030204" pitchFamily="18" charset="0"/>
                            </a:rPr>
                            <m:t>−</m:t>
                          </m:r>
                          <m:f>
                            <m:fPr>
                              <m:ctrlPr>
                                <a:rPr lang="en-US" sz="2000" i="1" dirty="0">
                                  <a:solidFill>
                                    <a:srgbClr val="D4DCF0"/>
                                  </a:solidFill>
                                  <a:latin typeface="Cambria Math" panose="02040503050406030204" pitchFamily="18" charset="0"/>
                                </a:rPr>
                              </m:ctrlPr>
                            </m:fPr>
                            <m:num>
                              <m:sSup>
                                <m:sSupPr>
                                  <m:ctrlPr>
                                    <a:rPr lang="en-US" sz="2000" i="1" dirty="0">
                                      <a:solidFill>
                                        <a:srgbClr val="D4DCF0"/>
                                      </a:solidFill>
                                      <a:latin typeface="Cambria Math" panose="02040503050406030204" pitchFamily="18" charset="0"/>
                                    </a:rPr>
                                  </m:ctrlPr>
                                </m:sSupPr>
                                <m:e>
                                  <m:r>
                                    <a:rPr lang="en-US" sz="2000" i="1" dirty="0">
                                      <a:solidFill>
                                        <a:srgbClr val="D4DCF0"/>
                                      </a:solidFill>
                                      <a:latin typeface="Cambria Math" panose="02040503050406030204" pitchFamily="18" charset="0"/>
                                    </a:rPr>
                                    <m:t>𝛿</m:t>
                                  </m:r>
                                </m:e>
                                <m:sup>
                                  <m:r>
                                    <a:rPr lang="en-US" sz="2000" i="1" dirty="0">
                                      <a:solidFill>
                                        <a:srgbClr val="D4DCF0"/>
                                      </a:solidFill>
                                      <a:latin typeface="Cambria Math" panose="02040503050406030204" pitchFamily="18" charset="0"/>
                                    </a:rPr>
                                    <m:t>𝐸</m:t>
                                  </m:r>
                                </m:sup>
                              </m:sSup>
                            </m:num>
                            <m:den>
                              <m:sSub>
                                <m:sSubPr>
                                  <m:ctrlPr>
                                    <a:rPr lang="en-US" sz="2000" i="1" dirty="0">
                                      <a:solidFill>
                                        <a:srgbClr val="D4DCF0"/>
                                      </a:solidFill>
                                      <a:latin typeface="Cambria Math" panose="02040503050406030204" pitchFamily="18" charset="0"/>
                                    </a:rPr>
                                  </m:ctrlPr>
                                </m:sSubPr>
                                <m:e>
                                  <m:r>
                                    <a:rPr lang="en-US" sz="2000" i="1" dirty="0">
                                      <a:solidFill>
                                        <a:srgbClr val="D4DCF0"/>
                                      </a:solidFill>
                                      <a:latin typeface="Cambria Math" panose="02040503050406030204" pitchFamily="18" charset="0"/>
                                    </a:rPr>
                                    <m:t>𝑄</m:t>
                                  </m:r>
                                </m:e>
                                <m:sub>
                                  <m:r>
                                    <a:rPr lang="en-US" sz="2000" i="1" dirty="0">
                                      <a:solidFill>
                                        <a:srgbClr val="D4DCF0"/>
                                      </a:solidFill>
                                      <a:latin typeface="Cambria Math" panose="02040503050406030204" pitchFamily="18" charset="0"/>
                                    </a:rPr>
                                    <m:t>𝑙</m:t>
                                  </m:r>
                                </m:sub>
                              </m:sSub>
                            </m:den>
                          </m:f>
                        </m:sup>
                      </m:sSup>
                      <m:r>
                        <a:rPr lang="en-US" sz="2000" i="1" dirty="0">
                          <a:solidFill>
                            <a:srgbClr val="D4DCF0"/>
                          </a:solidFill>
                          <a:latin typeface="Cambria Math" panose="02040503050406030204" pitchFamily="18" charset="0"/>
                        </a:rPr>
                        <m:t>, </m:t>
                      </m:r>
                      <m:sSup>
                        <m:sSupPr>
                          <m:ctrlPr>
                            <a:rPr lang="en-US" sz="2000" i="1" dirty="0">
                              <a:solidFill>
                                <a:srgbClr val="D4DCF0"/>
                              </a:solidFill>
                              <a:latin typeface="Cambria Math" panose="02040503050406030204" pitchFamily="18" charset="0"/>
                            </a:rPr>
                          </m:ctrlPr>
                        </m:sSupPr>
                        <m:e>
                          <m:r>
                            <a:rPr lang="en-US" sz="2000" i="1" dirty="0">
                              <a:solidFill>
                                <a:srgbClr val="D4DCF0"/>
                              </a:solidFill>
                              <a:latin typeface="Cambria Math" panose="02040503050406030204" pitchFamily="18" charset="0"/>
                            </a:rPr>
                            <m:t>𝛿</m:t>
                          </m:r>
                        </m:e>
                        <m:sup>
                          <m:r>
                            <a:rPr lang="en-US" sz="2000" i="1" dirty="0">
                              <a:solidFill>
                                <a:srgbClr val="D4DCF0"/>
                              </a:solidFill>
                              <a:latin typeface="Cambria Math" panose="02040503050406030204" pitchFamily="18" charset="0"/>
                            </a:rPr>
                            <m:t>𝐸</m:t>
                          </m:r>
                        </m:sup>
                      </m:sSup>
                      <m:r>
                        <a:rPr lang="en-US" sz="2000" i="1" dirty="0">
                          <a:solidFill>
                            <a:srgbClr val="D4DCF0"/>
                          </a:solidFill>
                          <a:latin typeface="Cambria Math" panose="02040503050406030204" pitchFamily="18" charset="0"/>
                        </a:rPr>
                        <m:t>=</m:t>
                      </m:r>
                      <m:sSub>
                        <m:sSubPr>
                          <m:ctrlPr>
                            <a:rPr lang="en-US" sz="2000" i="1" dirty="0">
                              <a:solidFill>
                                <a:srgbClr val="D4DCF0"/>
                              </a:solidFill>
                              <a:latin typeface="Cambria Math" panose="02040503050406030204" pitchFamily="18" charset="0"/>
                            </a:rPr>
                          </m:ctrlPr>
                        </m:sSubPr>
                        <m:e>
                          <m:r>
                            <a:rPr lang="en-US" sz="2000" i="1" dirty="0">
                              <a:solidFill>
                                <a:srgbClr val="D4DCF0"/>
                              </a:solidFill>
                              <a:latin typeface="Cambria Math" panose="02040503050406030204" pitchFamily="18" charset="0"/>
                            </a:rPr>
                            <m:t>𝑡</m:t>
                          </m:r>
                        </m:e>
                        <m:sub>
                          <m:r>
                            <m:rPr>
                              <m:nor/>
                            </m:rPr>
                            <a:rPr lang="en-US" sz="2000" i="1" dirty="0">
                              <a:solidFill>
                                <a:srgbClr val="D4DCF0"/>
                              </a:solidFill>
                            </a:rPr>
                            <m:t>P</m:t>
                          </m:r>
                        </m:sub>
                      </m:sSub>
                      <m:r>
                        <a:rPr lang="en-US" sz="2000" i="1" dirty="0">
                          <a:solidFill>
                            <a:srgbClr val="D4DCF0"/>
                          </a:solidFill>
                          <a:latin typeface="Cambria Math" panose="02040503050406030204" pitchFamily="18" charset="0"/>
                        </a:rPr>
                        <m:t>−</m:t>
                      </m:r>
                      <m:sSub>
                        <m:sSubPr>
                          <m:ctrlPr>
                            <a:rPr lang="en-US" sz="2000" i="1" dirty="0">
                              <a:solidFill>
                                <a:srgbClr val="D4DCF0"/>
                              </a:solidFill>
                              <a:latin typeface="Cambria Math" panose="02040503050406030204" pitchFamily="18" charset="0"/>
                            </a:rPr>
                          </m:ctrlPr>
                        </m:sSubPr>
                        <m:e>
                          <m:r>
                            <a:rPr lang="en-US" sz="2000" i="1" dirty="0">
                              <a:solidFill>
                                <a:srgbClr val="D4DCF0"/>
                              </a:solidFill>
                              <a:latin typeface="Cambria Math" panose="02040503050406030204" pitchFamily="18" charset="0"/>
                            </a:rPr>
                            <m:t>𝑡</m:t>
                          </m:r>
                        </m:e>
                        <m:sub>
                          <m:r>
                            <a:rPr lang="en-US" sz="2000" i="1" dirty="0">
                              <a:solidFill>
                                <a:srgbClr val="D4DCF0"/>
                              </a:solidFill>
                              <a:latin typeface="Cambria Math" panose="02040503050406030204" pitchFamily="18" charset="0"/>
                            </a:rPr>
                            <m:t>𝐸</m:t>
                          </m:r>
                        </m:sub>
                      </m:sSub>
                    </m:oMath>
                  </m:oMathPara>
                </a14:m>
                <a:br>
                  <a:rPr lang="en-US" sz="2000">
                    <a:solidFill>
                      <a:srgbClr val="A0B4D6"/>
                    </a:solidFill>
                  </a:rPr>
                </a:br>
                <a:r>
                  <a:rPr lang="en-US" sz="2000">
                    <a:solidFill>
                      <a:srgbClr val="A0B4D6"/>
                    </a:solidFill>
                  </a:rPr>
                  <a:t>  </a:t>
                </a:r>
                <a:r>
                  <a:rPr lang="en-US" sz="2000">
                    <a:solidFill>
                      <a:srgbClr val="D4DCF0"/>
                    </a:solidFill>
                  </a:rPr>
                  <a:t>where</a:t>
                </a:r>
                <a:r>
                  <a:rPr lang="en-US" sz="2000">
                    <a:solidFill>
                      <a:srgbClr val="A0B4D6"/>
                    </a:solidFill>
                  </a:rPr>
                  <a:t> </a:t>
                </a:r>
                <a:r>
                  <a:rPr lang="en-US" sz="2000" b="1">
                    <a:solidFill>
                      <a:srgbClr val="C9A84C"/>
                    </a:solidFill>
                  </a:rPr>
                  <a:t>Q changes per layer</a:t>
                </a:r>
              </a:p>
              <a:p>
                <a:pPr algn="l">
                  <a:buNone/>
                </a:pPr>
                <a:r>
                  <a:rPr lang="en-US" sz="1050">
                    <a:solidFill>
                      <a:srgbClr val="8090A8"/>
                    </a:solidFill>
                  </a:rPr>
                  <a:t> </a:t>
                </a:r>
              </a:p>
              <a:p>
                <a:pPr marL="120000" indent="-120000" algn="l">
                  <a:lnSpc>
                    <a:spcPct val="150000"/>
                  </a:lnSpc>
                  <a:buFont typeface="Arial"/>
                  <a:buChar char="▸"/>
                </a:pPr>
                <a:r>
                  <a:rPr lang="en-US">
                    <a:solidFill>
                      <a:srgbClr val="D4DCF0"/>
                    </a:solidFill>
                  </a:rPr>
                  <a:t>Shallow: small Q (fast decay)</a:t>
                </a:r>
              </a:p>
              <a:p>
                <a:pPr marL="120000" indent="-120000" algn="l">
                  <a:lnSpc>
                    <a:spcPct val="150000"/>
                  </a:lnSpc>
                  <a:buFont typeface="Arial"/>
                  <a:buChar char="▸"/>
                </a:pPr>
                <a:r>
                  <a:rPr lang="en-US">
                    <a:solidFill>
                      <a:srgbClr val="D4DCF0"/>
                    </a:solidFill>
                  </a:rPr>
                  <a:t>Deep: large Q (stays relevant months)</a:t>
                </a:r>
              </a:p>
              <a:p>
                <a:pPr marL="120000" indent="-120000" algn="l">
                  <a:lnSpc>
                    <a:spcPct val="150000"/>
                  </a:lnSpc>
                  <a:buFont typeface="Arial"/>
                  <a:buChar char="▸"/>
                </a:pPr>
                <a:r>
                  <a:rPr lang="en-US" b="1">
                    <a:solidFill>
                      <a:srgbClr val="C9A84C"/>
                    </a:solidFill>
                  </a:rPr>
                  <a:t>3 numbers → stratified memory</a:t>
                </a:r>
              </a:p>
            </p:txBody>
          </p:sp>
        </mc:Choice>
        <mc:Fallback xmlns="">
          <p:sp>
            <p:nvSpPr>
              <p:cNvPr id="21" name="FinMemBox"/>
              <p:cNvSpPr>
                <a:spLocks noRot="1" noChangeAspect="1" noMove="1" noResize="1" noEditPoints="1" noAdjustHandles="1" noChangeArrowheads="1" noChangeShapeType="1" noTextEdit="1"/>
              </p:cNvSpPr>
              <p:nvPr/>
            </p:nvSpPr>
            <p:spPr>
              <a:xfrm>
                <a:off x="6426202" y="1168400"/>
                <a:ext cx="5362144" cy="3556000"/>
              </a:xfrm>
              <a:prstGeom prst="rect">
                <a:avLst/>
              </a:prstGeom>
              <a:blipFill>
                <a:blip r:embed="rId3"/>
                <a:stretch>
                  <a:fillRect/>
                </a:stretch>
              </a:blipFill>
              <a:ln>
                <a:noFill/>
              </a:ln>
            </p:spPr>
            <p:txBody>
              <a:bodyPr/>
              <a:lstStyle/>
              <a:p>
                <a:r>
                  <a:rPr lang="en-US">
                    <a:noFill/>
                  </a:rPr>
                  <a:t> </a:t>
                </a:r>
              </a:p>
            </p:txBody>
          </p:sp>
        </mc:Fallback>
      </mc:AlternateContent>
      <p:sp>
        <p:nvSpPr>
          <p:cNvPr id="30" name="Annot"/>
          <p:cNvSpPr/>
          <p:nvPr/>
        </p:nvSpPr>
        <p:spPr>
          <a:xfrm>
            <a:off x="609600" y="4826000"/>
            <a:ext cx="10972800" cy="609600"/>
          </a:xfrm>
          <a:prstGeom prst="rect">
            <a:avLst/>
          </a:prstGeom>
          <a:noFill/>
          <a:ln>
            <a:noFill/>
          </a:ln>
        </p:spPr>
        <p:txBody>
          <a:bodyPr lIns="0" anchor="ctr"/>
          <a:lstStyle/>
          <a:p>
            <a:pPr algn="ctr">
              <a:buNone/>
            </a:pPr>
            <a:r>
              <a:rPr lang="en-US" sz="2400" i="1">
                <a:solidFill>
                  <a:srgbClr val="1A2744"/>
                </a:solidFill>
              </a:rPr>
              <a:t>Same formula: the novelty is Q changing per layer</a:t>
            </a:r>
          </a:p>
        </p:txBody>
      </p:sp>
      <p:sp>
        <p:nvSpPr>
          <p:cNvPr id="40" name="Critique"/>
          <p:cNvSpPr/>
          <p:nvPr/>
        </p:nvSpPr>
        <p:spPr>
          <a:xfrm>
            <a:off x="609600" y="5486400"/>
            <a:ext cx="10972800" cy="787400"/>
          </a:xfrm>
          <a:prstGeom prst="rect">
            <a:avLst/>
          </a:prstGeom>
          <a:solidFill>
            <a:srgbClr val="FFF8E8"/>
          </a:solidFill>
          <a:ln>
            <a:noFill/>
          </a:ln>
        </p:spPr>
        <p:txBody>
          <a:bodyPr lIns="200000" anchor="ctr"/>
          <a:lstStyle/>
          <a:p>
            <a:pPr algn="l">
              <a:buNone/>
            </a:pPr>
            <a:r>
              <a:rPr lang="en-US" b="1">
                <a:solidFill>
                  <a:srgbClr val="A08030"/>
                </a:solidFill>
              </a:rPr>
              <a:t>*</a:t>
            </a:r>
            <a:r>
              <a:rPr lang="en-US">
                <a:solidFill>
                  <a:srgbClr val="2C3E50"/>
                </a:solidFill>
              </a:rPr>
              <a:t>Sensitivity analysis justifies 14 days as optimal for the Shallow layer. However, the Q values for Intermediate (90 days) and Deep (365 days) remain untested heuristics.</a:t>
            </a:r>
          </a:p>
        </p:txBody>
      </p:sp>
    </p:spTree>
    <p:extLst>
      <p:ext uri="{BB962C8B-B14F-4D97-AF65-F5344CB8AC3E}">
        <p14:creationId xmlns:p14="http://schemas.microsoft.com/office/powerpoint/2010/main" val="3144422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2 - Methodology</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Access Counter: Memory Promotion</a:t>
            </a:r>
          </a:p>
        </p:txBody>
      </p:sp>
      <p:sp>
        <p:nvSpPr>
          <p:cNvPr id="20" name="Step0"/>
          <p:cNvSpPr/>
          <p:nvPr/>
        </p:nvSpPr>
        <p:spPr>
          <a:xfrm>
            <a:off x="406400" y="1168400"/>
            <a:ext cx="2438400" cy="3302000"/>
          </a:xfrm>
          <a:prstGeom prst="rect">
            <a:avLst/>
          </a:prstGeom>
          <a:solidFill>
            <a:srgbClr val="2E4272"/>
          </a:solidFill>
          <a:ln>
            <a:noFill/>
          </a:ln>
        </p:spPr>
        <p:txBody>
          <a:bodyPr lIns="180000" tIns="160000" anchor="t"/>
          <a:lstStyle/>
          <a:p>
            <a:pPr algn="ctr">
              <a:buNone/>
            </a:pPr>
            <a:r>
              <a:rPr lang="en-US" sz="3600" b="1">
                <a:solidFill>
                  <a:srgbClr val="C9A84C"/>
                </a:solidFill>
              </a:rPr>
              <a:t>1</a:t>
            </a:r>
          </a:p>
          <a:p>
            <a:pPr algn="ctr">
              <a:buNone/>
            </a:pPr>
            <a:r>
              <a:rPr lang="en-US" sz="2000" b="1">
                <a:solidFill>
                  <a:srgbClr val="FFFFFF"/>
                </a:solidFill>
              </a:rPr>
              <a:t>Headline retrieved</a:t>
            </a:r>
          </a:p>
          <a:p>
            <a:pPr algn="l">
              <a:buNone/>
            </a:pPr>
            <a:r>
              <a:rPr lang="en-US" sz="1100">
                <a:solidFill>
                  <a:srgbClr val="8090A8"/>
                </a:solidFill>
              </a:rPr>
              <a:t> </a:t>
            </a:r>
          </a:p>
          <a:p>
            <a:pPr algn="l">
              <a:buNone/>
            </a:pPr>
            <a:r>
              <a:rPr lang="en-US">
                <a:solidFill>
                  <a:srgbClr val="D4DCF0"/>
                </a:solidFill>
              </a:rPr>
              <a:t>Memory retrieved from Shallow layer, used in today's decision</a:t>
            </a:r>
          </a:p>
        </p:txBody>
      </p:sp>
      <p:sp>
        <p:nvSpPr>
          <p:cNvPr id="60" name="Arr0"/>
          <p:cNvSpPr/>
          <p:nvPr/>
        </p:nvSpPr>
        <p:spPr>
          <a:xfrm>
            <a:off x="2946400" y="2628900"/>
            <a:ext cx="203200" cy="381000"/>
          </a:xfrm>
          <a:prstGeom prst="rect">
            <a:avLst/>
          </a:prstGeom>
          <a:noFill/>
          <a:ln>
            <a:noFill/>
          </a:ln>
        </p:spPr>
        <p:txBody>
          <a:bodyPr lIns="0" anchor="ctr"/>
          <a:lstStyle/>
          <a:p>
            <a:pPr algn="ctr">
              <a:buNone/>
            </a:pPr>
            <a:r>
              <a:rPr lang="en-US" sz="3200" b="1">
                <a:solidFill>
                  <a:srgbClr val="C9A84C"/>
                </a:solidFill>
              </a:rPr>
              <a:t>→</a:t>
            </a:r>
          </a:p>
        </p:txBody>
      </p:sp>
      <p:sp>
        <p:nvSpPr>
          <p:cNvPr id="21" name="Step1"/>
          <p:cNvSpPr/>
          <p:nvPr/>
        </p:nvSpPr>
        <p:spPr>
          <a:xfrm>
            <a:off x="3251200" y="1168400"/>
            <a:ext cx="2438400" cy="3302000"/>
          </a:xfrm>
          <a:prstGeom prst="rect">
            <a:avLst/>
          </a:prstGeom>
          <a:solidFill>
            <a:srgbClr val="1A7A4A"/>
          </a:solidFill>
          <a:ln>
            <a:noFill/>
          </a:ln>
        </p:spPr>
        <p:txBody>
          <a:bodyPr lIns="180000" tIns="160000" anchor="t"/>
          <a:lstStyle/>
          <a:p>
            <a:pPr algn="ctr">
              <a:buNone/>
            </a:pPr>
            <a:r>
              <a:rPr lang="en-US" sz="3600" b="1">
                <a:solidFill>
                  <a:srgbClr val="C9A84C"/>
                </a:solidFill>
              </a:rPr>
              <a:t>2</a:t>
            </a:r>
          </a:p>
          <a:p>
            <a:pPr algn="ctr">
              <a:buNone/>
            </a:pPr>
            <a:r>
              <a:rPr lang="en-US" sz="2000" b="1">
                <a:solidFill>
                  <a:srgbClr val="FFFFFF"/>
                </a:solidFill>
              </a:rPr>
              <a:t>Trade profitable</a:t>
            </a:r>
          </a:p>
          <a:p>
            <a:pPr algn="l">
              <a:buNone/>
            </a:pPr>
            <a:r>
              <a:rPr lang="en-US" sz="1100">
                <a:solidFill>
                  <a:srgbClr val="8090A8"/>
                </a:solidFill>
              </a:rPr>
              <a:t> </a:t>
            </a:r>
          </a:p>
          <a:p>
            <a:pPr algn="l">
              <a:buNone/>
            </a:pPr>
            <a:r>
              <a:rPr lang="en-US">
                <a:solidFill>
                  <a:srgbClr val="D4DCF0"/>
                </a:solidFill>
              </a:rPr>
              <a:t>Access counter increments: access_counter += 1</a:t>
            </a:r>
          </a:p>
        </p:txBody>
      </p:sp>
      <p:sp>
        <p:nvSpPr>
          <p:cNvPr id="61" name="Arr1"/>
          <p:cNvSpPr/>
          <p:nvPr/>
        </p:nvSpPr>
        <p:spPr>
          <a:xfrm>
            <a:off x="5829644" y="2628900"/>
            <a:ext cx="203200" cy="381000"/>
          </a:xfrm>
          <a:prstGeom prst="rect">
            <a:avLst/>
          </a:prstGeom>
          <a:noFill/>
          <a:ln>
            <a:noFill/>
          </a:ln>
        </p:spPr>
        <p:txBody>
          <a:bodyPr lIns="0" anchor="ctr"/>
          <a:lstStyle/>
          <a:p>
            <a:pPr algn="ctr">
              <a:buNone/>
            </a:pPr>
            <a:r>
              <a:rPr lang="en-US" sz="3200" b="1">
                <a:solidFill>
                  <a:srgbClr val="C9A84C"/>
                </a:solidFill>
              </a:rPr>
              <a:t>→</a:t>
            </a:r>
          </a:p>
        </p:txBody>
      </p:sp>
      <p:sp>
        <p:nvSpPr>
          <p:cNvPr id="22" name="Step2"/>
          <p:cNvSpPr/>
          <p:nvPr/>
        </p:nvSpPr>
        <p:spPr>
          <a:xfrm>
            <a:off x="6146800" y="1168400"/>
            <a:ext cx="2438400" cy="3302000"/>
          </a:xfrm>
          <a:prstGeom prst="rect">
            <a:avLst/>
          </a:prstGeom>
          <a:solidFill>
            <a:srgbClr val="A08030"/>
          </a:solidFill>
          <a:ln>
            <a:noFill/>
          </a:ln>
        </p:spPr>
        <p:txBody>
          <a:bodyPr lIns="180000" tIns="160000" anchor="t"/>
          <a:lstStyle/>
          <a:p>
            <a:pPr algn="ctr">
              <a:buNone/>
            </a:pPr>
            <a:r>
              <a:rPr lang="en-US" sz="3600" b="1">
                <a:solidFill>
                  <a:srgbClr val="C9A84C"/>
                </a:solidFill>
              </a:rPr>
              <a:t>3</a:t>
            </a:r>
          </a:p>
          <a:p>
            <a:pPr algn="ctr">
              <a:buNone/>
            </a:pPr>
            <a:r>
              <a:rPr lang="en-US" sz="2000" b="1">
                <a:solidFill>
                  <a:srgbClr val="FFFFFF"/>
                </a:solidFill>
              </a:rPr>
              <a:t>Threshold crossed</a:t>
            </a:r>
          </a:p>
          <a:p>
            <a:pPr algn="l">
              <a:buNone/>
            </a:pPr>
            <a:r>
              <a:rPr lang="en-US" sz="1100">
                <a:solidFill>
                  <a:srgbClr val="8090A8"/>
                </a:solidFill>
              </a:rPr>
              <a:t> </a:t>
            </a:r>
          </a:p>
          <a:p>
            <a:pPr algn="l">
              <a:buNone/>
            </a:pPr>
            <a:r>
              <a:rPr lang="en-US">
                <a:solidFill>
                  <a:srgbClr val="D4DCF0"/>
                </a:solidFill>
              </a:rPr>
              <a:t>+5 bonus to importance score</a:t>
            </a:r>
          </a:p>
        </p:txBody>
      </p:sp>
      <p:sp>
        <p:nvSpPr>
          <p:cNvPr id="62" name="Arr2"/>
          <p:cNvSpPr/>
          <p:nvPr/>
        </p:nvSpPr>
        <p:spPr>
          <a:xfrm>
            <a:off x="8813113" y="2628900"/>
            <a:ext cx="203200" cy="381000"/>
          </a:xfrm>
          <a:prstGeom prst="rect">
            <a:avLst/>
          </a:prstGeom>
          <a:noFill/>
          <a:ln>
            <a:noFill/>
          </a:ln>
        </p:spPr>
        <p:txBody>
          <a:bodyPr lIns="0" anchor="ctr"/>
          <a:lstStyle/>
          <a:p>
            <a:pPr algn="ctr">
              <a:buNone/>
            </a:pPr>
            <a:r>
              <a:rPr lang="en-US" sz="3200" b="1">
                <a:solidFill>
                  <a:srgbClr val="C9A84C"/>
                </a:solidFill>
              </a:rPr>
              <a:t>→</a:t>
            </a:r>
          </a:p>
        </p:txBody>
      </p:sp>
      <p:sp>
        <p:nvSpPr>
          <p:cNvPr id="23" name="Step3"/>
          <p:cNvSpPr/>
          <p:nvPr/>
        </p:nvSpPr>
        <p:spPr>
          <a:xfrm>
            <a:off x="9144000" y="1168400"/>
            <a:ext cx="2438400" cy="3302000"/>
          </a:xfrm>
          <a:prstGeom prst="rect">
            <a:avLst/>
          </a:prstGeom>
          <a:solidFill>
            <a:srgbClr val="1A2744"/>
          </a:solidFill>
          <a:ln>
            <a:noFill/>
          </a:ln>
        </p:spPr>
        <p:txBody>
          <a:bodyPr lIns="180000" tIns="160000" anchor="t"/>
          <a:lstStyle/>
          <a:p>
            <a:pPr algn="ctr">
              <a:buNone/>
            </a:pPr>
            <a:r>
              <a:rPr lang="en-US" sz="3600" b="1">
                <a:solidFill>
                  <a:srgbClr val="C9A84C"/>
                </a:solidFill>
              </a:rPr>
              <a:t>4</a:t>
            </a:r>
          </a:p>
          <a:p>
            <a:pPr algn="ctr">
              <a:buNone/>
            </a:pPr>
            <a:r>
              <a:rPr lang="en-US" sz="2000" b="1">
                <a:solidFill>
                  <a:srgbClr val="FFFFFF"/>
                </a:solidFill>
              </a:rPr>
              <a:t>Promoted to Deep</a:t>
            </a:r>
          </a:p>
          <a:p>
            <a:pPr algn="l">
              <a:buNone/>
            </a:pPr>
            <a:r>
              <a:rPr lang="en-US" sz="1100">
                <a:solidFill>
                  <a:srgbClr val="8090A8"/>
                </a:solidFill>
              </a:rPr>
              <a:t> </a:t>
            </a:r>
          </a:p>
          <a:p>
            <a:pPr algn="l">
              <a:buNone/>
            </a:pPr>
            <a:r>
              <a:rPr lang="en-US">
                <a:solidFill>
                  <a:srgbClr val="D4DCF0"/>
                </a:solidFill>
              </a:rPr>
              <a:t>Decay clock reset. Short-term noise graduates to long-term signal</a:t>
            </a:r>
          </a:p>
        </p:txBody>
      </p:sp>
      <p:sp>
        <p:nvSpPr>
          <p:cNvPr id="2" name="Code"/>
          <p:cNvSpPr/>
          <p:nvPr/>
        </p:nvSpPr>
        <p:spPr>
          <a:xfrm>
            <a:off x="609600" y="4622800"/>
            <a:ext cx="10972800" cy="1041400"/>
          </a:xfrm>
          <a:prstGeom prst="rect">
            <a:avLst/>
          </a:prstGeom>
          <a:solidFill>
            <a:srgbClr val="1A2744"/>
          </a:solidFill>
          <a:ln>
            <a:noFill/>
          </a:ln>
        </p:spPr>
        <p:txBody>
          <a:bodyPr lIns="200000" tIns="160000" anchor="t"/>
          <a:lstStyle/>
          <a:p>
            <a:pPr algn="l">
              <a:buNone/>
            </a:pPr>
            <a:r>
              <a:rPr lang="en-US" sz="1600">
                <a:solidFill>
                  <a:srgbClr val="A0B4D6"/>
                </a:solidFill>
              </a:rPr>
              <a:t>Source: brain.py (authors' GitHub)</a:t>
            </a:r>
          </a:p>
          <a:p>
            <a:pPr algn="l">
              <a:buNone/>
            </a:pPr>
            <a:r>
              <a:rPr lang="en-US" sz="2000">
                <a:solidFill>
                  <a:srgbClr val="C9A84C"/>
                </a:solidFill>
              </a:rPr>
              <a:t>cur_record["access_counter"] += cur_feedback</a:t>
            </a:r>
          </a:p>
        </p:txBody>
      </p:sp>
      <p:sp>
        <p:nvSpPr>
          <p:cNvPr id="70" name="Takeaway"/>
          <p:cNvSpPr/>
          <p:nvPr/>
        </p:nvSpPr>
        <p:spPr>
          <a:xfrm>
            <a:off x="609600" y="5791200"/>
            <a:ext cx="10972800" cy="736600"/>
          </a:xfrm>
          <a:prstGeom prst="rect">
            <a:avLst/>
          </a:prstGeom>
          <a:solidFill>
            <a:srgbClr val="F0F2F7"/>
          </a:solidFill>
          <a:ln>
            <a:noFill/>
          </a:ln>
        </p:spPr>
        <p:txBody>
          <a:bodyPr lIns="240000" anchor="ctr"/>
          <a:lstStyle/>
          <a:p>
            <a:pPr algn="l">
              <a:buNone/>
            </a:pPr>
            <a:r>
              <a:rPr lang="en-US" sz="2000" b="1">
                <a:solidFill>
                  <a:srgbClr val="1A2744"/>
                </a:solidFill>
              </a:rPr>
              <a:t>Novel vs Park: </a:t>
            </a:r>
            <a:r>
              <a:rPr lang="en-US" sz="2000">
                <a:solidFill>
                  <a:srgbClr val="2C3E50"/>
                </a:solidFill>
              </a:rPr>
              <a:t>Profit-validated memories earn their way into long-term storage. Short-term noise can graduate to long-term signal.</a:t>
            </a:r>
          </a:p>
        </p:txBody>
      </p:sp>
    </p:spTree>
    <p:extLst>
      <p:ext uri="{BB962C8B-B14F-4D97-AF65-F5344CB8AC3E}">
        <p14:creationId xmlns:p14="http://schemas.microsoft.com/office/powerpoint/2010/main" val="3883398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0FB25-A00B-76C1-4467-7A12F94A1A0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D6D1796-967D-D14B-180C-A2D4310F09B0}"/>
              </a:ext>
            </a:extLst>
          </p:cNvPr>
          <p:cNvPicPr>
            <a:picLocks noChangeAspect="1"/>
          </p:cNvPicPr>
          <p:nvPr/>
        </p:nvPicPr>
        <p:blipFill>
          <a:blip r:embed="rId2"/>
          <a:stretch>
            <a:fillRect/>
          </a:stretch>
        </p:blipFill>
        <p:spPr>
          <a:xfrm>
            <a:off x="0" y="0"/>
            <a:ext cx="12185522" cy="6858000"/>
          </a:xfrm>
          <a:prstGeom prst="rect">
            <a:avLst/>
          </a:prstGeom>
        </p:spPr>
      </p:pic>
      <p:sp>
        <p:nvSpPr>
          <p:cNvPr id="8" name="מלבן 7">
            <a:extLst>
              <a:ext uri="{FF2B5EF4-FFF2-40B4-BE49-F238E27FC236}">
                <a16:creationId xmlns:a16="http://schemas.microsoft.com/office/drawing/2014/main" id="{5EEB83A3-2249-B373-C8ED-3789D061CDA7}"/>
              </a:ext>
            </a:extLst>
          </p:cNvPr>
          <p:cNvSpPr/>
          <p:nvPr/>
        </p:nvSpPr>
        <p:spPr>
          <a:xfrm>
            <a:off x="7105135" y="0"/>
            <a:ext cx="3015049" cy="667265"/>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b="1">
              <a:solidFill>
                <a:srgbClr val="000512"/>
              </a:solidFill>
            </a:endParaRPr>
          </a:p>
        </p:txBody>
      </p:sp>
      <p:sp>
        <p:nvSpPr>
          <p:cNvPr id="9" name="תיבת טקסט 8">
            <a:extLst>
              <a:ext uri="{FF2B5EF4-FFF2-40B4-BE49-F238E27FC236}">
                <a16:creationId xmlns:a16="http://schemas.microsoft.com/office/drawing/2014/main" id="{B15A962B-B41B-EB2D-C842-6D34440DDAEC}"/>
              </a:ext>
            </a:extLst>
          </p:cNvPr>
          <p:cNvSpPr txBox="1"/>
          <p:nvPr/>
        </p:nvSpPr>
        <p:spPr>
          <a:xfrm>
            <a:off x="7080421" y="-37070"/>
            <a:ext cx="1705233" cy="769441"/>
          </a:xfrm>
          <a:prstGeom prst="rect">
            <a:avLst/>
          </a:prstGeom>
          <a:noFill/>
        </p:spPr>
        <p:txBody>
          <a:bodyPr wrap="square" rtlCol="1">
            <a:spAutoFit/>
          </a:bodyPr>
          <a:lstStyle/>
          <a:p>
            <a:r>
              <a:rPr lang="en-US" sz="4400" b="1">
                <a:solidFill>
                  <a:srgbClr val="000512"/>
                </a:solidFill>
              </a:rPr>
              <a:t>Flow</a:t>
            </a:r>
            <a:endParaRPr lang="he-IL" sz="4400" b="1">
              <a:solidFill>
                <a:srgbClr val="000512"/>
              </a:solidFill>
            </a:endParaRPr>
          </a:p>
        </p:txBody>
      </p:sp>
      <p:pic>
        <p:nvPicPr>
          <p:cNvPr id="4" name="גרפיקה 3" descr="סימון תג 1 עם מילוי מלא">
            <a:extLst>
              <a:ext uri="{FF2B5EF4-FFF2-40B4-BE49-F238E27FC236}">
                <a16:creationId xmlns:a16="http://schemas.microsoft.com/office/drawing/2014/main" id="{5ADDA19C-FEBB-ADF7-5549-8BF2AFA736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3287" y="553987"/>
            <a:ext cx="700226" cy="700226"/>
          </a:xfrm>
          <a:prstGeom prst="rect">
            <a:avLst/>
          </a:prstGeom>
        </p:spPr>
      </p:pic>
      <p:pic>
        <p:nvPicPr>
          <p:cNvPr id="3" name="גרפיקה 2" descr="סימון תג 1 עם מילוי מלא">
            <a:extLst>
              <a:ext uri="{FF2B5EF4-FFF2-40B4-BE49-F238E27FC236}">
                <a16:creationId xmlns:a16="http://schemas.microsoft.com/office/drawing/2014/main" id="{5DEB4D88-3928-EA97-5F4D-EF627FFEA5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92524" y="4451592"/>
            <a:ext cx="700226" cy="700226"/>
          </a:xfrm>
          <a:prstGeom prst="rect">
            <a:avLst/>
          </a:prstGeom>
        </p:spPr>
      </p:pic>
    </p:spTree>
    <p:extLst>
      <p:ext uri="{BB962C8B-B14F-4D97-AF65-F5344CB8AC3E}">
        <p14:creationId xmlns:p14="http://schemas.microsoft.com/office/powerpoint/2010/main" val="94549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F768E8-0EF3-088C-5FAB-5127ACC51ABA}"/>
              </a:ext>
            </a:extLst>
          </p:cNvPr>
          <p:cNvSpPr>
            <a:spLocks noGrp="1"/>
          </p:cNvSpPr>
          <p:nvPr>
            <p:ph idx="1"/>
          </p:nvPr>
        </p:nvSpPr>
        <p:spPr>
          <a:xfrm>
            <a:off x="506627" y="1295400"/>
            <a:ext cx="10847173" cy="4881563"/>
          </a:xfrm>
        </p:spPr>
        <p:txBody>
          <a:bodyPr>
            <a:normAutofit fontScale="92500"/>
          </a:bodyPr>
          <a:lstStyle/>
          <a:p>
            <a:pPr>
              <a:buNone/>
            </a:pPr>
            <a:r>
              <a:rPr lang="en-US" sz="2400" b="1">
                <a:solidFill>
                  <a:srgbClr val="1A2744"/>
                </a:solidFill>
              </a:rPr>
              <a:t>Two types of reflection</a:t>
            </a:r>
          </a:p>
          <a:p>
            <a:pPr marL="285750" indent="-285750">
              <a:buFont typeface="Arial"/>
              <a:buChar char="•"/>
            </a:pPr>
            <a:r>
              <a:rPr lang="en-US" sz="2400" b="1">
                <a:solidFill>
                  <a:srgbClr val="C9A84C"/>
                </a:solidFill>
              </a:rPr>
              <a:t>Immediate Reflection: </a:t>
            </a:r>
            <a:r>
              <a:rPr lang="en-US" sz="2400"/>
              <a:t>happens upon receiving a daily trading inquiry to generate the trading decision itself - the agent merges market indications with retrieved memories, outputs the trading direction, logs the reasoning, and records the influential memory IDs.</a:t>
            </a:r>
            <a:endParaRPr lang="en-US" sz="4000"/>
          </a:p>
          <a:p>
            <a:pPr marL="285750" indent="-285750">
              <a:buFont typeface="Arial"/>
              <a:buChar char="•"/>
            </a:pPr>
            <a:r>
              <a:rPr lang="en-US" sz="2400" b="1">
                <a:solidFill>
                  <a:srgbClr val="C9A84C"/>
                </a:solidFill>
              </a:rPr>
              <a:t>Extended Reflection: </a:t>
            </a:r>
            <a:r>
              <a:rPr lang="en-US" sz="2400"/>
              <a:t>reevaluates immediate reflection outcomes over a look-back window of M trading days - the agent reviews the past M days, synthesizes patterns, and promotes key insights into long-term (Deep) memory.</a:t>
            </a:r>
          </a:p>
          <a:p>
            <a:pPr>
              <a:buNone/>
            </a:pPr>
            <a:r>
              <a:rPr lang="en-US" sz="2400" b="1">
                <a:solidFill>
                  <a:srgbClr val="1A2744"/>
                </a:solidFill>
              </a:rPr>
              <a:t>The M hyperparameter</a:t>
            </a:r>
          </a:p>
          <a:p>
            <a:pPr marL="285750" indent="-285750">
              <a:buFont typeface="Arial"/>
              <a:buChar char="•"/>
            </a:pPr>
            <a:r>
              <a:rPr lang="en-US" sz="2400"/>
              <a:t>M controls the size of the look-back window - it adjusts the working memory capacity and information retrieval ability.</a:t>
            </a:r>
          </a:p>
          <a:p>
            <a:pPr marL="285750" indent="-285750">
              <a:buFont typeface="Arial"/>
              <a:buChar char="•"/>
            </a:pPr>
            <a:r>
              <a:rPr lang="en-US" sz="2400"/>
              <a:t>The system uses M = 7 days (as defined by </a:t>
            </a:r>
            <a:r>
              <a:rPr lang="en-US" sz="2400" err="1"/>
              <a:t>look_back_window_size</a:t>
            </a:r>
            <a:r>
              <a:rPr lang="en-US" sz="2400"/>
              <a:t> in the config files) </a:t>
            </a:r>
          </a:p>
          <a:p>
            <a:pPr marL="0" indent="0">
              <a:buNone/>
            </a:pPr>
            <a:r>
              <a:rPr lang="en-US" sz="2400"/>
              <a:t>*No sensitivity analysis is provided for this parameter.</a:t>
            </a:r>
          </a:p>
        </p:txBody>
      </p:sp>
      <p:sp>
        <p:nvSpPr>
          <p:cNvPr id="4" name="Label">
            <a:extLst>
              <a:ext uri="{FF2B5EF4-FFF2-40B4-BE49-F238E27FC236}">
                <a16:creationId xmlns:a16="http://schemas.microsoft.com/office/drawing/2014/main" id="{86DA868D-4FB1-B43D-EE25-930CE5B25A2B}"/>
              </a:ext>
            </a:extLst>
          </p:cNvPr>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2 - Methodology</a:t>
            </a:r>
          </a:p>
        </p:txBody>
      </p:sp>
      <p:sp>
        <p:nvSpPr>
          <p:cNvPr id="5" name="Title">
            <a:extLst>
              <a:ext uri="{FF2B5EF4-FFF2-40B4-BE49-F238E27FC236}">
                <a16:creationId xmlns:a16="http://schemas.microsoft.com/office/drawing/2014/main" id="{6AEAA1C1-D3B9-D5BD-2D65-6DF5DCDF4CAE}"/>
              </a:ext>
            </a:extLst>
          </p:cNvPr>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The Reflection Process</a:t>
            </a:r>
          </a:p>
        </p:txBody>
      </p:sp>
    </p:spTree>
    <p:extLst>
      <p:ext uri="{BB962C8B-B14F-4D97-AF65-F5344CB8AC3E}">
        <p14:creationId xmlns:p14="http://schemas.microsoft.com/office/powerpoint/2010/main" val="1842908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6EBF4-DBDA-9CFB-F49A-948A81C6662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BECF305-2E31-8CD6-0679-62B4D25278D9}"/>
              </a:ext>
            </a:extLst>
          </p:cNvPr>
          <p:cNvPicPr>
            <a:picLocks noChangeAspect="1"/>
          </p:cNvPicPr>
          <p:nvPr/>
        </p:nvPicPr>
        <p:blipFill>
          <a:blip r:embed="rId2"/>
          <a:stretch>
            <a:fillRect/>
          </a:stretch>
        </p:blipFill>
        <p:spPr>
          <a:xfrm>
            <a:off x="0" y="0"/>
            <a:ext cx="12185522" cy="6858000"/>
          </a:xfrm>
          <a:prstGeom prst="rect">
            <a:avLst/>
          </a:prstGeom>
        </p:spPr>
      </p:pic>
      <p:sp>
        <p:nvSpPr>
          <p:cNvPr id="8" name="מלבן 7">
            <a:extLst>
              <a:ext uri="{FF2B5EF4-FFF2-40B4-BE49-F238E27FC236}">
                <a16:creationId xmlns:a16="http://schemas.microsoft.com/office/drawing/2014/main" id="{B52F0486-783B-EBE8-60B9-78D316E2DF1E}"/>
              </a:ext>
            </a:extLst>
          </p:cNvPr>
          <p:cNvSpPr/>
          <p:nvPr/>
        </p:nvSpPr>
        <p:spPr>
          <a:xfrm>
            <a:off x="7105135" y="0"/>
            <a:ext cx="3015049" cy="667265"/>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b="1">
              <a:solidFill>
                <a:srgbClr val="000512"/>
              </a:solidFill>
            </a:endParaRPr>
          </a:p>
        </p:txBody>
      </p:sp>
      <p:sp>
        <p:nvSpPr>
          <p:cNvPr id="9" name="תיבת טקסט 8">
            <a:extLst>
              <a:ext uri="{FF2B5EF4-FFF2-40B4-BE49-F238E27FC236}">
                <a16:creationId xmlns:a16="http://schemas.microsoft.com/office/drawing/2014/main" id="{9DBCFCF5-8639-0E18-0A6E-8026CB4EC054}"/>
              </a:ext>
            </a:extLst>
          </p:cNvPr>
          <p:cNvSpPr txBox="1"/>
          <p:nvPr/>
        </p:nvSpPr>
        <p:spPr>
          <a:xfrm>
            <a:off x="7080421" y="-37070"/>
            <a:ext cx="1705233" cy="769441"/>
          </a:xfrm>
          <a:prstGeom prst="rect">
            <a:avLst/>
          </a:prstGeom>
          <a:noFill/>
        </p:spPr>
        <p:txBody>
          <a:bodyPr wrap="square" rtlCol="1">
            <a:spAutoFit/>
          </a:bodyPr>
          <a:lstStyle/>
          <a:p>
            <a:r>
              <a:rPr lang="en-US" sz="4400" b="1">
                <a:solidFill>
                  <a:srgbClr val="000512"/>
                </a:solidFill>
              </a:rPr>
              <a:t>Flow</a:t>
            </a:r>
            <a:endParaRPr lang="he-IL" sz="4400" b="1">
              <a:solidFill>
                <a:srgbClr val="000512"/>
              </a:solidFill>
            </a:endParaRPr>
          </a:p>
        </p:txBody>
      </p:sp>
      <p:pic>
        <p:nvPicPr>
          <p:cNvPr id="4" name="גרפיקה 3" descr="סימון תג 1 עם מילוי מלא">
            <a:extLst>
              <a:ext uri="{FF2B5EF4-FFF2-40B4-BE49-F238E27FC236}">
                <a16:creationId xmlns:a16="http://schemas.microsoft.com/office/drawing/2014/main" id="{99B44A37-E3E0-60C3-3FE9-DE7082744A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3287" y="553987"/>
            <a:ext cx="700226" cy="700226"/>
          </a:xfrm>
          <a:prstGeom prst="rect">
            <a:avLst/>
          </a:prstGeom>
        </p:spPr>
      </p:pic>
      <p:pic>
        <p:nvPicPr>
          <p:cNvPr id="3" name="גרפיקה 2" descr="סימון תג 1 עם מילוי מלא">
            <a:extLst>
              <a:ext uri="{FF2B5EF4-FFF2-40B4-BE49-F238E27FC236}">
                <a16:creationId xmlns:a16="http://schemas.microsoft.com/office/drawing/2014/main" id="{81A18893-EEB8-9E36-9DBD-597357148C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82924" y="1386008"/>
            <a:ext cx="700226" cy="700226"/>
          </a:xfrm>
          <a:prstGeom prst="rect">
            <a:avLst/>
          </a:prstGeom>
        </p:spPr>
      </p:pic>
      <p:pic>
        <p:nvPicPr>
          <p:cNvPr id="5" name="גרפיקה 4" descr="סימון תג 1 עם מילוי מלא">
            <a:extLst>
              <a:ext uri="{FF2B5EF4-FFF2-40B4-BE49-F238E27FC236}">
                <a16:creationId xmlns:a16="http://schemas.microsoft.com/office/drawing/2014/main" id="{20CB22D0-4AA4-EBFB-9156-6A667A27EE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62546" y="4421654"/>
            <a:ext cx="700226" cy="700226"/>
          </a:xfrm>
          <a:prstGeom prst="rect">
            <a:avLst/>
          </a:prstGeom>
        </p:spPr>
      </p:pic>
    </p:spTree>
    <p:extLst>
      <p:ext uri="{BB962C8B-B14F-4D97-AF65-F5344CB8AC3E}">
        <p14:creationId xmlns:p14="http://schemas.microsoft.com/office/powerpoint/2010/main" val="3820383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2 - Methodology</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Decision-Making &amp; Top-K Cognitive Span</a:t>
            </a:r>
          </a:p>
        </p:txBody>
      </p:sp>
      <p:sp>
        <p:nvSpPr>
          <p:cNvPr id="20" name="PS0"/>
          <p:cNvSpPr/>
          <p:nvPr/>
        </p:nvSpPr>
        <p:spPr>
          <a:xfrm>
            <a:off x="609600" y="1168400"/>
            <a:ext cx="1803400" cy="1524000"/>
          </a:xfrm>
          <a:prstGeom prst="rect">
            <a:avLst/>
          </a:prstGeom>
          <a:solidFill>
            <a:srgbClr val="2E4272"/>
          </a:solidFill>
          <a:ln>
            <a:noFill/>
          </a:ln>
        </p:spPr>
        <p:txBody>
          <a:bodyPr lIns="120000" anchor="ctr"/>
          <a:lstStyle/>
          <a:p>
            <a:pPr algn="ctr">
              <a:buNone/>
            </a:pPr>
            <a:r>
              <a:rPr lang="en-US" sz="3200" b="1">
                <a:solidFill>
                  <a:srgbClr val="C9A84C"/>
                </a:solidFill>
              </a:rPr>
              <a:t>1</a:t>
            </a:r>
          </a:p>
          <a:p>
            <a:pPr algn="ctr">
              <a:buNone/>
            </a:pPr>
            <a:r>
              <a:rPr lang="en-US" sz="2000" b="1">
                <a:solidFill>
                  <a:srgbClr val="FFFFFF"/>
                </a:solidFill>
              </a:rPr>
              <a:t>Retrieve
Top-K=5</a:t>
            </a:r>
          </a:p>
        </p:txBody>
      </p:sp>
      <p:sp>
        <p:nvSpPr>
          <p:cNvPr id="60" name="Arr0"/>
          <p:cNvSpPr/>
          <p:nvPr/>
        </p:nvSpPr>
        <p:spPr>
          <a:xfrm>
            <a:off x="2528673" y="1765300"/>
            <a:ext cx="177800" cy="330200"/>
          </a:xfrm>
          <a:prstGeom prst="rect">
            <a:avLst/>
          </a:prstGeom>
          <a:noFill/>
          <a:ln>
            <a:noFill/>
          </a:ln>
        </p:spPr>
        <p:txBody>
          <a:bodyPr lIns="0" anchor="ctr"/>
          <a:lstStyle/>
          <a:p>
            <a:pPr algn="ctr">
              <a:buNone/>
            </a:pPr>
            <a:r>
              <a:rPr lang="en-US" sz="2000" b="1">
                <a:solidFill>
                  <a:srgbClr val="C9A84C"/>
                </a:solidFill>
              </a:rPr>
              <a:t>→</a:t>
            </a:r>
          </a:p>
        </p:txBody>
      </p:sp>
      <p:sp>
        <p:nvSpPr>
          <p:cNvPr id="21" name="PS1"/>
          <p:cNvSpPr/>
          <p:nvPr/>
        </p:nvSpPr>
        <p:spPr>
          <a:xfrm>
            <a:off x="2740970" y="1168400"/>
            <a:ext cx="1803400" cy="1524000"/>
          </a:xfrm>
          <a:prstGeom prst="rect">
            <a:avLst/>
          </a:prstGeom>
          <a:solidFill>
            <a:srgbClr val="2E4272"/>
          </a:solidFill>
          <a:ln>
            <a:noFill/>
          </a:ln>
        </p:spPr>
        <p:txBody>
          <a:bodyPr lIns="120000" anchor="ctr"/>
          <a:lstStyle/>
          <a:p>
            <a:pPr algn="ctr">
              <a:buNone/>
            </a:pPr>
            <a:r>
              <a:rPr lang="en-US" sz="3200" b="1" dirty="0">
                <a:solidFill>
                  <a:srgbClr val="C9A84C"/>
                </a:solidFill>
              </a:rPr>
              <a:t>2</a:t>
            </a:r>
          </a:p>
          <a:p>
            <a:pPr algn="ctr">
              <a:buNone/>
            </a:pPr>
            <a:r>
              <a:rPr lang="en-US" sz="2000" b="1" dirty="0">
                <a:solidFill>
                  <a:srgbClr val="FFFFFF"/>
                </a:solidFill>
              </a:rPr>
              <a:t>Build
Prompt</a:t>
            </a:r>
          </a:p>
        </p:txBody>
      </p:sp>
      <p:sp>
        <p:nvSpPr>
          <p:cNvPr id="61" name="Arr1"/>
          <p:cNvSpPr/>
          <p:nvPr/>
        </p:nvSpPr>
        <p:spPr>
          <a:xfrm>
            <a:off x="4694540" y="1765300"/>
            <a:ext cx="177800" cy="330200"/>
          </a:xfrm>
          <a:prstGeom prst="rect">
            <a:avLst/>
          </a:prstGeom>
          <a:noFill/>
          <a:ln>
            <a:noFill/>
          </a:ln>
        </p:spPr>
        <p:txBody>
          <a:bodyPr lIns="0" anchor="ctr"/>
          <a:lstStyle/>
          <a:p>
            <a:pPr algn="ctr">
              <a:buNone/>
            </a:pPr>
            <a:r>
              <a:rPr lang="en-US" sz="2000" b="1">
                <a:solidFill>
                  <a:srgbClr val="C9A84C"/>
                </a:solidFill>
              </a:rPr>
              <a:t>→</a:t>
            </a:r>
          </a:p>
        </p:txBody>
      </p:sp>
      <p:sp>
        <p:nvSpPr>
          <p:cNvPr id="22" name="PS2"/>
          <p:cNvSpPr/>
          <p:nvPr/>
        </p:nvSpPr>
        <p:spPr>
          <a:xfrm>
            <a:off x="4968447" y="1168400"/>
            <a:ext cx="1803400" cy="1524000"/>
          </a:xfrm>
          <a:prstGeom prst="rect">
            <a:avLst/>
          </a:prstGeom>
          <a:solidFill>
            <a:srgbClr val="1A2744"/>
          </a:solidFill>
          <a:ln>
            <a:noFill/>
          </a:ln>
        </p:spPr>
        <p:txBody>
          <a:bodyPr lIns="120000" anchor="ctr"/>
          <a:lstStyle/>
          <a:p>
            <a:pPr algn="ctr">
              <a:buNone/>
            </a:pPr>
            <a:r>
              <a:rPr lang="en-US" sz="3200" b="1" dirty="0">
                <a:solidFill>
                  <a:srgbClr val="C9A84C"/>
                </a:solidFill>
              </a:rPr>
              <a:t>3</a:t>
            </a:r>
          </a:p>
          <a:p>
            <a:pPr algn="ctr">
              <a:buNone/>
            </a:pPr>
            <a:r>
              <a:rPr lang="en-US" sz="2000" b="1" dirty="0">
                <a:solidFill>
                  <a:srgbClr val="FFFFFF"/>
                </a:solidFill>
              </a:rPr>
              <a:t>GPT-4
Turbo</a:t>
            </a:r>
          </a:p>
        </p:txBody>
      </p:sp>
      <p:sp>
        <p:nvSpPr>
          <p:cNvPr id="62" name="Arr2"/>
          <p:cNvSpPr/>
          <p:nvPr/>
        </p:nvSpPr>
        <p:spPr>
          <a:xfrm>
            <a:off x="6956854" y="1765300"/>
            <a:ext cx="177800" cy="330200"/>
          </a:xfrm>
          <a:prstGeom prst="rect">
            <a:avLst/>
          </a:prstGeom>
          <a:noFill/>
          <a:ln>
            <a:noFill/>
          </a:ln>
        </p:spPr>
        <p:txBody>
          <a:bodyPr lIns="0" anchor="ctr"/>
          <a:lstStyle/>
          <a:p>
            <a:pPr algn="ctr">
              <a:buNone/>
            </a:pPr>
            <a:r>
              <a:rPr lang="en-US" sz="2000" b="1">
                <a:solidFill>
                  <a:srgbClr val="C9A84C"/>
                </a:solidFill>
              </a:rPr>
              <a:t>→</a:t>
            </a:r>
          </a:p>
        </p:txBody>
      </p:sp>
      <p:sp>
        <p:nvSpPr>
          <p:cNvPr id="23" name="PS3"/>
          <p:cNvSpPr/>
          <p:nvPr/>
        </p:nvSpPr>
        <p:spPr>
          <a:xfrm>
            <a:off x="7223554" y="1168400"/>
            <a:ext cx="1803400" cy="1524000"/>
          </a:xfrm>
          <a:prstGeom prst="rect">
            <a:avLst/>
          </a:prstGeom>
          <a:solidFill>
            <a:srgbClr val="3B82C4"/>
          </a:solidFill>
          <a:ln>
            <a:noFill/>
          </a:ln>
        </p:spPr>
        <p:txBody>
          <a:bodyPr lIns="120000" anchor="ctr"/>
          <a:lstStyle/>
          <a:p>
            <a:pPr algn="ctr">
              <a:buNone/>
            </a:pPr>
            <a:r>
              <a:rPr lang="en-US" sz="3200" b="1">
                <a:solidFill>
                  <a:srgbClr val="C9A84C"/>
                </a:solidFill>
              </a:rPr>
              <a:t>4</a:t>
            </a:r>
          </a:p>
          <a:p>
            <a:pPr algn="ctr">
              <a:buNone/>
            </a:pPr>
            <a:r>
              <a:rPr lang="en-US" sz="2000" b="1">
                <a:solidFill>
                  <a:srgbClr val="FFFFFF"/>
                </a:solidFill>
              </a:rPr>
              <a:t>Reasoning
Chain</a:t>
            </a:r>
          </a:p>
        </p:txBody>
      </p:sp>
      <p:sp>
        <p:nvSpPr>
          <p:cNvPr id="63" name="Arr3"/>
          <p:cNvSpPr/>
          <p:nvPr/>
        </p:nvSpPr>
        <p:spPr>
          <a:xfrm>
            <a:off x="9204754" y="1765300"/>
            <a:ext cx="177800" cy="330200"/>
          </a:xfrm>
          <a:prstGeom prst="rect">
            <a:avLst/>
          </a:prstGeom>
          <a:noFill/>
          <a:ln>
            <a:noFill/>
          </a:ln>
        </p:spPr>
        <p:txBody>
          <a:bodyPr lIns="0" anchor="ctr"/>
          <a:lstStyle/>
          <a:p>
            <a:pPr algn="ctr">
              <a:buNone/>
            </a:pPr>
            <a:r>
              <a:rPr lang="en-US" sz="2000" b="1">
                <a:solidFill>
                  <a:srgbClr val="C9A84C"/>
                </a:solidFill>
              </a:rPr>
              <a:t>→</a:t>
            </a:r>
          </a:p>
        </p:txBody>
      </p:sp>
      <p:sp>
        <p:nvSpPr>
          <p:cNvPr id="24" name="PS4"/>
          <p:cNvSpPr/>
          <p:nvPr/>
        </p:nvSpPr>
        <p:spPr>
          <a:xfrm>
            <a:off x="9436100" y="1168400"/>
            <a:ext cx="1803400" cy="1524000"/>
          </a:xfrm>
          <a:prstGeom prst="rect">
            <a:avLst/>
          </a:prstGeom>
          <a:solidFill>
            <a:srgbClr val="1A7A4A"/>
          </a:solidFill>
          <a:ln>
            <a:noFill/>
          </a:ln>
        </p:spPr>
        <p:txBody>
          <a:bodyPr lIns="120000" anchor="ctr"/>
          <a:lstStyle/>
          <a:p>
            <a:pPr algn="ctr">
              <a:buNone/>
            </a:pPr>
            <a:r>
              <a:rPr lang="en-US" sz="3200" b="1">
                <a:solidFill>
                  <a:srgbClr val="C9A84C"/>
                </a:solidFill>
              </a:rPr>
              <a:t>5</a:t>
            </a:r>
          </a:p>
          <a:p>
            <a:pPr algn="ctr">
              <a:buNone/>
            </a:pPr>
            <a:r>
              <a:rPr lang="en-US" sz="2000" b="1">
                <a:solidFill>
                  <a:srgbClr val="FFFFFF"/>
                </a:solidFill>
              </a:rPr>
              <a:t>Buy/Sell/
Hold</a:t>
            </a:r>
          </a:p>
        </p:txBody>
      </p:sp>
      <p:sp>
        <p:nvSpPr>
          <p:cNvPr id="2" name="ReasonBox"/>
          <p:cNvSpPr/>
          <p:nvPr/>
        </p:nvSpPr>
        <p:spPr>
          <a:xfrm>
            <a:off x="609600" y="2894228"/>
            <a:ext cx="10972800" cy="1879600"/>
          </a:xfrm>
          <a:prstGeom prst="rect">
            <a:avLst/>
          </a:prstGeom>
          <a:solidFill>
            <a:srgbClr val="1A2744"/>
          </a:solidFill>
          <a:ln>
            <a:noFill/>
          </a:ln>
        </p:spPr>
        <p:txBody>
          <a:bodyPr lIns="200000" tIns="160000" anchor="t"/>
          <a:lstStyle/>
          <a:p>
            <a:pPr algn="l">
              <a:buNone/>
            </a:pPr>
            <a:r>
              <a:rPr lang="en-US" sz="1600" i="1">
                <a:solidFill>
                  <a:srgbClr val="A0B4D6"/>
                </a:solidFill>
              </a:rPr>
              <a:t>Example reasoning chain (from paper):</a:t>
            </a:r>
          </a:p>
          <a:p>
            <a:pPr algn="l">
              <a:buNone/>
            </a:pPr>
            <a:r>
              <a:rPr lang="en-US" sz="1100">
                <a:solidFill>
                  <a:srgbClr val="8090A8"/>
                </a:solidFill>
              </a:rPr>
              <a:t> </a:t>
            </a:r>
          </a:p>
          <a:p>
            <a:pPr algn="l">
              <a:buNone/>
            </a:pPr>
            <a:r>
              <a:rPr lang="en-US" sz="2000" i="1">
                <a:solidFill>
                  <a:srgbClr val="FFFFFF"/>
                </a:solidFill>
              </a:rPr>
              <a:t>"Tesla's recent earnings beat expectations, but the broader EV sector shows weakness due to supply chain concerns.</a:t>
            </a:r>
          </a:p>
          <a:p>
            <a:pPr algn="l">
              <a:buNone/>
            </a:pPr>
            <a:r>
              <a:rPr lang="en-US" sz="2000" i="1">
                <a:solidFill>
                  <a:srgbClr val="FFFFFF"/>
                </a:solidFill>
              </a:rPr>
              <a:t>Given my self-adaptive profile and the negative short-term trend, I recommend </a:t>
            </a:r>
            <a:r>
              <a:rPr lang="en-US" sz="2000" b="1" i="1">
                <a:solidFill>
                  <a:srgbClr val="C9A84C"/>
                </a:solidFill>
              </a:rPr>
              <a:t>HOLD</a:t>
            </a:r>
            <a:r>
              <a:rPr lang="en-US" sz="2000" i="1">
                <a:solidFill>
                  <a:srgbClr val="FFFFFF"/>
                </a:solidFill>
              </a:rPr>
              <a:t>."</a:t>
            </a:r>
          </a:p>
        </p:txBody>
      </p:sp>
      <p:sp>
        <p:nvSpPr>
          <p:cNvPr id="70" name="KNote"/>
          <p:cNvSpPr/>
          <p:nvPr/>
        </p:nvSpPr>
        <p:spPr>
          <a:xfrm>
            <a:off x="609600" y="4950256"/>
            <a:ext cx="10972800" cy="914400"/>
          </a:xfrm>
          <a:prstGeom prst="rect">
            <a:avLst/>
          </a:prstGeom>
          <a:solidFill>
            <a:srgbClr val="F0F2F7"/>
          </a:solidFill>
          <a:ln>
            <a:noFill/>
          </a:ln>
        </p:spPr>
        <p:txBody>
          <a:bodyPr lIns="240000" anchor="ctr"/>
          <a:lstStyle/>
          <a:p>
            <a:pPr algn="l">
              <a:buNone/>
            </a:pPr>
            <a:r>
              <a:rPr lang="en-US" sz="2000" b="1">
                <a:solidFill>
                  <a:srgbClr val="C9A84C"/>
                </a:solidFill>
              </a:rPr>
              <a:t>Guardrails AI Integration</a:t>
            </a:r>
            <a:r>
              <a:rPr lang="en-US" sz="2000"/>
              <a:t>: </a:t>
            </a:r>
            <a:r>
              <a:rPr lang="en-US" sz="2000">
                <a:solidFill>
                  <a:srgbClr val="2C3E50"/>
                </a:solidFill>
              </a:rPr>
              <a:t>Enforces strict output schema validation (Buy/Sell/Hold &amp; valid memory IDs) with automated re-asking to prevent code execution failures.</a:t>
            </a:r>
          </a:p>
          <a:p>
            <a:pPr algn="l">
              <a:buNone/>
            </a:pPr>
            <a:r>
              <a:rPr lang="en-US" sz="2000">
                <a:solidFill>
                  <a:srgbClr val="2C3E50"/>
                </a:solidFill>
              </a:rPr>
              <a:t>Explainability win: compliance officers can audit the reasoning chain.</a:t>
            </a:r>
          </a:p>
        </p:txBody>
      </p:sp>
    </p:spTree>
    <p:extLst>
      <p:ext uri="{BB962C8B-B14F-4D97-AF65-F5344CB8AC3E}">
        <p14:creationId xmlns:p14="http://schemas.microsoft.com/office/powerpoint/2010/main" val="2161065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3 - Results </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Headline Results: Sharpe Ratios</a:t>
            </a:r>
          </a:p>
        </p:txBody>
      </p:sp>
      <p:sp>
        <p:nvSpPr>
          <p:cNvPr id="30" name="TH0"/>
          <p:cNvSpPr/>
          <p:nvPr/>
        </p:nvSpPr>
        <p:spPr>
          <a:xfrm>
            <a:off x="330200" y="1263821"/>
            <a:ext cx="1064525" cy="575362"/>
          </a:xfrm>
          <a:prstGeom prst="rect">
            <a:avLst/>
          </a:prstGeom>
          <a:solidFill>
            <a:srgbClr val="1E5FA0"/>
          </a:solidFill>
          <a:ln>
            <a:noFill/>
          </a:ln>
        </p:spPr>
        <p:txBody>
          <a:bodyPr lIns="100000" anchor="ctr"/>
          <a:lstStyle/>
          <a:p>
            <a:pPr algn="ctr">
              <a:buNone/>
            </a:pPr>
            <a:r>
              <a:rPr lang="en-US" sz="2000" b="1">
                <a:solidFill>
                  <a:srgbClr val="FFFFFF"/>
                </a:solidFill>
              </a:rPr>
              <a:t>Stock</a:t>
            </a:r>
          </a:p>
        </p:txBody>
      </p:sp>
      <p:sp>
        <p:nvSpPr>
          <p:cNvPr id="31" name="TH1"/>
          <p:cNvSpPr/>
          <p:nvPr/>
        </p:nvSpPr>
        <p:spPr>
          <a:xfrm>
            <a:off x="1474565" y="1263821"/>
            <a:ext cx="1197591" cy="575362"/>
          </a:xfrm>
          <a:prstGeom prst="rect">
            <a:avLst/>
          </a:prstGeom>
          <a:solidFill>
            <a:srgbClr val="1A2744"/>
          </a:solidFill>
          <a:ln>
            <a:noFill/>
          </a:ln>
        </p:spPr>
        <p:txBody>
          <a:bodyPr lIns="100000" anchor="ctr"/>
          <a:lstStyle/>
          <a:p>
            <a:pPr algn="ctr">
              <a:buNone/>
            </a:pPr>
            <a:r>
              <a:rPr lang="en-US" sz="2000" b="1">
                <a:solidFill>
                  <a:srgbClr val="FFFFFF"/>
                </a:solidFill>
              </a:rPr>
              <a:t>Buy &amp; Hold</a:t>
            </a:r>
          </a:p>
        </p:txBody>
      </p:sp>
      <p:sp>
        <p:nvSpPr>
          <p:cNvPr id="32" name="TH2"/>
          <p:cNvSpPr/>
          <p:nvPr/>
        </p:nvSpPr>
        <p:spPr>
          <a:xfrm>
            <a:off x="2751995" y="1263821"/>
            <a:ext cx="1197591" cy="575362"/>
          </a:xfrm>
          <a:prstGeom prst="rect">
            <a:avLst/>
          </a:prstGeom>
          <a:solidFill>
            <a:srgbClr val="1A2744"/>
          </a:solidFill>
          <a:ln>
            <a:noFill/>
          </a:ln>
        </p:spPr>
        <p:txBody>
          <a:bodyPr lIns="100000" anchor="ctr"/>
          <a:lstStyle/>
          <a:p>
            <a:pPr algn="ctr">
              <a:buNone/>
            </a:pPr>
            <a:r>
              <a:rPr lang="en-US" sz="2000" b="1">
                <a:solidFill>
                  <a:srgbClr val="FFFFFF"/>
                </a:solidFill>
              </a:rPr>
              <a:t>DQN</a:t>
            </a:r>
          </a:p>
        </p:txBody>
      </p:sp>
      <p:sp>
        <p:nvSpPr>
          <p:cNvPr id="33" name="TH3"/>
          <p:cNvSpPr/>
          <p:nvPr/>
        </p:nvSpPr>
        <p:spPr>
          <a:xfrm>
            <a:off x="4029426" y="1263821"/>
            <a:ext cx="1197591" cy="575362"/>
          </a:xfrm>
          <a:prstGeom prst="rect">
            <a:avLst/>
          </a:prstGeom>
          <a:solidFill>
            <a:srgbClr val="1A2744"/>
          </a:solidFill>
          <a:ln>
            <a:noFill/>
          </a:ln>
        </p:spPr>
        <p:txBody>
          <a:bodyPr lIns="100000" anchor="ctr"/>
          <a:lstStyle/>
          <a:p>
            <a:pPr algn="ctr">
              <a:buNone/>
            </a:pPr>
            <a:r>
              <a:rPr lang="en-US" sz="2000" b="1">
                <a:solidFill>
                  <a:srgbClr val="FFFFFF"/>
                </a:solidFill>
              </a:rPr>
              <a:t>PPO</a:t>
            </a:r>
          </a:p>
        </p:txBody>
      </p:sp>
      <p:sp>
        <p:nvSpPr>
          <p:cNvPr id="34" name="TH4"/>
          <p:cNvSpPr/>
          <p:nvPr/>
        </p:nvSpPr>
        <p:spPr>
          <a:xfrm>
            <a:off x="5306856" y="1263821"/>
            <a:ext cx="1197591" cy="575362"/>
          </a:xfrm>
          <a:prstGeom prst="rect">
            <a:avLst/>
          </a:prstGeom>
          <a:solidFill>
            <a:srgbClr val="1A2744"/>
          </a:solidFill>
          <a:ln>
            <a:noFill/>
          </a:ln>
        </p:spPr>
        <p:txBody>
          <a:bodyPr lIns="100000" anchor="ctr"/>
          <a:lstStyle/>
          <a:p>
            <a:pPr algn="ctr">
              <a:buNone/>
            </a:pPr>
            <a:r>
              <a:rPr lang="en-US" sz="2000" b="1">
                <a:solidFill>
                  <a:srgbClr val="FFFFFF"/>
                </a:solidFill>
              </a:rPr>
              <a:t>A2C</a:t>
            </a:r>
          </a:p>
        </p:txBody>
      </p:sp>
      <p:sp>
        <p:nvSpPr>
          <p:cNvPr id="35" name="TH5"/>
          <p:cNvSpPr/>
          <p:nvPr/>
        </p:nvSpPr>
        <p:spPr>
          <a:xfrm>
            <a:off x="6584287" y="1263821"/>
            <a:ext cx="1197591" cy="575362"/>
          </a:xfrm>
          <a:prstGeom prst="rect">
            <a:avLst/>
          </a:prstGeom>
          <a:solidFill>
            <a:srgbClr val="1A2744"/>
          </a:solidFill>
          <a:ln>
            <a:noFill/>
          </a:ln>
        </p:spPr>
        <p:txBody>
          <a:bodyPr lIns="100000" anchor="ctr"/>
          <a:lstStyle/>
          <a:p>
            <a:pPr algn="ctr">
              <a:buNone/>
            </a:pPr>
            <a:r>
              <a:rPr lang="en-US" sz="2000" b="1">
                <a:solidFill>
                  <a:srgbClr val="FFFFFF"/>
                </a:solidFill>
              </a:rPr>
              <a:t>FinGPT</a:t>
            </a:r>
          </a:p>
        </p:txBody>
      </p:sp>
      <p:sp>
        <p:nvSpPr>
          <p:cNvPr id="36" name="TH6"/>
          <p:cNvSpPr/>
          <p:nvPr/>
        </p:nvSpPr>
        <p:spPr>
          <a:xfrm>
            <a:off x="7861717" y="1263821"/>
            <a:ext cx="1383883" cy="575362"/>
          </a:xfrm>
          <a:prstGeom prst="rect">
            <a:avLst/>
          </a:prstGeom>
          <a:solidFill>
            <a:srgbClr val="1A2744"/>
          </a:solidFill>
          <a:ln>
            <a:noFill/>
          </a:ln>
        </p:spPr>
        <p:txBody>
          <a:bodyPr lIns="100000" anchor="ctr"/>
          <a:lstStyle/>
          <a:p>
            <a:pPr algn="ctr">
              <a:buNone/>
            </a:pPr>
            <a:r>
              <a:rPr lang="en-US" sz="2000" b="1">
                <a:solidFill>
                  <a:srgbClr val="FFFFFF"/>
                </a:solidFill>
              </a:rPr>
              <a:t>FinMem ★</a:t>
            </a:r>
          </a:p>
        </p:txBody>
      </p:sp>
      <p:sp>
        <p:nvSpPr>
          <p:cNvPr id="40" name="C0_0"/>
          <p:cNvSpPr/>
          <p:nvPr/>
        </p:nvSpPr>
        <p:spPr>
          <a:xfrm>
            <a:off x="330200" y="1839183"/>
            <a:ext cx="1064525" cy="726773"/>
          </a:xfrm>
          <a:prstGeom prst="rect">
            <a:avLst/>
          </a:prstGeom>
          <a:solidFill>
            <a:srgbClr val="2E4272"/>
          </a:solidFill>
          <a:ln>
            <a:noFill/>
          </a:ln>
        </p:spPr>
        <p:txBody>
          <a:bodyPr lIns="100000" anchor="ctr"/>
          <a:lstStyle/>
          <a:p>
            <a:pPr algn="ctr">
              <a:buNone/>
            </a:pPr>
            <a:r>
              <a:rPr lang="en-US" sz="2000" b="1">
                <a:solidFill>
                  <a:srgbClr val="FFFFFF"/>
                </a:solidFill>
              </a:rPr>
              <a:t>TSLA</a:t>
            </a:r>
          </a:p>
        </p:txBody>
      </p:sp>
      <p:sp>
        <p:nvSpPr>
          <p:cNvPr id="41" name="C0_1"/>
          <p:cNvSpPr/>
          <p:nvPr/>
        </p:nvSpPr>
        <p:spPr>
          <a:xfrm>
            <a:off x="1474565" y="1839183"/>
            <a:ext cx="1197591" cy="726773"/>
          </a:xfrm>
          <a:prstGeom prst="rect">
            <a:avLst/>
          </a:prstGeom>
          <a:solidFill>
            <a:srgbClr val="F8F9FC"/>
          </a:solidFill>
          <a:ln>
            <a:noFill/>
          </a:ln>
        </p:spPr>
        <p:txBody>
          <a:bodyPr lIns="100000" anchor="ctr"/>
          <a:lstStyle/>
          <a:p>
            <a:pPr algn="ctr">
              <a:buNone/>
            </a:pPr>
            <a:r>
              <a:rPr lang="en-US" sz="2000">
                <a:solidFill>
                  <a:srgbClr val="B03020"/>
                </a:solidFill>
              </a:rPr>
              <a:t>-0.49</a:t>
            </a:r>
          </a:p>
        </p:txBody>
      </p:sp>
      <p:sp>
        <p:nvSpPr>
          <p:cNvPr id="42" name="C0_2"/>
          <p:cNvSpPr/>
          <p:nvPr/>
        </p:nvSpPr>
        <p:spPr>
          <a:xfrm>
            <a:off x="2751995" y="1839183"/>
            <a:ext cx="1197591" cy="726773"/>
          </a:xfrm>
          <a:prstGeom prst="rect">
            <a:avLst/>
          </a:prstGeom>
          <a:solidFill>
            <a:srgbClr val="F8F9FC"/>
          </a:solidFill>
          <a:ln>
            <a:noFill/>
          </a:ln>
        </p:spPr>
        <p:txBody>
          <a:bodyPr lIns="100000" anchor="ctr"/>
          <a:lstStyle/>
          <a:p>
            <a:pPr algn="ctr">
              <a:buNone/>
            </a:pPr>
            <a:r>
              <a:rPr lang="en-US" sz="2000">
                <a:solidFill>
                  <a:srgbClr val="B03020"/>
                </a:solidFill>
              </a:rPr>
              <a:t>-0.41</a:t>
            </a:r>
          </a:p>
        </p:txBody>
      </p:sp>
      <p:sp>
        <p:nvSpPr>
          <p:cNvPr id="43" name="C0_3"/>
          <p:cNvSpPr/>
          <p:nvPr/>
        </p:nvSpPr>
        <p:spPr>
          <a:xfrm>
            <a:off x="4029426" y="1839183"/>
            <a:ext cx="1197591" cy="726773"/>
          </a:xfrm>
          <a:prstGeom prst="rect">
            <a:avLst/>
          </a:prstGeom>
          <a:solidFill>
            <a:srgbClr val="F8F9FC"/>
          </a:solidFill>
          <a:ln>
            <a:noFill/>
          </a:ln>
        </p:spPr>
        <p:txBody>
          <a:bodyPr lIns="100000" anchor="ctr"/>
          <a:lstStyle/>
          <a:p>
            <a:pPr algn="ctr">
              <a:buNone/>
            </a:pPr>
            <a:r>
              <a:rPr lang="en-US" sz="2000">
                <a:solidFill>
                  <a:srgbClr val="1A2744"/>
                </a:solidFill>
              </a:rPr>
              <a:t>0.18</a:t>
            </a:r>
          </a:p>
        </p:txBody>
      </p:sp>
      <p:sp>
        <p:nvSpPr>
          <p:cNvPr id="44" name="C0_4"/>
          <p:cNvSpPr/>
          <p:nvPr/>
        </p:nvSpPr>
        <p:spPr>
          <a:xfrm>
            <a:off x="5306856" y="1839183"/>
            <a:ext cx="1197591" cy="726773"/>
          </a:xfrm>
          <a:prstGeom prst="rect">
            <a:avLst/>
          </a:prstGeom>
          <a:solidFill>
            <a:srgbClr val="F8F9FC"/>
          </a:solidFill>
          <a:ln>
            <a:noFill/>
          </a:ln>
        </p:spPr>
        <p:txBody>
          <a:bodyPr lIns="100000" anchor="ctr"/>
          <a:lstStyle/>
          <a:p>
            <a:pPr algn="ctr">
              <a:buNone/>
            </a:pPr>
            <a:r>
              <a:rPr lang="en-US" sz="2000">
                <a:solidFill>
                  <a:srgbClr val="B03020"/>
                </a:solidFill>
              </a:rPr>
              <a:t>-0.06</a:t>
            </a:r>
          </a:p>
        </p:txBody>
      </p:sp>
      <p:sp>
        <p:nvSpPr>
          <p:cNvPr id="45" name="C0_5"/>
          <p:cNvSpPr/>
          <p:nvPr/>
        </p:nvSpPr>
        <p:spPr>
          <a:xfrm>
            <a:off x="6584287" y="1839183"/>
            <a:ext cx="1197591" cy="726773"/>
          </a:xfrm>
          <a:prstGeom prst="rect">
            <a:avLst/>
          </a:prstGeom>
          <a:solidFill>
            <a:srgbClr val="F8F9FC"/>
          </a:solidFill>
          <a:ln>
            <a:noFill/>
          </a:ln>
        </p:spPr>
        <p:txBody>
          <a:bodyPr lIns="100000" anchor="ctr"/>
          <a:lstStyle/>
          <a:p>
            <a:pPr algn="ctr">
              <a:buNone/>
            </a:pPr>
            <a:r>
              <a:rPr lang="en-US" sz="2000">
                <a:solidFill>
                  <a:srgbClr val="B03020"/>
                </a:solidFill>
              </a:rPr>
              <a:t>-0.27</a:t>
            </a:r>
          </a:p>
        </p:txBody>
      </p:sp>
      <p:sp>
        <p:nvSpPr>
          <p:cNvPr id="46" name="C0_6"/>
          <p:cNvSpPr/>
          <p:nvPr/>
        </p:nvSpPr>
        <p:spPr>
          <a:xfrm>
            <a:off x="7861717" y="1839183"/>
            <a:ext cx="1383883" cy="726773"/>
          </a:xfrm>
          <a:prstGeom prst="rect">
            <a:avLst/>
          </a:prstGeom>
          <a:noFill/>
          <a:ln>
            <a:solidFill>
              <a:srgbClr val="C9A94D"/>
            </a:solidFill>
          </a:ln>
        </p:spPr>
        <p:txBody>
          <a:bodyPr lIns="100000" anchor="ctr"/>
          <a:lstStyle/>
          <a:p>
            <a:pPr algn="ctr">
              <a:buNone/>
            </a:pPr>
            <a:r>
              <a:rPr lang="en-US" sz="2000" b="1">
                <a:solidFill>
                  <a:schemeClr val="accent5"/>
                </a:solidFill>
              </a:rPr>
              <a:t>2.67</a:t>
            </a:r>
          </a:p>
        </p:txBody>
      </p:sp>
      <p:sp>
        <p:nvSpPr>
          <p:cNvPr id="50" name="C1_0"/>
          <p:cNvSpPr/>
          <p:nvPr/>
        </p:nvSpPr>
        <p:spPr>
          <a:xfrm>
            <a:off x="330200" y="2596239"/>
            <a:ext cx="1064525" cy="726773"/>
          </a:xfrm>
          <a:prstGeom prst="rect">
            <a:avLst/>
          </a:prstGeom>
          <a:solidFill>
            <a:srgbClr val="2E4272"/>
          </a:solidFill>
          <a:ln>
            <a:noFill/>
          </a:ln>
        </p:spPr>
        <p:txBody>
          <a:bodyPr lIns="100000" anchor="ctr"/>
          <a:lstStyle/>
          <a:p>
            <a:pPr algn="ctr">
              <a:buNone/>
            </a:pPr>
            <a:r>
              <a:rPr lang="en-US" sz="2000" b="1">
                <a:solidFill>
                  <a:srgbClr val="FFFFFF"/>
                </a:solidFill>
              </a:rPr>
              <a:t>NFLX</a:t>
            </a:r>
          </a:p>
        </p:txBody>
      </p:sp>
      <p:sp>
        <p:nvSpPr>
          <p:cNvPr id="51" name="C1_1"/>
          <p:cNvSpPr/>
          <p:nvPr/>
        </p:nvSpPr>
        <p:spPr>
          <a:xfrm>
            <a:off x="1474565" y="2596239"/>
            <a:ext cx="1197591" cy="726773"/>
          </a:xfrm>
          <a:prstGeom prst="rect">
            <a:avLst/>
          </a:prstGeom>
          <a:solidFill>
            <a:srgbClr val="EEEEF8"/>
          </a:solidFill>
          <a:ln>
            <a:noFill/>
          </a:ln>
        </p:spPr>
        <p:txBody>
          <a:bodyPr lIns="100000" anchor="ctr"/>
          <a:lstStyle/>
          <a:p>
            <a:pPr algn="ctr">
              <a:buNone/>
            </a:pPr>
            <a:r>
              <a:rPr lang="en-US" sz="2000">
                <a:solidFill>
                  <a:srgbClr val="1A2744"/>
                </a:solidFill>
              </a:rPr>
              <a:t>0.12</a:t>
            </a:r>
          </a:p>
        </p:txBody>
      </p:sp>
      <p:sp>
        <p:nvSpPr>
          <p:cNvPr id="52" name="C1_2"/>
          <p:cNvSpPr/>
          <p:nvPr/>
        </p:nvSpPr>
        <p:spPr>
          <a:xfrm>
            <a:off x="2751995" y="2596239"/>
            <a:ext cx="1197591" cy="726773"/>
          </a:xfrm>
          <a:prstGeom prst="rect">
            <a:avLst/>
          </a:prstGeom>
          <a:solidFill>
            <a:srgbClr val="EEEEF8"/>
          </a:solidFill>
          <a:ln>
            <a:noFill/>
          </a:ln>
        </p:spPr>
        <p:txBody>
          <a:bodyPr lIns="100000" anchor="ctr"/>
          <a:lstStyle/>
          <a:p>
            <a:pPr algn="ctr">
              <a:buNone/>
            </a:pPr>
            <a:r>
              <a:rPr lang="en-US" sz="2000">
                <a:solidFill>
                  <a:srgbClr val="B03020"/>
                </a:solidFill>
              </a:rPr>
              <a:t>-0.48</a:t>
            </a:r>
          </a:p>
        </p:txBody>
      </p:sp>
      <p:sp>
        <p:nvSpPr>
          <p:cNvPr id="53" name="C1_3"/>
          <p:cNvSpPr/>
          <p:nvPr/>
        </p:nvSpPr>
        <p:spPr>
          <a:xfrm>
            <a:off x="4029426" y="2596239"/>
            <a:ext cx="1197591" cy="726773"/>
          </a:xfrm>
          <a:prstGeom prst="rect">
            <a:avLst/>
          </a:prstGeom>
          <a:solidFill>
            <a:srgbClr val="EEEEF8"/>
          </a:solidFill>
          <a:ln>
            <a:noFill/>
          </a:ln>
        </p:spPr>
        <p:txBody>
          <a:bodyPr lIns="100000" anchor="ctr"/>
          <a:lstStyle/>
          <a:p>
            <a:pPr algn="ctr">
              <a:buNone/>
            </a:pPr>
            <a:r>
              <a:rPr lang="en-US" sz="2000">
                <a:solidFill>
                  <a:srgbClr val="1A2744"/>
                </a:solidFill>
              </a:rPr>
              <a:t>0.31</a:t>
            </a:r>
          </a:p>
        </p:txBody>
      </p:sp>
      <p:sp>
        <p:nvSpPr>
          <p:cNvPr id="54" name="C1_4"/>
          <p:cNvSpPr/>
          <p:nvPr/>
        </p:nvSpPr>
        <p:spPr>
          <a:xfrm>
            <a:off x="5306856" y="2596239"/>
            <a:ext cx="1197591" cy="726773"/>
          </a:xfrm>
          <a:prstGeom prst="rect">
            <a:avLst/>
          </a:prstGeom>
          <a:solidFill>
            <a:srgbClr val="EEEEF8"/>
          </a:solidFill>
          <a:ln>
            <a:noFill/>
          </a:ln>
        </p:spPr>
        <p:txBody>
          <a:bodyPr lIns="100000" anchor="ctr"/>
          <a:lstStyle/>
          <a:p>
            <a:pPr algn="ctr">
              <a:buNone/>
            </a:pPr>
            <a:r>
              <a:rPr lang="en-US" sz="2000">
                <a:solidFill>
                  <a:srgbClr val="1A2744"/>
                </a:solidFill>
              </a:rPr>
              <a:t>0.04</a:t>
            </a:r>
          </a:p>
        </p:txBody>
      </p:sp>
      <p:sp>
        <p:nvSpPr>
          <p:cNvPr id="55" name="C1_5"/>
          <p:cNvSpPr/>
          <p:nvPr/>
        </p:nvSpPr>
        <p:spPr>
          <a:xfrm>
            <a:off x="6584287" y="2596239"/>
            <a:ext cx="1197591" cy="726773"/>
          </a:xfrm>
          <a:prstGeom prst="rect">
            <a:avLst/>
          </a:prstGeom>
          <a:solidFill>
            <a:srgbClr val="EEEEF8"/>
          </a:solidFill>
          <a:ln>
            <a:noFill/>
          </a:ln>
        </p:spPr>
        <p:txBody>
          <a:bodyPr lIns="100000" anchor="ctr"/>
          <a:lstStyle/>
          <a:p>
            <a:pPr algn="ctr">
              <a:buNone/>
            </a:pPr>
            <a:r>
              <a:rPr lang="en-US" sz="2000">
                <a:solidFill>
                  <a:srgbClr val="1A2744"/>
                </a:solidFill>
              </a:rPr>
              <a:t>0.10</a:t>
            </a:r>
          </a:p>
        </p:txBody>
      </p:sp>
      <p:sp>
        <p:nvSpPr>
          <p:cNvPr id="56" name="C1_6"/>
          <p:cNvSpPr/>
          <p:nvPr/>
        </p:nvSpPr>
        <p:spPr>
          <a:xfrm>
            <a:off x="7861717" y="2596239"/>
            <a:ext cx="1383883" cy="726773"/>
          </a:xfrm>
          <a:prstGeom prst="rect">
            <a:avLst/>
          </a:prstGeom>
          <a:noFill/>
          <a:ln>
            <a:solidFill>
              <a:srgbClr val="C9A94D"/>
            </a:solidFill>
          </a:ln>
        </p:spPr>
        <p:txBody>
          <a:bodyPr lIns="100000" anchor="ctr"/>
          <a:lstStyle/>
          <a:p>
            <a:pPr algn="ctr"/>
            <a:r>
              <a:rPr lang="en-US" sz="2000" b="1">
                <a:solidFill>
                  <a:schemeClr val="accent5"/>
                </a:solidFill>
              </a:rPr>
              <a:t>2.01</a:t>
            </a:r>
          </a:p>
        </p:txBody>
      </p:sp>
      <p:sp>
        <p:nvSpPr>
          <p:cNvPr id="60" name="C2_0"/>
          <p:cNvSpPr/>
          <p:nvPr/>
        </p:nvSpPr>
        <p:spPr>
          <a:xfrm>
            <a:off x="330200" y="3353294"/>
            <a:ext cx="1064525" cy="726773"/>
          </a:xfrm>
          <a:prstGeom prst="rect">
            <a:avLst/>
          </a:prstGeom>
          <a:solidFill>
            <a:srgbClr val="7A6020"/>
          </a:solidFill>
          <a:ln>
            <a:noFill/>
          </a:ln>
        </p:spPr>
        <p:txBody>
          <a:bodyPr lIns="100000" anchor="ctr"/>
          <a:lstStyle/>
          <a:p>
            <a:pPr algn="ctr">
              <a:buNone/>
            </a:pPr>
            <a:r>
              <a:rPr lang="en-US" sz="2000" b="1">
                <a:solidFill>
                  <a:srgbClr val="FFFFFF"/>
                </a:solidFill>
              </a:rPr>
              <a:t>AMZN</a:t>
            </a:r>
          </a:p>
        </p:txBody>
      </p:sp>
      <p:sp>
        <p:nvSpPr>
          <p:cNvPr id="61" name="C2_1"/>
          <p:cNvSpPr/>
          <p:nvPr/>
        </p:nvSpPr>
        <p:spPr>
          <a:xfrm>
            <a:off x="1474565" y="3353294"/>
            <a:ext cx="1197591" cy="726773"/>
          </a:xfrm>
          <a:prstGeom prst="rect">
            <a:avLst/>
          </a:prstGeom>
          <a:solidFill>
            <a:srgbClr val="F8F9FC"/>
          </a:solidFill>
          <a:ln>
            <a:noFill/>
          </a:ln>
        </p:spPr>
        <p:txBody>
          <a:bodyPr lIns="100000" anchor="ctr"/>
          <a:lstStyle/>
          <a:p>
            <a:pPr algn="ctr">
              <a:buNone/>
            </a:pPr>
            <a:r>
              <a:rPr lang="en-US" sz="2000">
                <a:solidFill>
                  <a:srgbClr val="B03020"/>
                </a:solidFill>
              </a:rPr>
              <a:t>-0.49</a:t>
            </a:r>
          </a:p>
        </p:txBody>
      </p:sp>
      <p:sp>
        <p:nvSpPr>
          <p:cNvPr id="62" name="C2_2"/>
          <p:cNvSpPr/>
          <p:nvPr/>
        </p:nvSpPr>
        <p:spPr>
          <a:xfrm>
            <a:off x="2751995" y="3353294"/>
            <a:ext cx="1197591" cy="726773"/>
          </a:xfrm>
          <a:prstGeom prst="rect">
            <a:avLst/>
          </a:prstGeom>
          <a:solidFill>
            <a:srgbClr val="F8F9FC"/>
          </a:solidFill>
          <a:ln>
            <a:noFill/>
          </a:ln>
        </p:spPr>
        <p:txBody>
          <a:bodyPr lIns="100000" anchor="ctr"/>
          <a:lstStyle/>
          <a:p>
            <a:pPr algn="ctr">
              <a:buNone/>
            </a:pPr>
            <a:r>
              <a:rPr lang="en-US" sz="2000">
                <a:solidFill>
                  <a:srgbClr val="B03020"/>
                </a:solidFill>
              </a:rPr>
              <a:t>-0.62</a:t>
            </a:r>
          </a:p>
        </p:txBody>
      </p:sp>
      <p:sp>
        <p:nvSpPr>
          <p:cNvPr id="63" name="C2_3"/>
          <p:cNvSpPr/>
          <p:nvPr/>
        </p:nvSpPr>
        <p:spPr>
          <a:xfrm>
            <a:off x="4029426" y="3353294"/>
            <a:ext cx="1197591" cy="726773"/>
          </a:xfrm>
          <a:prstGeom prst="rect">
            <a:avLst/>
          </a:prstGeom>
          <a:solidFill>
            <a:srgbClr val="F8F9FC"/>
          </a:solidFill>
          <a:ln>
            <a:noFill/>
          </a:ln>
        </p:spPr>
        <p:txBody>
          <a:bodyPr lIns="100000" anchor="ctr"/>
          <a:lstStyle/>
          <a:p>
            <a:pPr algn="ctr">
              <a:buNone/>
            </a:pPr>
            <a:r>
              <a:rPr lang="en-US" sz="2000">
                <a:solidFill>
                  <a:srgbClr val="B03020"/>
                </a:solidFill>
              </a:rPr>
              <a:t>-0.21</a:t>
            </a:r>
          </a:p>
        </p:txBody>
      </p:sp>
      <p:sp>
        <p:nvSpPr>
          <p:cNvPr id="64" name="C2_4"/>
          <p:cNvSpPr/>
          <p:nvPr/>
        </p:nvSpPr>
        <p:spPr>
          <a:xfrm>
            <a:off x="5306856" y="3353294"/>
            <a:ext cx="1197591" cy="726773"/>
          </a:xfrm>
          <a:prstGeom prst="rect">
            <a:avLst/>
          </a:prstGeom>
          <a:solidFill>
            <a:srgbClr val="F8F9FC"/>
          </a:solidFill>
          <a:ln>
            <a:noFill/>
          </a:ln>
        </p:spPr>
        <p:txBody>
          <a:bodyPr lIns="100000" anchor="ctr"/>
          <a:lstStyle/>
          <a:p>
            <a:pPr algn="ctr">
              <a:buNone/>
            </a:pPr>
            <a:r>
              <a:rPr lang="en-US" sz="2000">
                <a:solidFill>
                  <a:srgbClr val="B03020"/>
                </a:solidFill>
              </a:rPr>
              <a:t>-0.38</a:t>
            </a:r>
          </a:p>
        </p:txBody>
      </p:sp>
      <p:sp>
        <p:nvSpPr>
          <p:cNvPr id="65" name="C2_5"/>
          <p:cNvSpPr/>
          <p:nvPr/>
        </p:nvSpPr>
        <p:spPr>
          <a:xfrm>
            <a:off x="6584287" y="3353294"/>
            <a:ext cx="1197591" cy="726773"/>
          </a:xfrm>
          <a:prstGeom prst="rect">
            <a:avLst/>
          </a:prstGeom>
          <a:solidFill>
            <a:srgbClr val="F8F9FC"/>
          </a:solidFill>
          <a:ln>
            <a:noFill/>
          </a:ln>
        </p:spPr>
        <p:txBody>
          <a:bodyPr lIns="100000" anchor="ctr"/>
          <a:lstStyle/>
          <a:p>
            <a:pPr algn="ctr">
              <a:buNone/>
            </a:pPr>
            <a:r>
              <a:rPr lang="en-US" sz="2000">
                <a:solidFill>
                  <a:srgbClr val="B03020"/>
                </a:solidFill>
              </a:rPr>
              <a:t>-0.51</a:t>
            </a:r>
          </a:p>
        </p:txBody>
      </p:sp>
      <p:sp>
        <p:nvSpPr>
          <p:cNvPr id="66" name="C2_6"/>
          <p:cNvSpPr/>
          <p:nvPr/>
        </p:nvSpPr>
        <p:spPr>
          <a:xfrm>
            <a:off x="7861717" y="3353294"/>
            <a:ext cx="1383883" cy="726773"/>
          </a:xfrm>
          <a:prstGeom prst="rect">
            <a:avLst/>
          </a:prstGeom>
          <a:noFill/>
          <a:ln>
            <a:solidFill>
              <a:srgbClr val="C9A94D"/>
            </a:solidFill>
          </a:ln>
        </p:spPr>
        <p:txBody>
          <a:bodyPr lIns="100000" anchor="ctr"/>
          <a:lstStyle/>
          <a:p>
            <a:pPr algn="ctr">
              <a:buNone/>
            </a:pPr>
            <a:r>
              <a:rPr lang="en-US" sz="2000" b="1">
                <a:solidFill>
                  <a:schemeClr val="accent5"/>
                </a:solidFill>
              </a:rPr>
              <a:t>0.23</a:t>
            </a:r>
          </a:p>
        </p:txBody>
      </p:sp>
      <p:sp>
        <p:nvSpPr>
          <p:cNvPr id="70" name="C3_0"/>
          <p:cNvSpPr/>
          <p:nvPr/>
        </p:nvSpPr>
        <p:spPr>
          <a:xfrm>
            <a:off x="330200" y="4110349"/>
            <a:ext cx="1064525" cy="726773"/>
          </a:xfrm>
          <a:prstGeom prst="rect">
            <a:avLst/>
          </a:prstGeom>
          <a:solidFill>
            <a:srgbClr val="2E4272"/>
          </a:solidFill>
          <a:ln>
            <a:noFill/>
          </a:ln>
        </p:spPr>
        <p:txBody>
          <a:bodyPr lIns="100000" anchor="ctr"/>
          <a:lstStyle/>
          <a:p>
            <a:pPr algn="ctr">
              <a:buNone/>
            </a:pPr>
            <a:r>
              <a:rPr lang="en-US" sz="2000" b="1">
                <a:solidFill>
                  <a:srgbClr val="FFFFFF"/>
                </a:solidFill>
              </a:rPr>
              <a:t>MSFT</a:t>
            </a:r>
          </a:p>
        </p:txBody>
      </p:sp>
      <p:sp>
        <p:nvSpPr>
          <p:cNvPr id="71" name="C3_1"/>
          <p:cNvSpPr/>
          <p:nvPr/>
        </p:nvSpPr>
        <p:spPr>
          <a:xfrm>
            <a:off x="1474565" y="4110349"/>
            <a:ext cx="1197591" cy="726773"/>
          </a:xfrm>
          <a:prstGeom prst="rect">
            <a:avLst/>
          </a:prstGeom>
          <a:solidFill>
            <a:srgbClr val="EEEEF8"/>
          </a:solidFill>
          <a:ln>
            <a:noFill/>
          </a:ln>
        </p:spPr>
        <p:txBody>
          <a:bodyPr lIns="100000" anchor="ctr"/>
          <a:lstStyle/>
          <a:p>
            <a:pPr algn="ctr">
              <a:buNone/>
            </a:pPr>
            <a:r>
              <a:rPr lang="en-US" sz="2000">
                <a:solidFill>
                  <a:srgbClr val="1A7A4A"/>
                </a:solidFill>
              </a:rPr>
              <a:t>0.78</a:t>
            </a:r>
          </a:p>
        </p:txBody>
      </p:sp>
      <p:sp>
        <p:nvSpPr>
          <p:cNvPr id="72" name="C3_2"/>
          <p:cNvSpPr/>
          <p:nvPr/>
        </p:nvSpPr>
        <p:spPr>
          <a:xfrm>
            <a:off x="2751995" y="4110349"/>
            <a:ext cx="1197591" cy="726773"/>
          </a:xfrm>
          <a:prstGeom prst="rect">
            <a:avLst/>
          </a:prstGeom>
          <a:solidFill>
            <a:srgbClr val="EEEEF8"/>
          </a:solidFill>
          <a:ln>
            <a:noFill/>
          </a:ln>
        </p:spPr>
        <p:txBody>
          <a:bodyPr lIns="100000" anchor="ctr"/>
          <a:lstStyle/>
          <a:p>
            <a:pPr algn="ctr">
              <a:buNone/>
            </a:pPr>
            <a:r>
              <a:rPr lang="en-US" sz="2000">
                <a:solidFill>
                  <a:srgbClr val="1A2744"/>
                </a:solidFill>
              </a:rPr>
              <a:t>0.05</a:t>
            </a:r>
          </a:p>
        </p:txBody>
      </p:sp>
      <p:sp>
        <p:nvSpPr>
          <p:cNvPr id="73" name="C3_3"/>
          <p:cNvSpPr/>
          <p:nvPr/>
        </p:nvSpPr>
        <p:spPr>
          <a:xfrm>
            <a:off x="4029426" y="4110349"/>
            <a:ext cx="1197591" cy="726773"/>
          </a:xfrm>
          <a:prstGeom prst="rect">
            <a:avLst/>
          </a:prstGeom>
          <a:solidFill>
            <a:srgbClr val="EEEEF8"/>
          </a:solidFill>
          <a:ln>
            <a:noFill/>
          </a:ln>
        </p:spPr>
        <p:txBody>
          <a:bodyPr lIns="100000" anchor="ctr"/>
          <a:lstStyle/>
          <a:p>
            <a:pPr algn="ctr">
              <a:buNone/>
            </a:pPr>
            <a:r>
              <a:rPr lang="en-US" sz="2000">
                <a:solidFill>
                  <a:srgbClr val="1A2744"/>
                </a:solidFill>
              </a:rPr>
              <a:t>0.41</a:t>
            </a:r>
          </a:p>
        </p:txBody>
      </p:sp>
      <p:sp>
        <p:nvSpPr>
          <p:cNvPr id="74" name="C3_4"/>
          <p:cNvSpPr/>
          <p:nvPr/>
        </p:nvSpPr>
        <p:spPr>
          <a:xfrm>
            <a:off x="5306856" y="4110349"/>
            <a:ext cx="1197591" cy="726773"/>
          </a:xfrm>
          <a:prstGeom prst="rect">
            <a:avLst/>
          </a:prstGeom>
          <a:solidFill>
            <a:srgbClr val="EEEEF8"/>
          </a:solidFill>
          <a:ln>
            <a:noFill/>
          </a:ln>
        </p:spPr>
        <p:txBody>
          <a:bodyPr lIns="100000" anchor="ctr"/>
          <a:lstStyle/>
          <a:p>
            <a:pPr algn="ctr">
              <a:buNone/>
            </a:pPr>
            <a:r>
              <a:rPr lang="en-US" sz="2000">
                <a:solidFill>
                  <a:srgbClr val="1A2744"/>
                </a:solidFill>
              </a:rPr>
              <a:t>0.22</a:t>
            </a:r>
          </a:p>
        </p:txBody>
      </p:sp>
      <p:sp>
        <p:nvSpPr>
          <p:cNvPr id="75" name="C3_5"/>
          <p:cNvSpPr/>
          <p:nvPr/>
        </p:nvSpPr>
        <p:spPr>
          <a:xfrm>
            <a:off x="6584287" y="4110349"/>
            <a:ext cx="1197591" cy="726773"/>
          </a:xfrm>
          <a:prstGeom prst="rect">
            <a:avLst/>
          </a:prstGeom>
          <a:solidFill>
            <a:srgbClr val="EEEEF8"/>
          </a:solidFill>
          <a:ln>
            <a:noFill/>
          </a:ln>
        </p:spPr>
        <p:txBody>
          <a:bodyPr lIns="100000" anchor="ctr"/>
          <a:lstStyle/>
          <a:p>
            <a:pPr algn="ctr">
              <a:buNone/>
            </a:pPr>
            <a:r>
              <a:rPr lang="en-US" sz="2000">
                <a:solidFill>
                  <a:srgbClr val="1A7A4A"/>
                </a:solidFill>
              </a:rPr>
              <a:t>0.55</a:t>
            </a:r>
          </a:p>
        </p:txBody>
      </p:sp>
      <p:sp>
        <p:nvSpPr>
          <p:cNvPr id="76" name="C3_6"/>
          <p:cNvSpPr/>
          <p:nvPr/>
        </p:nvSpPr>
        <p:spPr>
          <a:xfrm>
            <a:off x="7861717" y="4110349"/>
            <a:ext cx="1383883" cy="726773"/>
          </a:xfrm>
          <a:prstGeom prst="rect">
            <a:avLst/>
          </a:prstGeom>
          <a:noFill/>
          <a:ln>
            <a:solidFill>
              <a:srgbClr val="C9A94D"/>
            </a:solidFill>
          </a:ln>
        </p:spPr>
        <p:txBody>
          <a:bodyPr lIns="100000" anchor="ctr"/>
          <a:lstStyle/>
          <a:p>
            <a:pPr algn="ctr">
              <a:buNone/>
            </a:pPr>
            <a:r>
              <a:rPr lang="en-US" sz="2000" b="1">
                <a:solidFill>
                  <a:schemeClr val="accent5"/>
                </a:solidFill>
              </a:rPr>
              <a:t>1.84</a:t>
            </a:r>
          </a:p>
        </p:txBody>
      </p:sp>
      <p:sp>
        <p:nvSpPr>
          <p:cNvPr id="80" name="C4_0"/>
          <p:cNvSpPr/>
          <p:nvPr/>
        </p:nvSpPr>
        <p:spPr>
          <a:xfrm>
            <a:off x="330200" y="4867405"/>
            <a:ext cx="1064525" cy="726773"/>
          </a:xfrm>
          <a:prstGeom prst="rect">
            <a:avLst/>
          </a:prstGeom>
          <a:solidFill>
            <a:srgbClr val="2E4272"/>
          </a:solidFill>
          <a:ln>
            <a:noFill/>
          </a:ln>
        </p:spPr>
        <p:txBody>
          <a:bodyPr lIns="100000" anchor="ctr"/>
          <a:lstStyle/>
          <a:p>
            <a:pPr algn="ctr">
              <a:buNone/>
            </a:pPr>
            <a:r>
              <a:rPr lang="en-US" sz="2000" b="1">
                <a:solidFill>
                  <a:srgbClr val="FFFFFF"/>
                </a:solidFill>
              </a:rPr>
              <a:t>COIN</a:t>
            </a:r>
          </a:p>
        </p:txBody>
      </p:sp>
      <p:sp>
        <p:nvSpPr>
          <p:cNvPr id="81" name="C4_1"/>
          <p:cNvSpPr/>
          <p:nvPr/>
        </p:nvSpPr>
        <p:spPr>
          <a:xfrm>
            <a:off x="1474565" y="4867405"/>
            <a:ext cx="1197591" cy="726773"/>
          </a:xfrm>
          <a:prstGeom prst="rect">
            <a:avLst/>
          </a:prstGeom>
          <a:solidFill>
            <a:srgbClr val="F8F9FC"/>
          </a:solidFill>
          <a:ln>
            <a:noFill/>
          </a:ln>
        </p:spPr>
        <p:txBody>
          <a:bodyPr lIns="100000" anchor="ctr"/>
          <a:lstStyle/>
          <a:p>
            <a:pPr algn="ctr">
              <a:buNone/>
            </a:pPr>
            <a:r>
              <a:rPr lang="en-US" sz="2000">
                <a:solidFill>
                  <a:srgbClr val="B03020"/>
                </a:solidFill>
              </a:rPr>
              <a:t>-0.31</a:t>
            </a:r>
          </a:p>
        </p:txBody>
      </p:sp>
      <p:sp>
        <p:nvSpPr>
          <p:cNvPr id="82" name="C4_2"/>
          <p:cNvSpPr/>
          <p:nvPr/>
        </p:nvSpPr>
        <p:spPr>
          <a:xfrm>
            <a:off x="2751995" y="4867405"/>
            <a:ext cx="1197591" cy="726773"/>
          </a:xfrm>
          <a:prstGeom prst="rect">
            <a:avLst/>
          </a:prstGeom>
          <a:solidFill>
            <a:srgbClr val="F8F9FC"/>
          </a:solidFill>
          <a:ln>
            <a:noFill/>
          </a:ln>
        </p:spPr>
        <p:txBody>
          <a:bodyPr lIns="100000" anchor="ctr"/>
          <a:lstStyle/>
          <a:p>
            <a:pPr algn="ctr">
              <a:buNone/>
            </a:pPr>
            <a:r>
              <a:rPr lang="en-US" sz="2000">
                <a:solidFill>
                  <a:srgbClr val="1A2744"/>
                </a:solidFill>
              </a:rPr>
              <a:t>—</a:t>
            </a:r>
          </a:p>
        </p:txBody>
      </p:sp>
      <p:sp>
        <p:nvSpPr>
          <p:cNvPr id="83" name="C4_3"/>
          <p:cNvSpPr/>
          <p:nvPr/>
        </p:nvSpPr>
        <p:spPr>
          <a:xfrm>
            <a:off x="4029426" y="4867405"/>
            <a:ext cx="1197591" cy="726773"/>
          </a:xfrm>
          <a:prstGeom prst="rect">
            <a:avLst/>
          </a:prstGeom>
          <a:solidFill>
            <a:srgbClr val="F8F9FC"/>
          </a:solidFill>
          <a:ln>
            <a:noFill/>
          </a:ln>
        </p:spPr>
        <p:txBody>
          <a:bodyPr lIns="100000" anchor="ctr"/>
          <a:lstStyle/>
          <a:p>
            <a:pPr algn="ctr">
              <a:buNone/>
            </a:pPr>
            <a:r>
              <a:rPr lang="en-US" sz="2000">
                <a:solidFill>
                  <a:srgbClr val="1A2744"/>
                </a:solidFill>
              </a:rPr>
              <a:t>—</a:t>
            </a:r>
          </a:p>
        </p:txBody>
      </p:sp>
      <p:sp>
        <p:nvSpPr>
          <p:cNvPr id="84" name="C4_4"/>
          <p:cNvSpPr/>
          <p:nvPr/>
        </p:nvSpPr>
        <p:spPr>
          <a:xfrm>
            <a:off x="5306856" y="4867405"/>
            <a:ext cx="1197591" cy="726773"/>
          </a:xfrm>
          <a:prstGeom prst="rect">
            <a:avLst/>
          </a:prstGeom>
          <a:solidFill>
            <a:srgbClr val="F8F9FC"/>
          </a:solidFill>
          <a:ln>
            <a:noFill/>
          </a:ln>
        </p:spPr>
        <p:txBody>
          <a:bodyPr lIns="100000" anchor="ctr"/>
          <a:lstStyle/>
          <a:p>
            <a:pPr algn="ctr">
              <a:buNone/>
            </a:pPr>
            <a:r>
              <a:rPr lang="en-US" sz="2000">
                <a:solidFill>
                  <a:srgbClr val="1A2744"/>
                </a:solidFill>
              </a:rPr>
              <a:t>—</a:t>
            </a:r>
          </a:p>
        </p:txBody>
      </p:sp>
      <p:sp>
        <p:nvSpPr>
          <p:cNvPr id="85" name="C4_5"/>
          <p:cNvSpPr/>
          <p:nvPr/>
        </p:nvSpPr>
        <p:spPr>
          <a:xfrm>
            <a:off x="6584287" y="4867405"/>
            <a:ext cx="1197591" cy="726773"/>
          </a:xfrm>
          <a:prstGeom prst="rect">
            <a:avLst/>
          </a:prstGeom>
          <a:solidFill>
            <a:srgbClr val="F8F9FC"/>
          </a:solidFill>
          <a:ln>
            <a:noFill/>
          </a:ln>
        </p:spPr>
        <p:txBody>
          <a:bodyPr lIns="100000" anchor="ctr"/>
          <a:lstStyle/>
          <a:p>
            <a:pPr algn="ctr">
              <a:buNone/>
            </a:pPr>
            <a:r>
              <a:rPr lang="en-US" sz="2000">
                <a:solidFill>
                  <a:srgbClr val="B03020"/>
                </a:solidFill>
              </a:rPr>
              <a:t>-0.12</a:t>
            </a:r>
          </a:p>
        </p:txBody>
      </p:sp>
      <p:sp>
        <p:nvSpPr>
          <p:cNvPr id="86" name="C4_6"/>
          <p:cNvSpPr/>
          <p:nvPr/>
        </p:nvSpPr>
        <p:spPr>
          <a:xfrm>
            <a:off x="7861717" y="4867405"/>
            <a:ext cx="1383883" cy="726773"/>
          </a:xfrm>
          <a:prstGeom prst="rect">
            <a:avLst/>
          </a:prstGeom>
          <a:noFill/>
          <a:ln>
            <a:solidFill>
              <a:srgbClr val="C9A94D"/>
            </a:solidFill>
          </a:ln>
        </p:spPr>
        <p:txBody>
          <a:bodyPr lIns="100000" anchor="ctr"/>
          <a:lstStyle/>
          <a:p>
            <a:pPr algn="ctr">
              <a:buNone/>
            </a:pPr>
            <a:r>
              <a:rPr lang="en-US" sz="2000" b="1">
                <a:solidFill>
                  <a:schemeClr val="accent5"/>
                </a:solidFill>
              </a:rPr>
              <a:t>1.62</a:t>
            </a:r>
          </a:p>
        </p:txBody>
      </p:sp>
      <p:sp>
        <p:nvSpPr>
          <p:cNvPr id="90" name="Obs"/>
          <p:cNvSpPr/>
          <p:nvPr/>
        </p:nvSpPr>
        <p:spPr>
          <a:xfrm>
            <a:off x="9304844" y="1263821"/>
            <a:ext cx="2743200" cy="3937000"/>
          </a:xfrm>
          <a:prstGeom prst="rect">
            <a:avLst/>
          </a:prstGeom>
          <a:solidFill>
            <a:srgbClr val="F0F2F7"/>
          </a:solidFill>
          <a:ln>
            <a:noFill/>
          </a:ln>
        </p:spPr>
        <p:txBody>
          <a:bodyPr lIns="160000" tIns="160000" anchor="t"/>
          <a:lstStyle/>
          <a:p>
            <a:pPr algn="l">
              <a:buNone/>
            </a:pPr>
            <a:r>
              <a:rPr lang="en-US" sz="2000" b="1">
                <a:solidFill>
                  <a:srgbClr val="1A2744"/>
                </a:solidFill>
              </a:rPr>
              <a:t>Observations:</a:t>
            </a:r>
          </a:p>
          <a:p>
            <a:pPr algn="l">
              <a:buNone/>
            </a:pPr>
            <a:r>
              <a:rPr lang="en-US" sz="1050">
                <a:solidFill>
                  <a:srgbClr val="8090A8"/>
                </a:solidFill>
              </a:rPr>
              <a:t> </a:t>
            </a:r>
          </a:p>
          <a:p>
            <a:pPr marL="160000" indent="-160000" algn="l">
              <a:buFont typeface="Arial"/>
              <a:buChar char="①"/>
            </a:pPr>
            <a:r>
              <a:rPr lang="en-US">
                <a:solidFill>
                  <a:srgbClr val="2C3E50"/>
                </a:solidFill>
              </a:rPr>
              <a:t>AMZN: only </a:t>
            </a:r>
            <a:r>
              <a:rPr lang="en-US" err="1">
                <a:solidFill>
                  <a:srgbClr val="2C3E50"/>
                </a:solidFill>
              </a:rPr>
              <a:t>FinMem</a:t>
            </a:r>
            <a:r>
              <a:rPr lang="en-US">
                <a:solidFill>
                  <a:srgbClr val="2C3E50"/>
                </a:solidFill>
              </a:rPr>
              <a:t> positive in a brutal bear market (+0.23)</a:t>
            </a:r>
          </a:p>
          <a:p>
            <a:pPr algn="l">
              <a:buNone/>
            </a:pPr>
            <a:r>
              <a:rPr lang="en-US" sz="1050">
                <a:solidFill>
                  <a:srgbClr val="8090A8"/>
                </a:solidFill>
              </a:rPr>
              <a:t> </a:t>
            </a:r>
          </a:p>
          <a:p>
            <a:pPr marL="160000" indent="-160000" algn="l">
              <a:buFont typeface="Arial"/>
              <a:buChar char="②"/>
            </a:pPr>
            <a:r>
              <a:rPr lang="en-US">
                <a:solidFill>
                  <a:srgbClr val="2C3E50"/>
                </a:solidFill>
              </a:rPr>
              <a:t>COIN: DRL columns empty - needs years of history. LLMs don't.</a:t>
            </a:r>
          </a:p>
          <a:p>
            <a:pPr algn="l">
              <a:buNone/>
            </a:pPr>
            <a:r>
              <a:rPr lang="en-US" sz="1050">
                <a:solidFill>
                  <a:srgbClr val="8090A8"/>
                </a:solidFill>
              </a:rPr>
              <a:t> </a:t>
            </a:r>
          </a:p>
          <a:p>
            <a:pPr marL="160000" indent="-160000" algn="l">
              <a:buFont typeface="Arial"/>
              <a:buChar char="③"/>
            </a:pPr>
            <a:r>
              <a:rPr lang="en-US" b="1">
                <a:solidFill>
                  <a:srgbClr val="B03020"/>
                </a:solidFill>
              </a:rPr>
              <a:t>TSLA 2.67 = Should trigger suspicion.</a:t>
            </a:r>
          </a:p>
        </p:txBody>
      </p:sp>
    </p:spTree>
    <p:extLst>
      <p:ext uri="{BB962C8B-B14F-4D97-AF65-F5344CB8AC3E}">
        <p14:creationId xmlns:p14="http://schemas.microsoft.com/office/powerpoint/2010/main" val="3107704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A5AC0F-7AB2-FD76-376C-386116E120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333"/>
            <a:ext cx="12192000" cy="6773333"/>
          </a:xfrm>
          <a:prstGeom prst="rect">
            <a:avLst/>
          </a:prstGeom>
        </p:spPr>
      </p:pic>
    </p:spTree>
    <p:extLst>
      <p:ext uri="{BB962C8B-B14F-4D97-AF65-F5344CB8AC3E}">
        <p14:creationId xmlns:p14="http://schemas.microsoft.com/office/powerpoint/2010/main" val="144711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3 - Results</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The TSLA Case Study: Regime-Switching</a:t>
            </a:r>
          </a:p>
        </p:txBody>
      </p:sp>
      <p:sp>
        <p:nvSpPr>
          <p:cNvPr id="20" name="P1"/>
          <p:cNvSpPr/>
          <p:nvPr/>
        </p:nvSpPr>
        <p:spPr>
          <a:xfrm>
            <a:off x="609600" y="1168400"/>
            <a:ext cx="5283200" cy="3937000"/>
          </a:xfrm>
          <a:prstGeom prst="rect">
            <a:avLst/>
          </a:prstGeom>
          <a:solidFill>
            <a:srgbClr val="F0F2F7"/>
          </a:solidFill>
          <a:ln>
            <a:noFill/>
          </a:ln>
        </p:spPr>
        <p:txBody>
          <a:bodyPr lIns="200000" tIns="180000" anchor="t"/>
          <a:lstStyle/>
          <a:p>
            <a:pPr algn="ctr">
              <a:buNone/>
            </a:pPr>
            <a:r>
              <a:rPr lang="en-US" sz="2400" b="1">
                <a:solidFill>
                  <a:srgbClr val="1A2744"/>
                </a:solidFill>
              </a:rPr>
              <a:t>Phase 1: Jun-Oct 2022</a:t>
            </a:r>
          </a:p>
          <a:p>
            <a:pPr algn="ctr">
              <a:buNone/>
            </a:pPr>
            <a:r>
              <a:rPr lang="en-US" i="1">
                <a:solidFill>
                  <a:srgbClr val="3B82C4"/>
                </a:solidFill>
              </a:rPr>
              <a:t>Tesla relatively stable</a:t>
            </a:r>
          </a:p>
          <a:p>
            <a:pPr algn="l">
              <a:buNone/>
            </a:pPr>
            <a:r>
              <a:rPr lang="en-US" sz="1100">
                <a:solidFill>
                  <a:srgbClr val="8090A8"/>
                </a:solidFill>
              </a:rPr>
              <a:t> </a:t>
            </a:r>
          </a:p>
          <a:p>
            <a:pPr marL="200000" indent="-200000" algn="l">
              <a:buFont typeface="Arial"/>
              <a:buChar char="▸"/>
            </a:pPr>
            <a:r>
              <a:rPr lang="en-US" sz="2000">
                <a:solidFill>
                  <a:srgbClr val="2C3E50"/>
                </a:solidFill>
              </a:rPr>
              <a:t>Agent profile: </a:t>
            </a:r>
            <a:r>
              <a:rPr lang="en-US" sz="2000" b="1">
                <a:solidFill>
                  <a:srgbClr val="3B82C4"/>
                </a:solidFill>
              </a:rPr>
              <a:t>Risk-Seeking</a:t>
            </a:r>
          </a:p>
          <a:p>
            <a:pPr marL="200000" indent="-200000" algn="l">
              <a:buFont typeface="Arial"/>
              <a:buChar char="▸"/>
            </a:pPr>
            <a:r>
              <a:rPr lang="en-US" sz="2000">
                <a:solidFill>
                  <a:srgbClr val="2C3E50"/>
                </a:solidFill>
              </a:rPr>
              <a:t>Frequent Buy signals</a:t>
            </a:r>
          </a:p>
          <a:p>
            <a:pPr marL="200000" indent="-200000" algn="l">
              <a:buFont typeface="Arial"/>
              <a:buChar char="▸"/>
            </a:pPr>
            <a:r>
              <a:rPr lang="en-US" sz="2000">
                <a:solidFill>
                  <a:srgbClr val="2C3E50"/>
                </a:solidFill>
              </a:rPr>
              <a:t>Riding upward momentum</a:t>
            </a:r>
          </a:p>
          <a:p>
            <a:pPr marL="200000" indent="-200000" algn="l">
              <a:buFont typeface="Arial"/>
              <a:buChar char="▸"/>
            </a:pPr>
            <a:r>
              <a:rPr lang="en-US" sz="2000">
                <a:solidFill>
                  <a:srgbClr val="2C3E50"/>
                </a:solidFill>
              </a:rPr>
              <a:t>Active position changes</a:t>
            </a:r>
          </a:p>
        </p:txBody>
      </p:sp>
      <p:sp>
        <p:nvSpPr>
          <p:cNvPr id="21" name="P2"/>
          <p:cNvSpPr/>
          <p:nvPr/>
        </p:nvSpPr>
        <p:spPr>
          <a:xfrm>
            <a:off x="6299200" y="1168400"/>
            <a:ext cx="5283200" cy="3937000"/>
          </a:xfrm>
          <a:prstGeom prst="rect">
            <a:avLst/>
          </a:prstGeom>
          <a:solidFill>
            <a:srgbClr val="1A2744"/>
          </a:solidFill>
          <a:ln>
            <a:noFill/>
          </a:ln>
        </p:spPr>
        <p:txBody>
          <a:bodyPr lIns="200000" tIns="180000" anchor="t"/>
          <a:lstStyle/>
          <a:p>
            <a:pPr algn="ctr">
              <a:buNone/>
            </a:pPr>
            <a:r>
              <a:rPr lang="en-US" sz="2400" b="1">
                <a:solidFill>
                  <a:srgbClr val="C9A84C"/>
                </a:solidFill>
              </a:rPr>
              <a:t>Phase 2: Oct 2022</a:t>
            </a:r>
            <a:br>
              <a:rPr lang="en-US" sz="2400" b="1">
                <a:solidFill>
                  <a:srgbClr val="C9A84C"/>
                </a:solidFill>
              </a:rPr>
            </a:br>
            <a:r>
              <a:rPr lang="en-US" i="1">
                <a:solidFill>
                  <a:srgbClr val="A0B4D6"/>
                </a:solidFill>
              </a:rPr>
              <a:t>Tesla sustained downturn</a:t>
            </a:r>
          </a:p>
          <a:p>
            <a:pPr algn="l">
              <a:buNone/>
            </a:pPr>
            <a:r>
              <a:rPr lang="en-US" sz="1100">
                <a:solidFill>
                  <a:srgbClr val="8090A8"/>
                </a:solidFill>
              </a:rPr>
              <a:t> </a:t>
            </a:r>
          </a:p>
          <a:p>
            <a:pPr marL="200000" indent="-200000" algn="l">
              <a:buFont typeface="Arial"/>
              <a:buChar char="▸"/>
            </a:pPr>
            <a:r>
              <a:rPr lang="en-US" sz="2000">
                <a:solidFill>
                  <a:srgbClr val="D4DCF0"/>
                </a:solidFill>
              </a:rPr>
              <a:t>Agent profile: </a:t>
            </a:r>
            <a:r>
              <a:rPr lang="en-US" sz="2000" b="1">
                <a:solidFill>
                  <a:srgbClr val="C9A84C"/>
                </a:solidFill>
              </a:rPr>
              <a:t>Risk-Averse (auto-switched)</a:t>
            </a:r>
          </a:p>
          <a:p>
            <a:pPr marL="200000" indent="-200000" algn="l">
              <a:buFont typeface="Arial"/>
              <a:buChar char="▸"/>
            </a:pPr>
            <a:r>
              <a:rPr lang="en-US" sz="2000">
                <a:solidFill>
                  <a:srgbClr val="D4DCF0"/>
                </a:solidFill>
              </a:rPr>
              <a:t>Far more HOLD actions</a:t>
            </a:r>
          </a:p>
          <a:p>
            <a:pPr marL="200000" indent="-200000" algn="l">
              <a:buFont typeface="Arial"/>
              <a:buChar char="▸"/>
            </a:pPr>
            <a:r>
              <a:rPr lang="en-US" sz="2000">
                <a:solidFill>
                  <a:srgbClr val="D4DCF0"/>
                </a:solidFill>
              </a:rPr>
              <a:t>Cumulative return flatlines (doesn't crash)</a:t>
            </a:r>
          </a:p>
          <a:p>
            <a:pPr marL="200000" indent="-200000" algn="l">
              <a:buFont typeface="Arial"/>
              <a:buChar char="▸"/>
            </a:pPr>
            <a:r>
              <a:rPr lang="en-US" sz="2000" b="1">
                <a:solidFill>
                  <a:srgbClr val="1A7A4A"/>
                </a:solidFill>
              </a:rPr>
              <a:t>Agent switched autonomously</a:t>
            </a:r>
          </a:p>
        </p:txBody>
      </p:sp>
      <p:sp>
        <p:nvSpPr>
          <p:cNvPr id="30" name="Takeaway"/>
          <p:cNvSpPr/>
          <p:nvPr/>
        </p:nvSpPr>
        <p:spPr>
          <a:xfrm>
            <a:off x="609600" y="5232400"/>
            <a:ext cx="10972800" cy="914400"/>
          </a:xfrm>
          <a:prstGeom prst="rect">
            <a:avLst/>
          </a:prstGeom>
          <a:solidFill>
            <a:srgbClr val="F0F2F7"/>
          </a:solidFill>
          <a:ln>
            <a:noFill/>
          </a:ln>
        </p:spPr>
        <p:txBody>
          <a:bodyPr lIns="240000" anchor="ctr"/>
          <a:lstStyle/>
          <a:p>
            <a:pPr algn="l">
              <a:buNone/>
            </a:pPr>
            <a:endParaRPr lang="en-US" sz="2000">
              <a:solidFill>
                <a:srgbClr val="2C3E50"/>
              </a:solidFill>
            </a:endParaRPr>
          </a:p>
        </p:txBody>
      </p:sp>
      <p:pic>
        <p:nvPicPr>
          <p:cNvPr id="1026" name="Picture 2">
            <a:extLst>
              <a:ext uri="{FF2B5EF4-FFF2-40B4-BE49-F238E27FC236}">
                <a16:creationId xmlns:a16="http://schemas.microsoft.com/office/drawing/2014/main" id="{8298E875-F50B-0470-C5CF-050CD2160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4512" y="3464319"/>
            <a:ext cx="6108147" cy="339368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07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מציין מיקום תוכן 12">
            <a:extLst>
              <a:ext uri="{FF2B5EF4-FFF2-40B4-BE49-F238E27FC236}">
                <a16:creationId xmlns:a16="http://schemas.microsoft.com/office/drawing/2014/main" id="{CD5C33E3-0FDF-AFEF-B034-B317B629B1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1733" y="723578"/>
            <a:ext cx="9739519" cy="5410844"/>
          </a:xfrm>
          <a:prstGeom prst="rect">
            <a:avLst/>
          </a:prstGeom>
        </p:spPr>
      </p:pic>
    </p:spTree>
    <p:extLst>
      <p:ext uri="{BB962C8B-B14F-4D97-AF65-F5344CB8AC3E}">
        <p14:creationId xmlns:p14="http://schemas.microsoft.com/office/powerpoint/2010/main" val="2043497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71A6DE-2859-932C-3E43-071A6CE9C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9104" y="1347726"/>
            <a:ext cx="8082796" cy="4490442"/>
          </a:xfrm>
          <a:prstGeom prst="rect">
            <a:avLst/>
          </a:prstGeom>
        </p:spPr>
      </p:pic>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3 - Results: Ablation</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Ablation: Which LLM Backbone? </a:t>
            </a:r>
          </a:p>
        </p:txBody>
      </p:sp>
      <p:sp>
        <p:nvSpPr>
          <p:cNvPr id="30" name="BAR0"/>
          <p:cNvSpPr/>
          <p:nvPr/>
        </p:nvSpPr>
        <p:spPr>
          <a:xfrm rot="16200000">
            <a:off x="-808218" y="2739990"/>
            <a:ext cx="3661283" cy="529085"/>
          </a:xfrm>
          <a:prstGeom prst="rect">
            <a:avLst/>
          </a:prstGeom>
          <a:solidFill>
            <a:srgbClr val="1A2744"/>
          </a:solidFill>
          <a:ln>
            <a:noFill/>
          </a:ln>
        </p:spPr>
        <p:txBody>
          <a:bodyPr lIns="100000" anchor="ctr"/>
          <a:lstStyle/>
          <a:p>
            <a:pPr algn="r">
              <a:buNone/>
            </a:pPr>
            <a:endParaRPr lang="en-US" sz="1400">
              <a:solidFill>
                <a:srgbClr val="FFFFFF"/>
              </a:solidFill>
            </a:endParaRPr>
          </a:p>
        </p:txBody>
      </p:sp>
      <p:sp>
        <p:nvSpPr>
          <p:cNvPr id="31" name="BAR1"/>
          <p:cNvSpPr/>
          <p:nvPr/>
        </p:nvSpPr>
        <p:spPr>
          <a:xfrm rot="16200000">
            <a:off x="320758" y="3217782"/>
            <a:ext cx="2705696" cy="529085"/>
          </a:xfrm>
          <a:prstGeom prst="rect">
            <a:avLst/>
          </a:prstGeom>
          <a:solidFill>
            <a:srgbClr val="2E4272"/>
          </a:solidFill>
          <a:ln>
            <a:noFill/>
          </a:ln>
        </p:spPr>
        <p:txBody>
          <a:bodyPr lIns="100000" anchor="ctr"/>
          <a:lstStyle/>
          <a:p>
            <a:pPr algn="r">
              <a:buNone/>
            </a:pPr>
            <a:endParaRPr lang="en-US" sz="1400">
              <a:solidFill>
                <a:srgbClr val="FFFFFF"/>
              </a:solidFill>
            </a:endParaRPr>
          </a:p>
        </p:txBody>
      </p:sp>
      <p:sp>
        <p:nvSpPr>
          <p:cNvPr id="32" name="BAR2"/>
          <p:cNvSpPr/>
          <p:nvPr/>
        </p:nvSpPr>
        <p:spPr>
          <a:xfrm rot="16200000">
            <a:off x="1324647" y="3570490"/>
            <a:ext cx="2000282" cy="529085"/>
          </a:xfrm>
          <a:prstGeom prst="rect">
            <a:avLst/>
          </a:prstGeom>
          <a:solidFill>
            <a:srgbClr val="1E5FA0"/>
          </a:solidFill>
          <a:ln>
            <a:noFill/>
          </a:ln>
        </p:spPr>
        <p:txBody>
          <a:bodyPr lIns="100000" anchor="ctr"/>
          <a:lstStyle/>
          <a:p>
            <a:pPr algn="r">
              <a:buNone/>
            </a:pPr>
            <a:endParaRPr lang="en-US" sz="1400">
              <a:solidFill>
                <a:srgbClr val="FFFFFF"/>
              </a:solidFill>
            </a:endParaRPr>
          </a:p>
        </p:txBody>
      </p:sp>
      <p:sp>
        <p:nvSpPr>
          <p:cNvPr id="33" name="BAR3"/>
          <p:cNvSpPr/>
          <p:nvPr/>
        </p:nvSpPr>
        <p:spPr>
          <a:xfrm rot="16200000">
            <a:off x="2436610" y="4031271"/>
            <a:ext cx="1078720" cy="529085"/>
          </a:xfrm>
          <a:prstGeom prst="rect">
            <a:avLst/>
          </a:prstGeom>
          <a:solidFill>
            <a:srgbClr val="7A6020"/>
          </a:solidFill>
          <a:ln>
            <a:noFill/>
          </a:ln>
        </p:spPr>
        <p:txBody>
          <a:bodyPr lIns="100000" anchor="ctr"/>
          <a:lstStyle/>
          <a:p>
            <a:pPr algn="r">
              <a:buNone/>
            </a:pPr>
            <a:endParaRPr lang="en-US" sz="1400">
              <a:solidFill>
                <a:srgbClr val="FFFFFF"/>
              </a:solidFill>
            </a:endParaRPr>
          </a:p>
        </p:txBody>
      </p:sp>
      <p:sp>
        <p:nvSpPr>
          <p:cNvPr id="20" name="LBL0"/>
          <p:cNvSpPr/>
          <p:nvPr/>
        </p:nvSpPr>
        <p:spPr>
          <a:xfrm>
            <a:off x="150100" y="4835174"/>
            <a:ext cx="1191391" cy="529085"/>
          </a:xfrm>
          <a:prstGeom prst="rect">
            <a:avLst/>
          </a:prstGeom>
          <a:noFill/>
          <a:ln>
            <a:noFill/>
          </a:ln>
        </p:spPr>
        <p:txBody>
          <a:bodyPr lIns="0" anchor="ctr"/>
          <a:lstStyle/>
          <a:p>
            <a:pPr algn="r">
              <a:buNone/>
            </a:pPr>
            <a:r>
              <a:rPr lang="en-US" sz="1600" b="1">
                <a:solidFill>
                  <a:srgbClr val="1A2744"/>
                </a:solidFill>
              </a:rPr>
              <a:t>GPT-4</a:t>
            </a:r>
            <a:br>
              <a:rPr lang="en-US" sz="1600" b="1">
                <a:solidFill>
                  <a:srgbClr val="1A2744"/>
                </a:solidFill>
              </a:rPr>
            </a:br>
            <a:r>
              <a:rPr lang="en-US" sz="1600" b="1">
                <a:solidFill>
                  <a:srgbClr val="1A2744"/>
                </a:solidFill>
              </a:rPr>
              <a:t>Turbo</a:t>
            </a:r>
          </a:p>
        </p:txBody>
      </p:sp>
      <p:sp>
        <p:nvSpPr>
          <p:cNvPr id="21" name="LBL1"/>
          <p:cNvSpPr/>
          <p:nvPr/>
        </p:nvSpPr>
        <p:spPr>
          <a:xfrm>
            <a:off x="789433" y="4728522"/>
            <a:ext cx="1191391" cy="529085"/>
          </a:xfrm>
          <a:prstGeom prst="rect">
            <a:avLst/>
          </a:prstGeom>
          <a:noFill/>
          <a:ln>
            <a:noFill/>
          </a:ln>
        </p:spPr>
        <p:txBody>
          <a:bodyPr lIns="0" anchor="ctr"/>
          <a:lstStyle/>
          <a:p>
            <a:pPr algn="r">
              <a:buNone/>
            </a:pPr>
            <a:r>
              <a:rPr lang="en-US" sz="1600">
                <a:solidFill>
                  <a:srgbClr val="2C3E50"/>
                </a:solidFill>
              </a:rPr>
              <a:t>GPT-4</a:t>
            </a:r>
          </a:p>
        </p:txBody>
      </p:sp>
      <p:sp>
        <p:nvSpPr>
          <p:cNvPr id="22" name="LBL2"/>
          <p:cNvSpPr/>
          <p:nvPr/>
        </p:nvSpPr>
        <p:spPr>
          <a:xfrm>
            <a:off x="1773089" y="4835174"/>
            <a:ext cx="1191391" cy="529085"/>
          </a:xfrm>
          <a:prstGeom prst="rect">
            <a:avLst/>
          </a:prstGeom>
          <a:noFill/>
          <a:ln>
            <a:noFill/>
          </a:ln>
        </p:spPr>
        <p:txBody>
          <a:bodyPr lIns="0" anchor="ctr"/>
          <a:lstStyle/>
          <a:p>
            <a:pPr algn="ctr">
              <a:buNone/>
            </a:pPr>
            <a:r>
              <a:rPr lang="en-US" sz="1600">
                <a:solidFill>
                  <a:srgbClr val="2C3E50"/>
                </a:solidFill>
              </a:rPr>
              <a:t>GPT-3.5</a:t>
            </a:r>
            <a:br>
              <a:rPr lang="en-US" sz="1600">
                <a:solidFill>
                  <a:srgbClr val="2C3E50"/>
                </a:solidFill>
              </a:rPr>
            </a:br>
            <a:r>
              <a:rPr lang="en-US" sz="1600">
                <a:solidFill>
                  <a:srgbClr val="2C3E50"/>
                </a:solidFill>
              </a:rPr>
              <a:t>Turbo</a:t>
            </a:r>
          </a:p>
        </p:txBody>
      </p:sp>
      <p:sp>
        <p:nvSpPr>
          <p:cNvPr id="23" name="LBL3"/>
          <p:cNvSpPr/>
          <p:nvPr/>
        </p:nvSpPr>
        <p:spPr>
          <a:xfrm>
            <a:off x="3129353" y="4859766"/>
            <a:ext cx="1191391" cy="529085"/>
          </a:xfrm>
          <a:prstGeom prst="rect">
            <a:avLst/>
          </a:prstGeom>
          <a:noFill/>
          <a:ln>
            <a:noFill/>
          </a:ln>
        </p:spPr>
        <p:txBody>
          <a:bodyPr lIns="0" anchor="ctr"/>
          <a:lstStyle/>
          <a:p>
            <a:pPr algn="ctr">
              <a:buNone/>
            </a:pPr>
            <a:r>
              <a:rPr lang="en-US" sz="1600">
                <a:solidFill>
                  <a:srgbClr val="2C3E50"/>
                </a:solidFill>
              </a:rPr>
              <a:t>Llama-2</a:t>
            </a:r>
            <a:br>
              <a:rPr lang="en-US" sz="1600">
                <a:solidFill>
                  <a:srgbClr val="2C3E50"/>
                </a:solidFill>
              </a:rPr>
            </a:br>
            <a:r>
              <a:rPr lang="en-US" sz="1600">
                <a:solidFill>
                  <a:srgbClr val="2C3E50"/>
                </a:solidFill>
              </a:rPr>
              <a:t>70b</a:t>
            </a:r>
          </a:p>
        </p:txBody>
      </p:sp>
      <p:sp>
        <p:nvSpPr>
          <p:cNvPr id="24" name="LBL4"/>
          <p:cNvSpPr/>
          <p:nvPr/>
        </p:nvSpPr>
        <p:spPr>
          <a:xfrm>
            <a:off x="2439268" y="4847470"/>
            <a:ext cx="1191391" cy="529085"/>
          </a:xfrm>
          <a:prstGeom prst="rect">
            <a:avLst/>
          </a:prstGeom>
          <a:noFill/>
          <a:ln>
            <a:noFill/>
          </a:ln>
        </p:spPr>
        <p:txBody>
          <a:bodyPr lIns="0" anchor="ctr"/>
          <a:lstStyle/>
          <a:p>
            <a:pPr algn="ctr">
              <a:buNone/>
            </a:pPr>
            <a:r>
              <a:rPr lang="en-US" sz="1600">
                <a:solidFill>
                  <a:srgbClr val="2C3E50"/>
                </a:solidFill>
              </a:rPr>
              <a:t>Davinci</a:t>
            </a:r>
            <a:br>
              <a:rPr lang="en-US" sz="1600">
                <a:solidFill>
                  <a:srgbClr val="2C3E50"/>
                </a:solidFill>
              </a:rPr>
            </a:br>
            <a:r>
              <a:rPr lang="en-US" sz="1600">
                <a:solidFill>
                  <a:srgbClr val="2C3E50"/>
                </a:solidFill>
              </a:rPr>
              <a:t>003</a:t>
            </a:r>
          </a:p>
        </p:txBody>
      </p:sp>
      <p:sp>
        <p:nvSpPr>
          <p:cNvPr id="34" name="BAR4"/>
          <p:cNvSpPr/>
          <p:nvPr/>
        </p:nvSpPr>
        <p:spPr>
          <a:xfrm rot="16200000">
            <a:off x="3421424" y="4364903"/>
            <a:ext cx="411455" cy="529085"/>
          </a:xfrm>
          <a:prstGeom prst="rect">
            <a:avLst/>
          </a:prstGeom>
          <a:solidFill>
            <a:srgbClr val="7A6020"/>
          </a:solidFill>
          <a:ln>
            <a:noFill/>
          </a:ln>
        </p:spPr>
        <p:txBody>
          <a:bodyPr lIns="100000" anchor="ctr"/>
          <a:lstStyle/>
          <a:p>
            <a:pPr algn="r">
              <a:buNone/>
            </a:pPr>
            <a:endParaRPr lang="en-US" sz="1400">
              <a:solidFill>
                <a:srgbClr val="FFFFFF"/>
              </a:solidFill>
            </a:endParaRPr>
          </a:p>
        </p:txBody>
      </p:sp>
      <p:sp>
        <p:nvSpPr>
          <p:cNvPr id="6" name="LBL1">
            <a:extLst>
              <a:ext uri="{FF2B5EF4-FFF2-40B4-BE49-F238E27FC236}">
                <a16:creationId xmlns:a16="http://schemas.microsoft.com/office/drawing/2014/main" id="{A94E02FD-387C-774C-0550-AFEB9B2AFB4E}"/>
              </a:ext>
            </a:extLst>
          </p:cNvPr>
          <p:cNvSpPr/>
          <p:nvPr/>
        </p:nvSpPr>
        <p:spPr>
          <a:xfrm>
            <a:off x="83904" y="1030857"/>
            <a:ext cx="1191391" cy="529085"/>
          </a:xfrm>
          <a:prstGeom prst="rect">
            <a:avLst/>
          </a:prstGeom>
          <a:noFill/>
          <a:ln>
            <a:noFill/>
          </a:ln>
        </p:spPr>
        <p:txBody>
          <a:bodyPr lIns="0" anchor="ctr"/>
          <a:lstStyle/>
          <a:p>
            <a:pPr algn="r">
              <a:buNone/>
            </a:pPr>
            <a:r>
              <a:rPr lang="en-US" sz="1600">
                <a:solidFill>
                  <a:schemeClr val="bg1"/>
                </a:solidFill>
              </a:rPr>
              <a:t>2.49</a:t>
            </a:r>
          </a:p>
        </p:txBody>
      </p:sp>
      <p:sp>
        <p:nvSpPr>
          <p:cNvPr id="7" name="LBL1">
            <a:extLst>
              <a:ext uri="{FF2B5EF4-FFF2-40B4-BE49-F238E27FC236}">
                <a16:creationId xmlns:a16="http://schemas.microsoft.com/office/drawing/2014/main" id="{EE490A21-05A3-5682-7915-C9A72AC55753}"/>
              </a:ext>
            </a:extLst>
          </p:cNvPr>
          <p:cNvSpPr/>
          <p:nvPr/>
        </p:nvSpPr>
        <p:spPr>
          <a:xfrm>
            <a:off x="767316" y="2020273"/>
            <a:ext cx="1191391" cy="529085"/>
          </a:xfrm>
          <a:prstGeom prst="rect">
            <a:avLst/>
          </a:prstGeom>
          <a:noFill/>
          <a:ln>
            <a:noFill/>
          </a:ln>
        </p:spPr>
        <p:txBody>
          <a:bodyPr lIns="0" anchor="ctr"/>
          <a:lstStyle/>
          <a:p>
            <a:pPr algn="r">
              <a:buNone/>
            </a:pPr>
            <a:r>
              <a:rPr lang="en-US" sz="1600">
                <a:solidFill>
                  <a:schemeClr val="bg1"/>
                </a:solidFill>
              </a:rPr>
              <a:t>2.22</a:t>
            </a:r>
          </a:p>
        </p:txBody>
      </p:sp>
      <p:sp>
        <p:nvSpPr>
          <p:cNvPr id="8" name="LBL1">
            <a:extLst>
              <a:ext uri="{FF2B5EF4-FFF2-40B4-BE49-F238E27FC236}">
                <a16:creationId xmlns:a16="http://schemas.microsoft.com/office/drawing/2014/main" id="{BB1FCDC8-D57D-C632-5F26-3A373F781964}"/>
              </a:ext>
            </a:extLst>
          </p:cNvPr>
          <p:cNvSpPr/>
          <p:nvPr/>
        </p:nvSpPr>
        <p:spPr>
          <a:xfrm>
            <a:off x="1385128" y="2741096"/>
            <a:ext cx="1191391" cy="529085"/>
          </a:xfrm>
          <a:prstGeom prst="rect">
            <a:avLst/>
          </a:prstGeom>
          <a:noFill/>
          <a:ln>
            <a:noFill/>
          </a:ln>
        </p:spPr>
        <p:txBody>
          <a:bodyPr lIns="0" anchor="ctr"/>
          <a:lstStyle/>
          <a:p>
            <a:pPr algn="r">
              <a:buNone/>
            </a:pPr>
            <a:r>
              <a:rPr lang="en-US" sz="1600">
                <a:solidFill>
                  <a:schemeClr val="bg1"/>
                </a:solidFill>
              </a:rPr>
              <a:t>2.15</a:t>
            </a:r>
          </a:p>
        </p:txBody>
      </p:sp>
      <p:sp>
        <p:nvSpPr>
          <p:cNvPr id="9" name="LBL1">
            <a:extLst>
              <a:ext uri="{FF2B5EF4-FFF2-40B4-BE49-F238E27FC236}">
                <a16:creationId xmlns:a16="http://schemas.microsoft.com/office/drawing/2014/main" id="{49C8F677-4BBA-50D3-54D2-765432560520}"/>
              </a:ext>
            </a:extLst>
          </p:cNvPr>
          <p:cNvSpPr/>
          <p:nvPr/>
        </p:nvSpPr>
        <p:spPr>
          <a:xfrm>
            <a:off x="2781911" y="4330681"/>
            <a:ext cx="1191391" cy="529085"/>
          </a:xfrm>
          <a:prstGeom prst="rect">
            <a:avLst/>
          </a:prstGeom>
          <a:noFill/>
          <a:ln>
            <a:noFill/>
          </a:ln>
        </p:spPr>
        <p:txBody>
          <a:bodyPr lIns="0" anchor="ctr"/>
          <a:lstStyle/>
          <a:p>
            <a:pPr algn="r">
              <a:buNone/>
            </a:pPr>
            <a:r>
              <a:rPr lang="en-US" sz="1600">
                <a:solidFill>
                  <a:schemeClr val="bg1"/>
                </a:solidFill>
              </a:rPr>
              <a:t>-2.85</a:t>
            </a:r>
          </a:p>
        </p:txBody>
      </p:sp>
      <p:sp>
        <p:nvSpPr>
          <p:cNvPr id="12" name="LBL1">
            <a:extLst>
              <a:ext uri="{FF2B5EF4-FFF2-40B4-BE49-F238E27FC236}">
                <a16:creationId xmlns:a16="http://schemas.microsoft.com/office/drawing/2014/main" id="{4C4286EC-58B6-6156-F5FB-B87134295574}"/>
              </a:ext>
            </a:extLst>
          </p:cNvPr>
          <p:cNvSpPr/>
          <p:nvPr/>
        </p:nvSpPr>
        <p:spPr>
          <a:xfrm>
            <a:off x="2049122" y="3679040"/>
            <a:ext cx="1191391" cy="529085"/>
          </a:xfrm>
          <a:prstGeom prst="rect">
            <a:avLst/>
          </a:prstGeom>
          <a:noFill/>
          <a:ln>
            <a:noFill/>
          </a:ln>
        </p:spPr>
        <p:txBody>
          <a:bodyPr lIns="0" anchor="ctr"/>
          <a:lstStyle/>
          <a:p>
            <a:pPr algn="r">
              <a:buNone/>
            </a:pPr>
            <a:r>
              <a:rPr lang="en-US" sz="1600">
                <a:solidFill>
                  <a:schemeClr val="bg1"/>
                </a:solidFill>
              </a:rPr>
              <a:t>0.85</a:t>
            </a:r>
          </a:p>
        </p:txBody>
      </p:sp>
      <p:sp>
        <p:nvSpPr>
          <p:cNvPr id="18" name="LBL0">
            <a:extLst>
              <a:ext uri="{FF2B5EF4-FFF2-40B4-BE49-F238E27FC236}">
                <a16:creationId xmlns:a16="http://schemas.microsoft.com/office/drawing/2014/main" id="{35E8ABAB-8682-090B-F800-48D681C25EE7}"/>
              </a:ext>
            </a:extLst>
          </p:cNvPr>
          <p:cNvSpPr/>
          <p:nvPr/>
        </p:nvSpPr>
        <p:spPr>
          <a:xfrm rot="16200000">
            <a:off x="-169766" y="2622086"/>
            <a:ext cx="1191391" cy="529085"/>
          </a:xfrm>
          <a:prstGeom prst="rect">
            <a:avLst/>
          </a:prstGeom>
          <a:noFill/>
          <a:ln>
            <a:noFill/>
          </a:ln>
        </p:spPr>
        <p:txBody>
          <a:bodyPr lIns="0" anchor="ctr"/>
          <a:lstStyle/>
          <a:p>
            <a:pPr algn="r">
              <a:buNone/>
            </a:pPr>
            <a:r>
              <a:rPr lang="en-US" sz="1600">
                <a:solidFill>
                  <a:srgbClr val="1A2744"/>
                </a:solidFill>
              </a:rPr>
              <a:t>Sharpe Ratio</a:t>
            </a:r>
          </a:p>
        </p:txBody>
      </p:sp>
    </p:spTree>
    <p:extLst>
      <p:ext uri="{BB962C8B-B14F-4D97-AF65-F5344CB8AC3E}">
        <p14:creationId xmlns:p14="http://schemas.microsoft.com/office/powerpoint/2010/main" val="3973079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3 - Results: Ablation</a:t>
            </a:r>
          </a:p>
        </p:txBody>
      </p:sp>
      <p:sp>
        <p:nvSpPr>
          <p:cNvPr id="11" name="Title"/>
          <p:cNvSpPr/>
          <p:nvPr/>
        </p:nvSpPr>
        <p:spPr>
          <a:xfrm>
            <a:off x="609599" y="698500"/>
            <a:ext cx="10972800" cy="635000"/>
          </a:xfrm>
          <a:prstGeom prst="rect">
            <a:avLst/>
          </a:prstGeom>
          <a:noFill/>
          <a:ln>
            <a:noFill/>
          </a:ln>
        </p:spPr>
        <p:txBody>
          <a:bodyPr lIns="0" anchor="ctr"/>
          <a:lstStyle/>
          <a:p>
            <a:pPr algn="l">
              <a:buNone/>
            </a:pPr>
            <a:r>
              <a:rPr lang="en-US" sz="4000" b="1">
                <a:solidFill>
                  <a:srgbClr val="1A2744"/>
                </a:solidFill>
              </a:rPr>
              <a:t>Ablation: Top-K Cognitive Span</a:t>
            </a:r>
            <a:br>
              <a:rPr lang="en-US" sz="4000" b="1">
                <a:solidFill>
                  <a:srgbClr val="1A2744"/>
                </a:solidFill>
              </a:rPr>
            </a:br>
            <a:endParaRPr lang="en-US" sz="4000" b="1">
              <a:solidFill>
                <a:srgbClr val="1A2744"/>
              </a:solidFill>
            </a:endParaRPr>
          </a:p>
        </p:txBody>
      </p:sp>
      <p:grpSp>
        <p:nvGrpSpPr>
          <p:cNvPr id="4" name="קבוצה 3">
            <a:extLst>
              <a:ext uri="{FF2B5EF4-FFF2-40B4-BE49-F238E27FC236}">
                <a16:creationId xmlns:a16="http://schemas.microsoft.com/office/drawing/2014/main" id="{9ED2BE5B-CBBB-12B1-3835-0A56D64A26D1}"/>
              </a:ext>
            </a:extLst>
          </p:cNvPr>
          <p:cNvGrpSpPr/>
          <p:nvPr/>
        </p:nvGrpSpPr>
        <p:grpSpPr>
          <a:xfrm>
            <a:off x="609599" y="1587500"/>
            <a:ext cx="10573265" cy="3708400"/>
            <a:chOff x="609600" y="1587500"/>
            <a:chExt cx="9347200" cy="3708400"/>
          </a:xfrm>
        </p:grpSpPr>
        <p:sp>
          <p:nvSpPr>
            <p:cNvPr id="20" name="BAR0"/>
            <p:cNvSpPr/>
            <p:nvPr/>
          </p:nvSpPr>
          <p:spPr>
            <a:xfrm>
              <a:off x="609600" y="3632200"/>
              <a:ext cx="2032000" cy="1257300"/>
            </a:xfrm>
            <a:prstGeom prst="rect">
              <a:avLst/>
            </a:prstGeom>
            <a:solidFill>
              <a:srgbClr val="2E4272"/>
            </a:solidFill>
            <a:ln>
              <a:noFill/>
            </a:ln>
          </p:spPr>
          <p:txBody>
            <a:bodyPr lIns="60000" tIns="80000" anchor="t"/>
            <a:lstStyle/>
            <a:p>
              <a:pPr algn="ctr">
                <a:buNone/>
              </a:pPr>
              <a:r>
                <a:rPr lang="en-US">
                  <a:solidFill>
                    <a:srgbClr val="FFFFFF"/>
                  </a:solidFill>
                </a:rPr>
                <a:t>Underfitting - tunnel vision</a:t>
              </a:r>
            </a:p>
          </p:txBody>
        </p:sp>
        <p:sp>
          <p:nvSpPr>
            <p:cNvPr id="30" name="KL0"/>
            <p:cNvSpPr/>
            <p:nvPr/>
          </p:nvSpPr>
          <p:spPr>
            <a:xfrm>
              <a:off x="609600" y="4940300"/>
              <a:ext cx="2032000" cy="355600"/>
            </a:xfrm>
            <a:prstGeom prst="rect">
              <a:avLst/>
            </a:prstGeom>
            <a:noFill/>
            <a:ln>
              <a:noFill/>
            </a:ln>
          </p:spPr>
          <p:txBody>
            <a:bodyPr lIns="0" anchor="t"/>
            <a:lstStyle/>
            <a:p>
              <a:pPr algn="ctr">
                <a:buNone/>
              </a:pPr>
              <a:r>
                <a:rPr lang="en-US" sz="2400" b="1">
                  <a:solidFill>
                    <a:srgbClr val="1A2744"/>
                  </a:solidFill>
                </a:rPr>
                <a:t>K=1</a:t>
              </a:r>
            </a:p>
          </p:txBody>
        </p:sp>
        <p:sp>
          <p:nvSpPr>
            <p:cNvPr id="21" name="BAR1"/>
            <p:cNvSpPr/>
            <p:nvPr/>
          </p:nvSpPr>
          <p:spPr>
            <a:xfrm>
              <a:off x="3048000" y="2641600"/>
              <a:ext cx="2032000" cy="2247900"/>
            </a:xfrm>
            <a:prstGeom prst="rect">
              <a:avLst/>
            </a:prstGeom>
            <a:solidFill>
              <a:srgbClr val="2E4272"/>
            </a:solidFill>
            <a:ln>
              <a:noFill/>
            </a:ln>
          </p:spPr>
          <p:txBody>
            <a:bodyPr lIns="60000" tIns="80000" anchor="t"/>
            <a:lstStyle/>
            <a:p>
              <a:pPr algn="ctr">
                <a:buNone/>
              </a:pPr>
              <a:r>
                <a:rPr lang="en-US">
                  <a:solidFill>
                    <a:srgbClr val="FFFFFF"/>
                  </a:solidFill>
                </a:rPr>
                <a:t>Improving</a:t>
              </a:r>
            </a:p>
          </p:txBody>
        </p:sp>
        <p:sp>
          <p:nvSpPr>
            <p:cNvPr id="31" name="KL1"/>
            <p:cNvSpPr/>
            <p:nvPr/>
          </p:nvSpPr>
          <p:spPr>
            <a:xfrm>
              <a:off x="3048000" y="4940300"/>
              <a:ext cx="2032000" cy="355600"/>
            </a:xfrm>
            <a:prstGeom prst="rect">
              <a:avLst/>
            </a:prstGeom>
            <a:noFill/>
            <a:ln>
              <a:noFill/>
            </a:ln>
          </p:spPr>
          <p:txBody>
            <a:bodyPr lIns="0" anchor="t"/>
            <a:lstStyle/>
            <a:p>
              <a:pPr algn="ctr">
                <a:buNone/>
              </a:pPr>
              <a:r>
                <a:rPr lang="en-US" sz="2400" b="1">
                  <a:solidFill>
                    <a:srgbClr val="1A2744"/>
                  </a:solidFill>
                </a:rPr>
                <a:t>K=3</a:t>
              </a:r>
            </a:p>
          </p:txBody>
        </p:sp>
        <p:sp>
          <p:nvSpPr>
            <p:cNvPr id="22" name="BAR2"/>
            <p:cNvSpPr/>
            <p:nvPr/>
          </p:nvSpPr>
          <p:spPr>
            <a:xfrm>
              <a:off x="5486400" y="1587500"/>
              <a:ext cx="2032000" cy="3302000"/>
            </a:xfrm>
            <a:prstGeom prst="rect">
              <a:avLst/>
            </a:prstGeom>
            <a:solidFill>
              <a:srgbClr val="C9A84C"/>
            </a:solidFill>
            <a:ln>
              <a:noFill/>
            </a:ln>
          </p:spPr>
          <p:txBody>
            <a:bodyPr lIns="60000" tIns="80000" anchor="t"/>
            <a:lstStyle/>
            <a:p>
              <a:pPr algn="ctr">
                <a:buNone/>
              </a:pPr>
              <a:r>
                <a:rPr lang="en-US">
                  <a:solidFill>
                    <a:srgbClr val="1A2744"/>
                  </a:solidFill>
                </a:rPr>
                <a:t>★ Peak performance</a:t>
              </a:r>
            </a:p>
          </p:txBody>
        </p:sp>
        <p:sp>
          <p:nvSpPr>
            <p:cNvPr id="32" name="KL2"/>
            <p:cNvSpPr/>
            <p:nvPr/>
          </p:nvSpPr>
          <p:spPr>
            <a:xfrm>
              <a:off x="5486400" y="4940300"/>
              <a:ext cx="2032000" cy="355600"/>
            </a:xfrm>
            <a:prstGeom prst="rect">
              <a:avLst/>
            </a:prstGeom>
            <a:noFill/>
            <a:ln>
              <a:noFill/>
            </a:ln>
          </p:spPr>
          <p:txBody>
            <a:bodyPr lIns="0" anchor="t"/>
            <a:lstStyle/>
            <a:p>
              <a:pPr algn="ctr">
                <a:buNone/>
              </a:pPr>
              <a:r>
                <a:rPr lang="en-US" sz="2400" b="1">
                  <a:solidFill>
                    <a:srgbClr val="C9A84C"/>
                  </a:solidFill>
                </a:rPr>
                <a:t>K=5</a:t>
              </a:r>
            </a:p>
          </p:txBody>
        </p:sp>
        <p:sp>
          <p:nvSpPr>
            <p:cNvPr id="23" name="BAR3"/>
            <p:cNvSpPr/>
            <p:nvPr/>
          </p:nvSpPr>
          <p:spPr>
            <a:xfrm>
              <a:off x="7924800" y="1651000"/>
              <a:ext cx="2032000" cy="3238500"/>
            </a:xfrm>
            <a:prstGeom prst="rect">
              <a:avLst/>
            </a:prstGeom>
            <a:solidFill>
              <a:srgbClr val="2E4272"/>
            </a:solidFill>
            <a:ln>
              <a:noFill/>
            </a:ln>
          </p:spPr>
          <p:txBody>
            <a:bodyPr lIns="60000" tIns="80000" anchor="t"/>
            <a:lstStyle/>
            <a:p>
              <a:pPr algn="ctr">
                <a:buNone/>
              </a:pPr>
              <a:r>
                <a:rPr lang="en-US" dirty="0">
                  <a:solidFill>
                    <a:srgbClr val="FFFFFF"/>
                  </a:solidFill>
                </a:rPr>
                <a:t>Overload - false confidence and more volatility</a:t>
              </a:r>
            </a:p>
          </p:txBody>
        </p:sp>
        <p:sp>
          <p:nvSpPr>
            <p:cNvPr id="33" name="KL3"/>
            <p:cNvSpPr/>
            <p:nvPr/>
          </p:nvSpPr>
          <p:spPr>
            <a:xfrm>
              <a:off x="7924800" y="4940300"/>
              <a:ext cx="2032000" cy="355600"/>
            </a:xfrm>
            <a:prstGeom prst="rect">
              <a:avLst/>
            </a:prstGeom>
            <a:noFill/>
            <a:ln>
              <a:noFill/>
            </a:ln>
          </p:spPr>
          <p:txBody>
            <a:bodyPr lIns="0" anchor="t"/>
            <a:lstStyle/>
            <a:p>
              <a:pPr algn="ctr">
                <a:buNone/>
              </a:pPr>
              <a:r>
                <a:rPr lang="en-US" sz="2400" b="1">
                  <a:solidFill>
                    <a:srgbClr val="1A2744"/>
                  </a:solidFill>
                </a:rPr>
                <a:t>K=10</a:t>
              </a:r>
            </a:p>
          </p:txBody>
        </p:sp>
      </p:grpSp>
      <p:sp>
        <p:nvSpPr>
          <p:cNvPr id="50" name="MNote"/>
          <p:cNvSpPr/>
          <p:nvPr/>
        </p:nvSpPr>
        <p:spPr>
          <a:xfrm>
            <a:off x="6303556" y="2044700"/>
            <a:ext cx="2121065" cy="1092200"/>
          </a:xfrm>
          <a:prstGeom prst="rect">
            <a:avLst/>
          </a:prstGeom>
          <a:noFill/>
          <a:ln>
            <a:noFill/>
          </a:ln>
        </p:spPr>
        <p:txBody>
          <a:bodyPr lIns="0" anchor="t"/>
          <a:lstStyle/>
          <a:p>
            <a:pPr algn="l">
              <a:buNone/>
            </a:pPr>
            <a:r>
              <a:rPr lang="en-US" b="1" i="1" dirty="0">
                <a:solidFill>
                  <a:schemeClr val="bg1"/>
                </a:solidFill>
              </a:rPr>
              <a:t>Miller's Law: 7±2</a:t>
            </a:r>
          </a:p>
          <a:p>
            <a:pPr algn="l">
              <a:buNone/>
            </a:pPr>
            <a:r>
              <a:rPr lang="en-US" dirty="0">
                <a:solidFill>
                  <a:schemeClr val="bg1"/>
                </a:solidFill>
              </a:rPr>
              <a:t>Optimal K for LLM agent is double</a:t>
            </a:r>
          </a:p>
          <a:p>
            <a:pPr algn="l">
              <a:buNone/>
            </a:pPr>
            <a:r>
              <a:rPr lang="en-US" dirty="0">
                <a:solidFill>
                  <a:schemeClr val="bg1"/>
                </a:solidFill>
              </a:rPr>
              <a:t>the human cognitive constant.</a:t>
            </a:r>
          </a:p>
        </p:txBody>
      </p:sp>
      <p:sp>
        <p:nvSpPr>
          <p:cNvPr id="60" name="Takeaway"/>
          <p:cNvSpPr/>
          <p:nvPr/>
        </p:nvSpPr>
        <p:spPr>
          <a:xfrm>
            <a:off x="609600" y="5410200"/>
            <a:ext cx="10972800" cy="762000"/>
          </a:xfrm>
          <a:prstGeom prst="rect">
            <a:avLst/>
          </a:prstGeom>
          <a:solidFill>
            <a:srgbClr val="F0F2F7"/>
          </a:solidFill>
          <a:ln>
            <a:noFill/>
          </a:ln>
        </p:spPr>
        <p:txBody>
          <a:bodyPr lIns="240000" anchor="ctr"/>
          <a:lstStyle/>
          <a:p>
            <a:pPr algn="l">
              <a:buNone/>
            </a:pPr>
            <a:r>
              <a:rPr lang="en-US" sz="2000" b="1">
                <a:solidFill>
                  <a:srgbClr val="1A2744"/>
                </a:solidFill>
              </a:rPr>
              <a:t>K=5 optimal: </a:t>
            </a:r>
            <a:r>
              <a:rPr lang="en-US" sz="2000">
                <a:solidFill>
                  <a:srgbClr val="2C3E50"/>
                </a:solidFill>
              </a:rPr>
              <a:t>Memory-augmented LLMs may have analogous cognitive bottlenecks to humans.</a:t>
            </a:r>
          </a:p>
        </p:txBody>
      </p:sp>
    </p:spTree>
    <p:extLst>
      <p:ext uri="{BB962C8B-B14F-4D97-AF65-F5344CB8AC3E}">
        <p14:creationId xmlns:p14="http://schemas.microsoft.com/office/powerpoint/2010/main" val="1175261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
          <p:cNvSpPr/>
          <p:nvPr/>
        </p:nvSpPr>
        <p:spPr>
          <a:xfrm>
            <a:off x="421161" y="5854553"/>
            <a:ext cx="11519588" cy="762000"/>
          </a:xfrm>
          <a:prstGeom prst="rect">
            <a:avLst/>
          </a:prstGeom>
          <a:solidFill>
            <a:srgbClr val="FFF8E8"/>
          </a:solidFill>
          <a:ln>
            <a:noFill/>
          </a:ln>
        </p:spPr>
        <p:txBody>
          <a:bodyPr lIns="240000" anchor="ctr"/>
          <a:lstStyle/>
          <a:p>
            <a:pPr algn="l">
              <a:buNone/>
            </a:pPr>
            <a:r>
              <a:rPr lang="en-US" sz="2000">
                <a:solidFill>
                  <a:srgbClr val="2C3E50"/>
                </a:solidFill>
              </a:rPr>
              <a:t>Some of </a:t>
            </a:r>
            <a:r>
              <a:rPr lang="en-US" sz="2000" err="1">
                <a:solidFill>
                  <a:srgbClr val="2C3E50"/>
                </a:solidFill>
              </a:rPr>
              <a:t>FinMem's</a:t>
            </a:r>
            <a:r>
              <a:rPr lang="en-US" sz="2000">
                <a:solidFill>
                  <a:srgbClr val="2C3E50"/>
                </a:solidFill>
              </a:rPr>
              <a:t> lead over </a:t>
            </a:r>
            <a:r>
              <a:rPr lang="en-US" sz="2000" err="1">
                <a:solidFill>
                  <a:srgbClr val="2C3E50"/>
                </a:solidFill>
              </a:rPr>
              <a:t>FinGPT</a:t>
            </a:r>
            <a:r>
              <a:rPr lang="en-US" sz="2000">
                <a:solidFill>
                  <a:srgbClr val="2C3E50"/>
                </a:solidFill>
              </a:rPr>
              <a:t> may be the architecture - but some is just GPT-4-Turbo's model size. </a:t>
            </a:r>
          </a:p>
        </p:txBody>
      </p:sp>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3 - Results: Head to Head</a:t>
            </a:r>
          </a:p>
        </p:txBody>
      </p:sp>
      <p:sp>
        <p:nvSpPr>
          <p:cNvPr id="11" name="Title"/>
          <p:cNvSpPr/>
          <p:nvPr/>
        </p:nvSpPr>
        <p:spPr>
          <a:xfrm>
            <a:off x="609600" y="355600"/>
            <a:ext cx="10972800" cy="609600"/>
          </a:xfrm>
          <a:prstGeom prst="rect">
            <a:avLst/>
          </a:prstGeom>
          <a:noFill/>
          <a:ln>
            <a:noFill/>
          </a:ln>
        </p:spPr>
        <p:txBody>
          <a:bodyPr lIns="0" anchor="ctr"/>
          <a:lstStyle/>
          <a:p>
            <a:pPr algn="l">
              <a:buNone/>
            </a:pPr>
            <a:r>
              <a:rPr lang="en-US" sz="4000" b="1">
                <a:solidFill>
                  <a:srgbClr val="1A2744"/>
                </a:solidFill>
              </a:rPr>
              <a:t>FinMem vs </a:t>
            </a:r>
            <a:r>
              <a:rPr lang="en-US" sz="4000" b="1" err="1">
                <a:solidFill>
                  <a:srgbClr val="1A2744"/>
                </a:solidFill>
              </a:rPr>
              <a:t>FinGPT</a:t>
            </a:r>
            <a:endParaRPr lang="en-US" sz="4000" b="1">
              <a:solidFill>
                <a:srgbClr val="1A2744"/>
              </a:solidFill>
            </a:endParaRPr>
          </a:p>
        </p:txBody>
      </p:sp>
      <p:sp>
        <p:nvSpPr>
          <p:cNvPr id="12" name="Divider"/>
          <p:cNvSpPr/>
          <p:nvPr/>
        </p:nvSpPr>
        <p:spPr>
          <a:xfrm>
            <a:off x="609600" y="1016000"/>
            <a:ext cx="10972800" cy="38100"/>
          </a:xfrm>
          <a:prstGeom prst="rect">
            <a:avLst/>
          </a:prstGeom>
          <a:solidFill>
            <a:srgbClr val="C9A84C"/>
          </a:solidFill>
          <a:ln>
            <a:noFill/>
          </a:ln>
        </p:spPr>
        <p:txBody>
          <a:bodyPr/>
          <a:lstStyle/>
          <a:p>
            <a:endParaRPr sz="2400"/>
          </a:p>
        </p:txBody>
      </p:sp>
      <p:sp>
        <p:nvSpPr>
          <p:cNvPr id="20" name="FGHeader"/>
          <p:cNvSpPr/>
          <p:nvPr/>
        </p:nvSpPr>
        <p:spPr>
          <a:xfrm>
            <a:off x="609600" y="1168400"/>
            <a:ext cx="5080000" cy="457200"/>
          </a:xfrm>
          <a:prstGeom prst="rect">
            <a:avLst/>
          </a:prstGeom>
          <a:solidFill>
            <a:srgbClr val="2E4272"/>
          </a:solidFill>
          <a:ln>
            <a:noFill/>
          </a:ln>
        </p:spPr>
        <p:txBody>
          <a:bodyPr lIns="180000" anchor="ctr"/>
          <a:lstStyle/>
          <a:p>
            <a:pPr algn="ctr">
              <a:buNone/>
            </a:pPr>
            <a:r>
              <a:rPr lang="en-US" sz="2400" b="1">
                <a:solidFill>
                  <a:srgbClr val="FFFFFF"/>
                </a:solidFill>
              </a:rPr>
              <a:t>FinGPT  (Yang et al. 2023)</a:t>
            </a:r>
          </a:p>
        </p:txBody>
      </p:sp>
      <p:sp>
        <p:nvSpPr>
          <p:cNvPr id="21" name="FGTag"/>
          <p:cNvSpPr/>
          <p:nvPr/>
        </p:nvSpPr>
        <p:spPr>
          <a:xfrm>
            <a:off x="609600" y="1676400"/>
            <a:ext cx="5080000" cy="355600"/>
          </a:xfrm>
          <a:prstGeom prst="rect">
            <a:avLst/>
          </a:prstGeom>
          <a:solidFill>
            <a:srgbClr val="F0F2F7"/>
          </a:solidFill>
          <a:ln>
            <a:noFill/>
          </a:ln>
        </p:spPr>
        <p:txBody>
          <a:bodyPr lIns="180000" anchor="ctr"/>
          <a:lstStyle/>
          <a:p>
            <a:pPr algn="ctr">
              <a:buNone/>
            </a:pPr>
            <a:r>
              <a:rPr lang="en-US" i="1">
                <a:solidFill>
                  <a:srgbClr val="2E4272"/>
                </a:solidFill>
              </a:rPr>
              <a:t>Fine-tune the model</a:t>
            </a:r>
          </a:p>
        </p:txBody>
      </p:sp>
      <p:sp>
        <p:nvSpPr>
          <p:cNvPr id="30" name="FGRow0"/>
          <p:cNvSpPr/>
          <p:nvPr/>
        </p:nvSpPr>
        <p:spPr>
          <a:xfrm>
            <a:off x="609600" y="2082800"/>
            <a:ext cx="5080000" cy="381000"/>
          </a:xfrm>
          <a:prstGeom prst="rect">
            <a:avLst/>
          </a:prstGeom>
          <a:solidFill>
            <a:srgbClr val="FFFFFF"/>
          </a:solidFill>
          <a:ln>
            <a:noFill/>
          </a:ln>
        </p:spPr>
        <p:txBody>
          <a:bodyPr lIns="120000" anchor="ctr"/>
          <a:lstStyle/>
          <a:p>
            <a:pPr algn="l">
              <a:buNone/>
            </a:pPr>
            <a:r>
              <a:rPr lang="en-US" b="1">
                <a:solidFill>
                  <a:srgbClr val="1A2744"/>
                </a:solidFill>
              </a:rPr>
              <a:t>Backbone: </a:t>
            </a:r>
            <a:r>
              <a:rPr lang="en-US">
                <a:solidFill>
                  <a:srgbClr val="3A4A60"/>
                </a:solidFill>
              </a:rPr>
              <a:t>Open-source Llama (7 B-13 B)</a:t>
            </a:r>
          </a:p>
        </p:txBody>
      </p:sp>
      <p:sp>
        <p:nvSpPr>
          <p:cNvPr id="32" name="FGRow1"/>
          <p:cNvSpPr/>
          <p:nvPr/>
        </p:nvSpPr>
        <p:spPr>
          <a:xfrm>
            <a:off x="609600" y="2463800"/>
            <a:ext cx="5080000" cy="381000"/>
          </a:xfrm>
          <a:prstGeom prst="rect">
            <a:avLst/>
          </a:prstGeom>
          <a:solidFill>
            <a:srgbClr val="F6F8FB"/>
          </a:solidFill>
          <a:ln>
            <a:noFill/>
          </a:ln>
        </p:spPr>
        <p:txBody>
          <a:bodyPr lIns="120000" anchor="ctr"/>
          <a:lstStyle/>
          <a:p>
            <a:pPr algn="l">
              <a:buNone/>
            </a:pPr>
            <a:r>
              <a:rPr lang="en-US" b="1">
                <a:solidFill>
                  <a:srgbClr val="1A2744"/>
                </a:solidFill>
              </a:rPr>
              <a:t>Training: </a:t>
            </a:r>
            <a:r>
              <a:rPr lang="en-US">
                <a:solidFill>
                  <a:srgbClr val="3A4A60"/>
                </a:solidFill>
              </a:rPr>
              <a:t>~$300 fine-tune on financial corpus</a:t>
            </a:r>
          </a:p>
        </p:txBody>
      </p:sp>
      <p:sp>
        <p:nvSpPr>
          <p:cNvPr id="34" name="FGRow2"/>
          <p:cNvSpPr/>
          <p:nvPr/>
        </p:nvSpPr>
        <p:spPr>
          <a:xfrm>
            <a:off x="609600" y="2844800"/>
            <a:ext cx="5080000" cy="381000"/>
          </a:xfrm>
          <a:prstGeom prst="rect">
            <a:avLst/>
          </a:prstGeom>
          <a:solidFill>
            <a:srgbClr val="FFFFFF"/>
          </a:solidFill>
          <a:ln>
            <a:noFill/>
          </a:ln>
        </p:spPr>
        <p:txBody>
          <a:bodyPr lIns="120000" anchor="ctr"/>
          <a:lstStyle/>
          <a:p>
            <a:pPr algn="l">
              <a:buNone/>
            </a:pPr>
            <a:r>
              <a:rPr lang="en-US" b="1">
                <a:solidFill>
                  <a:srgbClr val="1A2744"/>
                </a:solidFill>
              </a:rPr>
              <a:t>Knowledge: </a:t>
            </a:r>
            <a:r>
              <a:rPr lang="en-US">
                <a:solidFill>
                  <a:srgbClr val="3A4A60"/>
                </a:solidFill>
              </a:rPr>
              <a:t>Baked in at training time - frozen after</a:t>
            </a:r>
          </a:p>
        </p:txBody>
      </p:sp>
      <p:sp>
        <p:nvSpPr>
          <p:cNvPr id="36" name="FGRow3"/>
          <p:cNvSpPr/>
          <p:nvPr/>
        </p:nvSpPr>
        <p:spPr>
          <a:xfrm>
            <a:off x="609600" y="3213100"/>
            <a:ext cx="5232400" cy="381000"/>
          </a:xfrm>
          <a:prstGeom prst="rect">
            <a:avLst/>
          </a:prstGeom>
          <a:solidFill>
            <a:srgbClr val="F6F8FB"/>
          </a:solidFill>
          <a:ln>
            <a:noFill/>
          </a:ln>
        </p:spPr>
        <p:txBody>
          <a:bodyPr lIns="120000" anchor="ctr"/>
          <a:lstStyle/>
          <a:p>
            <a:pPr algn="l">
              <a:buNone/>
            </a:pPr>
            <a:r>
              <a:rPr lang="en-US" b="1">
                <a:solidFill>
                  <a:srgbClr val="1A2744"/>
                </a:solidFill>
              </a:rPr>
              <a:t>Updates: </a:t>
            </a:r>
            <a:r>
              <a:rPr lang="en-US">
                <a:solidFill>
                  <a:srgbClr val="3A4A60"/>
                </a:solidFill>
              </a:rPr>
              <a:t>Retrain = full fine-tune cycle (~days/weeks)</a:t>
            </a:r>
          </a:p>
        </p:txBody>
      </p:sp>
      <p:sp>
        <p:nvSpPr>
          <p:cNvPr id="38" name="FGRow4"/>
          <p:cNvSpPr/>
          <p:nvPr/>
        </p:nvSpPr>
        <p:spPr>
          <a:xfrm>
            <a:off x="609600" y="3606800"/>
            <a:ext cx="5080000" cy="381000"/>
          </a:xfrm>
          <a:prstGeom prst="rect">
            <a:avLst/>
          </a:prstGeom>
          <a:solidFill>
            <a:srgbClr val="FFFFFF"/>
          </a:solidFill>
          <a:ln>
            <a:noFill/>
          </a:ln>
        </p:spPr>
        <p:txBody>
          <a:bodyPr lIns="120000" anchor="ctr"/>
          <a:lstStyle/>
          <a:p>
            <a:pPr algn="l">
              <a:buNone/>
            </a:pPr>
            <a:r>
              <a:rPr lang="en-US" b="1">
                <a:solidFill>
                  <a:srgbClr val="1A2744"/>
                </a:solidFill>
              </a:rPr>
              <a:t>Explainability: </a:t>
            </a:r>
            <a:r>
              <a:rPr lang="en-US">
                <a:solidFill>
                  <a:srgbClr val="3A4A60"/>
                </a:solidFill>
              </a:rPr>
              <a:t>Limited - no reasoning chain output</a:t>
            </a:r>
          </a:p>
        </p:txBody>
      </p:sp>
      <p:sp>
        <p:nvSpPr>
          <p:cNvPr id="40" name="FGRow5"/>
          <p:cNvSpPr/>
          <p:nvPr/>
        </p:nvSpPr>
        <p:spPr>
          <a:xfrm>
            <a:off x="609600" y="3987800"/>
            <a:ext cx="5080000" cy="381000"/>
          </a:xfrm>
          <a:prstGeom prst="rect">
            <a:avLst/>
          </a:prstGeom>
          <a:solidFill>
            <a:srgbClr val="F6F8FB"/>
          </a:solidFill>
          <a:ln>
            <a:noFill/>
          </a:ln>
        </p:spPr>
        <p:txBody>
          <a:bodyPr lIns="120000" anchor="ctr"/>
          <a:lstStyle/>
          <a:p>
            <a:pPr algn="l">
              <a:buNone/>
            </a:pPr>
            <a:r>
              <a:rPr lang="en-US" b="1">
                <a:solidFill>
                  <a:srgbClr val="1A2744"/>
                </a:solidFill>
              </a:rPr>
              <a:t>Cost/day: </a:t>
            </a:r>
            <a:r>
              <a:rPr lang="en-US">
                <a:solidFill>
                  <a:srgbClr val="3A4A60"/>
                </a:solidFill>
              </a:rPr>
              <a:t>Negligible inference (small open model)</a:t>
            </a:r>
          </a:p>
        </p:txBody>
      </p:sp>
      <p:sp>
        <p:nvSpPr>
          <p:cNvPr id="42" name="FGRow6"/>
          <p:cNvSpPr/>
          <p:nvPr/>
        </p:nvSpPr>
        <p:spPr>
          <a:xfrm>
            <a:off x="609600" y="4368800"/>
            <a:ext cx="5080000" cy="381000"/>
          </a:xfrm>
          <a:prstGeom prst="rect">
            <a:avLst/>
          </a:prstGeom>
          <a:solidFill>
            <a:srgbClr val="FFFFFF"/>
          </a:solidFill>
          <a:ln>
            <a:noFill/>
          </a:ln>
        </p:spPr>
        <p:txBody>
          <a:bodyPr lIns="120000" anchor="ctr"/>
          <a:lstStyle/>
          <a:p>
            <a:pPr algn="l">
              <a:buNone/>
            </a:pPr>
            <a:r>
              <a:rPr lang="en-US" b="1">
                <a:solidFill>
                  <a:srgbClr val="1A2744"/>
                </a:solidFill>
              </a:rPr>
              <a:t>Sharpe (TSLA): </a:t>
            </a:r>
            <a:r>
              <a:rPr lang="en-US">
                <a:solidFill>
                  <a:srgbClr val="3A4A60"/>
                </a:solidFill>
              </a:rPr>
              <a:t>−0.27  (worse than Buy &amp; Hold)</a:t>
            </a:r>
          </a:p>
        </p:txBody>
      </p:sp>
      <p:sp>
        <p:nvSpPr>
          <p:cNvPr id="60" name="VS"/>
          <p:cNvSpPr/>
          <p:nvPr/>
        </p:nvSpPr>
        <p:spPr>
          <a:xfrm>
            <a:off x="5842000" y="1879600"/>
            <a:ext cx="508000" cy="508000"/>
          </a:xfrm>
          <a:prstGeom prst="rect">
            <a:avLst/>
          </a:prstGeom>
          <a:solidFill>
            <a:srgbClr val="C9A84C"/>
          </a:solidFill>
          <a:ln>
            <a:noFill/>
          </a:ln>
        </p:spPr>
        <p:txBody>
          <a:bodyPr lIns="0" tIns="0" rIns="0" bIns="0" anchor="ctr"/>
          <a:lstStyle/>
          <a:p>
            <a:pPr algn="ctr">
              <a:buNone/>
            </a:pPr>
            <a:r>
              <a:rPr lang="en-US" b="1">
                <a:solidFill>
                  <a:srgbClr val="1A2744"/>
                </a:solidFill>
              </a:rPr>
              <a:t>VS</a:t>
            </a:r>
          </a:p>
        </p:txBody>
      </p:sp>
      <p:sp>
        <p:nvSpPr>
          <p:cNvPr id="70" name="FMHeader"/>
          <p:cNvSpPr/>
          <p:nvPr/>
        </p:nvSpPr>
        <p:spPr>
          <a:xfrm>
            <a:off x="6502400" y="1168400"/>
            <a:ext cx="5080000" cy="457200"/>
          </a:xfrm>
          <a:prstGeom prst="rect">
            <a:avLst/>
          </a:prstGeom>
          <a:solidFill>
            <a:srgbClr val="1A2744"/>
          </a:solidFill>
          <a:ln>
            <a:noFill/>
          </a:ln>
        </p:spPr>
        <p:txBody>
          <a:bodyPr lIns="180000" anchor="ctr"/>
          <a:lstStyle/>
          <a:p>
            <a:pPr algn="ctr">
              <a:buNone/>
            </a:pPr>
            <a:r>
              <a:rPr lang="en-US" sz="2400" b="1">
                <a:solidFill>
                  <a:srgbClr val="C9A84C"/>
                </a:solidFill>
              </a:rPr>
              <a:t>FinMem  (Yu et al. 2023)</a:t>
            </a:r>
          </a:p>
        </p:txBody>
      </p:sp>
      <p:sp>
        <p:nvSpPr>
          <p:cNvPr id="71" name="FMTag"/>
          <p:cNvSpPr/>
          <p:nvPr/>
        </p:nvSpPr>
        <p:spPr>
          <a:xfrm>
            <a:off x="6502400" y="1676400"/>
            <a:ext cx="5080000" cy="355600"/>
          </a:xfrm>
          <a:prstGeom prst="rect">
            <a:avLst/>
          </a:prstGeom>
          <a:solidFill>
            <a:srgbClr val="1A2744"/>
          </a:solidFill>
          <a:ln>
            <a:noFill/>
          </a:ln>
        </p:spPr>
        <p:txBody>
          <a:bodyPr lIns="180000" anchor="ctr"/>
          <a:lstStyle/>
          <a:p>
            <a:pPr algn="ctr">
              <a:buNone/>
            </a:pPr>
            <a:r>
              <a:rPr lang="en-US" i="1">
                <a:solidFill>
                  <a:srgbClr val="A0B4D6"/>
                </a:solidFill>
              </a:rPr>
              <a:t>Scaffold around the model</a:t>
            </a:r>
          </a:p>
        </p:txBody>
      </p:sp>
      <p:sp>
        <p:nvSpPr>
          <p:cNvPr id="80" name="FMRow0"/>
          <p:cNvSpPr/>
          <p:nvPr/>
        </p:nvSpPr>
        <p:spPr>
          <a:xfrm>
            <a:off x="6502400" y="2082800"/>
            <a:ext cx="5080000" cy="381000"/>
          </a:xfrm>
          <a:prstGeom prst="rect">
            <a:avLst/>
          </a:prstGeom>
          <a:solidFill>
            <a:srgbClr val="1D2F50"/>
          </a:solidFill>
          <a:ln>
            <a:noFill/>
          </a:ln>
        </p:spPr>
        <p:txBody>
          <a:bodyPr lIns="120000" anchor="ctr"/>
          <a:lstStyle/>
          <a:p>
            <a:pPr algn="l">
              <a:buNone/>
            </a:pPr>
            <a:r>
              <a:rPr lang="en-US" b="1">
                <a:solidFill>
                  <a:srgbClr val="C9A84C"/>
                </a:solidFill>
              </a:rPr>
              <a:t>Backbone: </a:t>
            </a:r>
            <a:r>
              <a:rPr lang="en-US">
                <a:solidFill>
                  <a:srgbClr val="D4DCF0"/>
                </a:solidFill>
              </a:rPr>
              <a:t>GPT-4-Turbo (proprietary, frozen)</a:t>
            </a:r>
          </a:p>
        </p:txBody>
      </p:sp>
      <p:sp>
        <p:nvSpPr>
          <p:cNvPr id="82" name="FMRow1"/>
          <p:cNvSpPr/>
          <p:nvPr/>
        </p:nvSpPr>
        <p:spPr>
          <a:xfrm>
            <a:off x="6502400" y="2463800"/>
            <a:ext cx="5080000" cy="381000"/>
          </a:xfrm>
          <a:prstGeom prst="rect">
            <a:avLst/>
          </a:prstGeom>
          <a:solidFill>
            <a:srgbClr val="243760"/>
          </a:solidFill>
          <a:ln>
            <a:noFill/>
          </a:ln>
        </p:spPr>
        <p:txBody>
          <a:bodyPr lIns="120000" anchor="ctr"/>
          <a:lstStyle/>
          <a:p>
            <a:pPr algn="l">
              <a:buNone/>
            </a:pPr>
            <a:r>
              <a:rPr lang="en-US" b="1">
                <a:solidFill>
                  <a:srgbClr val="C9A84C"/>
                </a:solidFill>
              </a:rPr>
              <a:t>Training: </a:t>
            </a:r>
            <a:r>
              <a:rPr lang="en-US">
                <a:solidFill>
                  <a:srgbClr val="D4DCF0"/>
                </a:solidFill>
              </a:rPr>
              <a:t>Zero - no gradient updates ever</a:t>
            </a:r>
          </a:p>
        </p:txBody>
      </p:sp>
      <p:sp>
        <p:nvSpPr>
          <p:cNvPr id="84" name="FMRow2"/>
          <p:cNvSpPr/>
          <p:nvPr/>
        </p:nvSpPr>
        <p:spPr>
          <a:xfrm>
            <a:off x="6502400" y="2844800"/>
            <a:ext cx="5080000" cy="381000"/>
          </a:xfrm>
          <a:prstGeom prst="rect">
            <a:avLst/>
          </a:prstGeom>
          <a:solidFill>
            <a:srgbClr val="1D2F50"/>
          </a:solidFill>
          <a:ln>
            <a:noFill/>
          </a:ln>
        </p:spPr>
        <p:txBody>
          <a:bodyPr lIns="120000" anchor="ctr"/>
          <a:lstStyle/>
          <a:p>
            <a:pPr algn="l">
              <a:buNone/>
            </a:pPr>
            <a:r>
              <a:rPr lang="en-US" b="1">
                <a:solidFill>
                  <a:srgbClr val="C9A84C"/>
                </a:solidFill>
              </a:rPr>
              <a:t>Knowledge: </a:t>
            </a:r>
            <a:r>
              <a:rPr lang="en-US">
                <a:solidFill>
                  <a:srgbClr val="D4DCF0"/>
                </a:solidFill>
              </a:rPr>
              <a:t>Retrieved live via RAG + vector DB</a:t>
            </a:r>
          </a:p>
        </p:txBody>
      </p:sp>
      <p:sp>
        <p:nvSpPr>
          <p:cNvPr id="86" name="FMRow3"/>
          <p:cNvSpPr/>
          <p:nvPr/>
        </p:nvSpPr>
        <p:spPr>
          <a:xfrm>
            <a:off x="6502400" y="3225800"/>
            <a:ext cx="5080000" cy="381000"/>
          </a:xfrm>
          <a:prstGeom prst="rect">
            <a:avLst/>
          </a:prstGeom>
          <a:solidFill>
            <a:srgbClr val="243760"/>
          </a:solidFill>
          <a:ln>
            <a:noFill/>
          </a:ln>
        </p:spPr>
        <p:txBody>
          <a:bodyPr lIns="120000" anchor="ctr"/>
          <a:lstStyle/>
          <a:p>
            <a:pPr algn="l">
              <a:buNone/>
            </a:pPr>
            <a:r>
              <a:rPr lang="en-US" b="1">
                <a:solidFill>
                  <a:srgbClr val="C9A84C"/>
                </a:solidFill>
              </a:rPr>
              <a:t>Updates: </a:t>
            </a:r>
            <a:r>
              <a:rPr lang="en-US">
                <a:solidFill>
                  <a:srgbClr val="D4DCF0"/>
                </a:solidFill>
              </a:rPr>
              <a:t>Swap the vector DB - minutes, not weeks</a:t>
            </a:r>
          </a:p>
        </p:txBody>
      </p:sp>
      <p:sp>
        <p:nvSpPr>
          <p:cNvPr id="88" name="FMRow4"/>
          <p:cNvSpPr/>
          <p:nvPr/>
        </p:nvSpPr>
        <p:spPr>
          <a:xfrm>
            <a:off x="6502400" y="3606800"/>
            <a:ext cx="5080000" cy="381000"/>
          </a:xfrm>
          <a:prstGeom prst="rect">
            <a:avLst/>
          </a:prstGeom>
          <a:solidFill>
            <a:srgbClr val="1D2F50"/>
          </a:solidFill>
          <a:ln>
            <a:noFill/>
          </a:ln>
        </p:spPr>
        <p:txBody>
          <a:bodyPr lIns="120000" anchor="ctr"/>
          <a:lstStyle/>
          <a:p>
            <a:pPr algn="l">
              <a:buNone/>
            </a:pPr>
            <a:r>
              <a:rPr lang="en-US" b="1">
                <a:solidFill>
                  <a:srgbClr val="C9A84C"/>
                </a:solidFill>
              </a:rPr>
              <a:t>Explainability: </a:t>
            </a:r>
            <a:r>
              <a:rPr lang="en-US">
                <a:solidFill>
                  <a:srgbClr val="D4DCF0"/>
                </a:solidFill>
              </a:rPr>
              <a:t>Full reasoning chain per decision</a:t>
            </a:r>
          </a:p>
        </p:txBody>
      </p:sp>
      <p:sp>
        <p:nvSpPr>
          <p:cNvPr id="90" name="FMRow5"/>
          <p:cNvSpPr/>
          <p:nvPr/>
        </p:nvSpPr>
        <p:spPr>
          <a:xfrm>
            <a:off x="6502400" y="3987800"/>
            <a:ext cx="5080000" cy="381000"/>
          </a:xfrm>
          <a:prstGeom prst="rect">
            <a:avLst/>
          </a:prstGeom>
          <a:solidFill>
            <a:srgbClr val="243760"/>
          </a:solidFill>
          <a:ln>
            <a:noFill/>
          </a:ln>
        </p:spPr>
        <p:txBody>
          <a:bodyPr lIns="120000" anchor="ctr"/>
          <a:lstStyle/>
          <a:p>
            <a:pPr algn="l">
              <a:buNone/>
            </a:pPr>
            <a:r>
              <a:rPr lang="en-US" b="1">
                <a:solidFill>
                  <a:srgbClr val="C9A84C"/>
                </a:solidFill>
              </a:rPr>
              <a:t>Cost/day: </a:t>
            </a:r>
            <a:r>
              <a:rPr lang="en-US">
                <a:solidFill>
                  <a:srgbClr val="D4DCF0"/>
                </a:solidFill>
              </a:rPr>
              <a:t>~$0.10–0.20 per stock (GPT-4 API)</a:t>
            </a:r>
          </a:p>
        </p:txBody>
      </p:sp>
      <p:sp>
        <p:nvSpPr>
          <p:cNvPr id="92" name="FMRow6"/>
          <p:cNvSpPr/>
          <p:nvPr/>
        </p:nvSpPr>
        <p:spPr>
          <a:xfrm>
            <a:off x="6502400" y="4368800"/>
            <a:ext cx="5080000" cy="381000"/>
          </a:xfrm>
          <a:prstGeom prst="rect">
            <a:avLst/>
          </a:prstGeom>
          <a:solidFill>
            <a:srgbClr val="1D2F50"/>
          </a:solidFill>
          <a:ln>
            <a:noFill/>
          </a:ln>
        </p:spPr>
        <p:txBody>
          <a:bodyPr lIns="120000" anchor="ctr"/>
          <a:lstStyle/>
          <a:p>
            <a:pPr algn="l">
              <a:buNone/>
            </a:pPr>
            <a:r>
              <a:rPr lang="en-US" b="1">
                <a:solidFill>
                  <a:srgbClr val="C9A84C"/>
                </a:solidFill>
              </a:rPr>
              <a:t>Sharpe (TSLA): </a:t>
            </a:r>
            <a:r>
              <a:rPr lang="en-US">
                <a:solidFill>
                  <a:srgbClr val="A0B4D6"/>
                </a:solidFill>
              </a:rPr>
              <a:t>2.67  (Note: suspiciously high)</a:t>
            </a:r>
          </a:p>
        </p:txBody>
      </p:sp>
      <p:sp>
        <p:nvSpPr>
          <p:cNvPr id="100" name="Callout"/>
          <p:cNvSpPr/>
          <p:nvPr/>
        </p:nvSpPr>
        <p:spPr>
          <a:xfrm>
            <a:off x="373791" y="5075121"/>
            <a:ext cx="11519588" cy="916876"/>
          </a:xfrm>
          <a:prstGeom prst="rect">
            <a:avLst/>
          </a:prstGeom>
          <a:solidFill>
            <a:srgbClr val="F0F2F7"/>
          </a:solidFill>
          <a:ln>
            <a:noFill/>
          </a:ln>
        </p:spPr>
        <p:txBody>
          <a:bodyPr lIns="240000" rIns="240000" anchor="ctr"/>
          <a:lstStyle/>
          <a:p>
            <a:pPr algn="l">
              <a:buNone/>
            </a:pPr>
            <a:r>
              <a:rPr lang="en-US" sz="2000" dirty="0" err="1">
                <a:solidFill>
                  <a:srgbClr val="2C3E50"/>
                </a:solidFill>
              </a:rPr>
              <a:t>FinGPT</a:t>
            </a:r>
            <a:r>
              <a:rPr lang="en-US" sz="2000" dirty="0">
                <a:solidFill>
                  <a:srgbClr val="2C3E50"/>
                </a:solidFill>
              </a:rPr>
              <a:t> encodes financial knowledge into weights - expensive to update, fast to run. </a:t>
            </a:r>
            <a:br>
              <a:rPr lang="en-US" sz="2000" dirty="0">
                <a:solidFill>
                  <a:srgbClr val="2C3E50"/>
                </a:solidFill>
              </a:rPr>
            </a:br>
            <a:r>
              <a:rPr lang="en-US" sz="2000" dirty="0" err="1">
                <a:solidFill>
                  <a:srgbClr val="2C3E50"/>
                </a:solidFill>
              </a:rPr>
              <a:t>FinMem</a:t>
            </a:r>
            <a:r>
              <a:rPr lang="en-US" sz="2000" dirty="0">
                <a:solidFill>
                  <a:srgbClr val="2C3E50"/>
                </a:solidFill>
              </a:rPr>
              <a:t> keeps the model generic and </a:t>
            </a:r>
            <a:r>
              <a:rPr lang="en-US" sz="2000" dirty="0" err="1">
                <a:solidFill>
                  <a:srgbClr val="2C3E50"/>
                </a:solidFill>
              </a:rPr>
              <a:t>externalises</a:t>
            </a:r>
            <a:r>
              <a:rPr lang="en-US" sz="2000" dirty="0">
                <a:solidFill>
                  <a:srgbClr val="2C3E50"/>
                </a:solidFill>
              </a:rPr>
              <a:t> knowledge into a memory store - free to update, but dependent on API pricing. </a:t>
            </a:r>
            <a:endParaRPr lang="en-US" sz="2000" b="1" dirty="0">
              <a:solidFill>
                <a:srgbClr val="B03020"/>
              </a:solidFill>
            </a:endParaRPr>
          </a:p>
        </p:txBody>
      </p:sp>
      <p:sp>
        <p:nvSpPr>
          <p:cNvPr id="101" name="CalloutAccent"/>
          <p:cNvSpPr/>
          <p:nvPr/>
        </p:nvSpPr>
        <p:spPr>
          <a:xfrm>
            <a:off x="373790" y="5075121"/>
            <a:ext cx="122539" cy="1524000"/>
          </a:xfrm>
          <a:prstGeom prst="rect">
            <a:avLst/>
          </a:prstGeom>
          <a:solidFill>
            <a:srgbClr val="1A2744"/>
          </a:solidFill>
          <a:ln>
            <a:noFill/>
          </a:ln>
        </p:spPr>
        <p:txBody>
          <a:bodyPr/>
          <a:lstStyle/>
          <a:p>
            <a:endParaRPr sz="2400"/>
          </a:p>
        </p:txBody>
      </p:sp>
    </p:spTree>
    <p:extLst>
      <p:ext uri="{BB962C8B-B14F-4D97-AF65-F5344CB8AC3E}">
        <p14:creationId xmlns:p14="http://schemas.microsoft.com/office/powerpoint/2010/main" val="1538105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4 - Critical Assessment</a:t>
            </a:r>
          </a:p>
        </p:txBody>
      </p:sp>
      <p:sp>
        <p:nvSpPr>
          <p:cNvPr id="11" name="Title"/>
          <p:cNvSpPr/>
          <p:nvPr/>
        </p:nvSpPr>
        <p:spPr>
          <a:xfrm>
            <a:off x="609600" y="381000"/>
            <a:ext cx="10972800" cy="635000"/>
          </a:xfrm>
          <a:prstGeom prst="rect">
            <a:avLst/>
          </a:prstGeom>
          <a:noFill/>
          <a:ln>
            <a:noFill/>
          </a:ln>
        </p:spPr>
        <p:txBody>
          <a:bodyPr lIns="0" anchor="ctr"/>
          <a:lstStyle/>
          <a:p>
            <a:pPr algn="l">
              <a:buNone/>
            </a:pPr>
            <a:r>
              <a:rPr lang="en-US" sz="4000" b="1">
                <a:solidFill>
                  <a:srgbClr val="1A2744"/>
                </a:solidFill>
              </a:rPr>
              <a:t>Sanity Check: Is a 2.67 Sharpe Plausible?</a:t>
            </a:r>
          </a:p>
        </p:txBody>
      </p:sp>
      <p:sp>
        <p:nvSpPr>
          <p:cNvPr id="20" name="LBL0"/>
          <p:cNvSpPr/>
          <p:nvPr/>
        </p:nvSpPr>
        <p:spPr>
          <a:xfrm>
            <a:off x="609600" y="1168400"/>
            <a:ext cx="2794000" cy="914400"/>
          </a:xfrm>
          <a:prstGeom prst="rect">
            <a:avLst/>
          </a:prstGeom>
          <a:noFill/>
          <a:ln>
            <a:noFill/>
          </a:ln>
        </p:spPr>
        <p:txBody>
          <a:bodyPr lIns="0" anchor="ctr"/>
          <a:lstStyle/>
          <a:p>
            <a:pPr algn="r">
              <a:buNone/>
            </a:pPr>
            <a:r>
              <a:rPr lang="en-US" sz="2000">
                <a:solidFill>
                  <a:srgbClr val="1A2744"/>
                </a:solidFill>
              </a:rPr>
              <a:t>Typical Mutual Fund</a:t>
            </a:r>
          </a:p>
        </p:txBody>
      </p:sp>
      <p:sp>
        <p:nvSpPr>
          <p:cNvPr id="30" name="BAR0"/>
          <p:cNvSpPr/>
          <p:nvPr/>
        </p:nvSpPr>
        <p:spPr>
          <a:xfrm>
            <a:off x="3505200" y="1422400"/>
            <a:ext cx="1473200" cy="406400"/>
          </a:xfrm>
          <a:prstGeom prst="rect">
            <a:avLst/>
          </a:prstGeom>
          <a:solidFill>
            <a:srgbClr val="1E5FA0"/>
          </a:solidFill>
          <a:ln>
            <a:noFill/>
          </a:ln>
        </p:spPr>
        <p:txBody>
          <a:bodyPr lIns="80000" anchor="ctr"/>
          <a:lstStyle/>
          <a:p>
            <a:pPr algn="r">
              <a:buNone/>
            </a:pPr>
            <a:r>
              <a:rPr lang="en-US" sz="2400" b="1">
                <a:solidFill>
                  <a:srgbClr val="FFFFFF"/>
                </a:solidFill>
              </a:rPr>
              <a:t>0.5</a:t>
            </a:r>
          </a:p>
        </p:txBody>
      </p:sp>
      <p:sp>
        <p:nvSpPr>
          <p:cNvPr id="21" name="LBL1"/>
          <p:cNvSpPr/>
          <p:nvPr/>
        </p:nvSpPr>
        <p:spPr>
          <a:xfrm>
            <a:off x="609600" y="2260600"/>
            <a:ext cx="2794000" cy="914400"/>
          </a:xfrm>
          <a:prstGeom prst="rect">
            <a:avLst/>
          </a:prstGeom>
          <a:noFill/>
          <a:ln>
            <a:noFill/>
          </a:ln>
        </p:spPr>
        <p:txBody>
          <a:bodyPr lIns="0" anchor="ctr"/>
          <a:lstStyle/>
          <a:p>
            <a:pPr algn="r">
              <a:buNone/>
            </a:pPr>
            <a:r>
              <a:rPr lang="en-US" sz="2000">
                <a:solidFill>
                  <a:srgbClr val="1A2744"/>
                </a:solidFill>
              </a:rPr>
              <a:t>Good Hedge Fund</a:t>
            </a:r>
          </a:p>
        </p:txBody>
      </p:sp>
      <p:sp>
        <p:nvSpPr>
          <p:cNvPr id="31" name="BAR1"/>
          <p:cNvSpPr/>
          <p:nvPr/>
        </p:nvSpPr>
        <p:spPr>
          <a:xfrm>
            <a:off x="3505200" y="2514600"/>
            <a:ext cx="3670300" cy="406400"/>
          </a:xfrm>
          <a:prstGeom prst="rect">
            <a:avLst/>
          </a:prstGeom>
          <a:solidFill>
            <a:srgbClr val="2E4272"/>
          </a:solidFill>
          <a:ln>
            <a:noFill/>
          </a:ln>
        </p:spPr>
        <p:txBody>
          <a:bodyPr lIns="80000" anchor="ctr"/>
          <a:lstStyle/>
          <a:p>
            <a:pPr algn="r">
              <a:buNone/>
            </a:pPr>
            <a:r>
              <a:rPr lang="en-US" sz="2400" b="1">
                <a:solidFill>
                  <a:srgbClr val="FFFFFF"/>
                </a:solidFill>
              </a:rPr>
              <a:t>1.0 – 1.5</a:t>
            </a:r>
          </a:p>
        </p:txBody>
      </p:sp>
      <p:sp>
        <p:nvSpPr>
          <p:cNvPr id="22" name="LBL2"/>
          <p:cNvSpPr/>
          <p:nvPr/>
        </p:nvSpPr>
        <p:spPr>
          <a:xfrm>
            <a:off x="609600" y="3352800"/>
            <a:ext cx="2794000" cy="914400"/>
          </a:xfrm>
          <a:prstGeom prst="rect">
            <a:avLst/>
          </a:prstGeom>
          <a:noFill/>
          <a:ln>
            <a:noFill/>
          </a:ln>
        </p:spPr>
        <p:txBody>
          <a:bodyPr lIns="0" anchor="ctr"/>
          <a:lstStyle/>
          <a:p>
            <a:pPr algn="r">
              <a:buNone/>
            </a:pPr>
            <a:r>
              <a:rPr lang="en-US" sz="2000">
                <a:solidFill>
                  <a:srgbClr val="1A2744"/>
                </a:solidFill>
              </a:rPr>
              <a:t>Best Hedge Fund</a:t>
            </a:r>
            <a:br>
              <a:rPr lang="en-US" sz="2000">
                <a:solidFill>
                  <a:srgbClr val="1A2744"/>
                </a:solidFill>
              </a:rPr>
            </a:br>
            <a:r>
              <a:rPr lang="en-US" sz="2000">
                <a:solidFill>
                  <a:srgbClr val="1A2744"/>
                </a:solidFill>
              </a:rPr>
              <a:t> (Arbitrage and Algo Trading)</a:t>
            </a:r>
          </a:p>
        </p:txBody>
      </p:sp>
      <p:sp>
        <p:nvSpPr>
          <p:cNvPr id="32" name="BAR2"/>
          <p:cNvSpPr/>
          <p:nvPr/>
        </p:nvSpPr>
        <p:spPr>
          <a:xfrm>
            <a:off x="3505200" y="3606800"/>
            <a:ext cx="5867400" cy="406400"/>
          </a:xfrm>
          <a:prstGeom prst="rect">
            <a:avLst/>
          </a:prstGeom>
          <a:solidFill>
            <a:srgbClr val="1A2744"/>
          </a:solidFill>
          <a:ln>
            <a:noFill/>
          </a:ln>
        </p:spPr>
        <p:txBody>
          <a:bodyPr lIns="80000" anchor="ctr"/>
          <a:lstStyle/>
          <a:p>
            <a:pPr algn="r">
              <a:buNone/>
            </a:pPr>
            <a:r>
              <a:rPr lang="en-US" sz="2400" b="1">
                <a:solidFill>
                  <a:srgbClr val="FFFFFF"/>
                </a:solidFill>
              </a:rPr>
              <a:t>~2.0</a:t>
            </a:r>
          </a:p>
        </p:txBody>
      </p:sp>
      <p:sp>
        <p:nvSpPr>
          <p:cNvPr id="23" name="LBL3"/>
          <p:cNvSpPr/>
          <p:nvPr/>
        </p:nvSpPr>
        <p:spPr>
          <a:xfrm>
            <a:off x="609600" y="4445000"/>
            <a:ext cx="2794000" cy="914400"/>
          </a:xfrm>
          <a:prstGeom prst="rect">
            <a:avLst/>
          </a:prstGeom>
          <a:noFill/>
          <a:ln>
            <a:noFill/>
          </a:ln>
        </p:spPr>
        <p:txBody>
          <a:bodyPr lIns="0" anchor="ctr"/>
          <a:lstStyle/>
          <a:p>
            <a:pPr algn="r">
              <a:buNone/>
            </a:pPr>
            <a:r>
              <a:rPr lang="en-US" sz="2400" b="1" err="1">
                <a:solidFill>
                  <a:srgbClr val="B03020"/>
                </a:solidFill>
              </a:rPr>
              <a:t>FinMem</a:t>
            </a:r>
            <a:r>
              <a:rPr lang="en-US" sz="2400" b="1">
                <a:solidFill>
                  <a:srgbClr val="B03020"/>
                </a:solidFill>
              </a:rPr>
              <a:t> on TSLA</a:t>
            </a:r>
          </a:p>
        </p:txBody>
      </p:sp>
      <p:sp>
        <p:nvSpPr>
          <p:cNvPr id="33" name="BAR3"/>
          <p:cNvSpPr/>
          <p:nvPr/>
        </p:nvSpPr>
        <p:spPr>
          <a:xfrm>
            <a:off x="3505200" y="4699000"/>
            <a:ext cx="7835900" cy="406400"/>
          </a:xfrm>
          <a:prstGeom prst="rect">
            <a:avLst/>
          </a:prstGeom>
          <a:solidFill>
            <a:srgbClr val="B03020"/>
          </a:solidFill>
          <a:ln>
            <a:noFill/>
          </a:ln>
        </p:spPr>
        <p:txBody>
          <a:bodyPr lIns="80000" anchor="ctr"/>
          <a:lstStyle/>
          <a:p>
            <a:pPr algn="r">
              <a:buNone/>
            </a:pPr>
            <a:r>
              <a:rPr lang="en-US" sz="2400" b="1">
                <a:solidFill>
                  <a:srgbClr val="FFFFFF"/>
                </a:solidFill>
              </a:rPr>
              <a:t>2.67 ← ??</a:t>
            </a:r>
          </a:p>
        </p:txBody>
      </p:sp>
      <p:sp>
        <p:nvSpPr>
          <p:cNvPr id="60" name="Tagline"/>
          <p:cNvSpPr/>
          <p:nvPr/>
        </p:nvSpPr>
        <p:spPr>
          <a:xfrm>
            <a:off x="609600" y="5791200"/>
            <a:ext cx="10972800" cy="762000"/>
          </a:xfrm>
          <a:prstGeom prst="rect">
            <a:avLst/>
          </a:prstGeom>
          <a:solidFill>
            <a:srgbClr val="1A2744"/>
          </a:solidFill>
          <a:ln>
            <a:noFill/>
          </a:ln>
        </p:spPr>
        <p:txBody>
          <a:bodyPr lIns="280000" anchor="ctr"/>
          <a:lstStyle/>
          <a:p>
            <a:pPr algn="ctr">
              <a:buNone/>
            </a:pPr>
            <a:r>
              <a:rPr lang="en-US" sz="2400">
                <a:solidFill>
                  <a:srgbClr val="C9A84C"/>
                </a:solidFill>
              </a:rPr>
              <a:t>When a </a:t>
            </a:r>
            <a:r>
              <a:rPr lang="en-US" sz="2400" err="1">
                <a:solidFill>
                  <a:srgbClr val="C9A84C"/>
                </a:solidFill>
              </a:rPr>
              <a:t>backtest</a:t>
            </a:r>
            <a:r>
              <a:rPr lang="en-US" sz="2400">
                <a:solidFill>
                  <a:srgbClr val="C9A84C"/>
                </a:solidFill>
              </a:rPr>
              <a:t> beats the most successful hedge fund in history, </a:t>
            </a:r>
            <a:br>
              <a:rPr lang="en-US" sz="2400">
                <a:solidFill>
                  <a:srgbClr val="C9A84C"/>
                </a:solidFill>
              </a:rPr>
            </a:br>
            <a:r>
              <a:rPr lang="en-US" sz="2400">
                <a:solidFill>
                  <a:srgbClr val="C9A84C"/>
                </a:solidFill>
              </a:rPr>
              <a:t>we need to look under the hood. </a:t>
            </a:r>
          </a:p>
        </p:txBody>
      </p:sp>
    </p:spTree>
    <p:extLst>
      <p:ext uri="{BB962C8B-B14F-4D97-AF65-F5344CB8AC3E}">
        <p14:creationId xmlns:p14="http://schemas.microsoft.com/office/powerpoint/2010/main" val="782189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4 - Critical Assessment</a:t>
            </a:r>
          </a:p>
        </p:txBody>
      </p:sp>
      <p:sp>
        <p:nvSpPr>
          <p:cNvPr id="11" name="Title"/>
          <p:cNvSpPr/>
          <p:nvPr/>
        </p:nvSpPr>
        <p:spPr>
          <a:xfrm>
            <a:off x="609600" y="381000"/>
            <a:ext cx="10972800" cy="698500"/>
          </a:xfrm>
          <a:prstGeom prst="rect">
            <a:avLst/>
          </a:prstGeom>
          <a:noFill/>
          <a:ln>
            <a:noFill/>
          </a:ln>
        </p:spPr>
        <p:txBody>
          <a:bodyPr lIns="0" anchor="ctr"/>
          <a:lstStyle/>
          <a:p>
            <a:pPr algn="l">
              <a:buNone/>
            </a:pPr>
            <a:r>
              <a:rPr lang="en-US" sz="4000" b="1">
                <a:solidFill>
                  <a:srgbClr val="B03020"/>
                </a:solidFill>
              </a:rPr>
              <a:t>Crime #1: Pre-training Leakage (Lookahead Bias)</a:t>
            </a:r>
          </a:p>
        </p:txBody>
      </p:sp>
      <p:sp>
        <p:nvSpPr>
          <p:cNvPr id="20" name="TLBg"/>
          <p:cNvSpPr/>
          <p:nvPr/>
        </p:nvSpPr>
        <p:spPr>
          <a:xfrm>
            <a:off x="609600" y="1270000"/>
            <a:ext cx="10972800" cy="152400"/>
          </a:xfrm>
          <a:prstGeom prst="rect">
            <a:avLst/>
          </a:prstGeom>
          <a:solidFill>
            <a:srgbClr val="D0D5E0"/>
          </a:solidFill>
          <a:ln>
            <a:noFill/>
          </a:ln>
        </p:spPr>
        <p:txBody>
          <a:bodyPr/>
          <a:lstStyle/>
          <a:p>
            <a:endParaRPr sz="2400"/>
          </a:p>
        </p:txBody>
      </p:sp>
      <p:sp>
        <p:nvSpPr>
          <p:cNvPr id="21" name="TrainReg"/>
          <p:cNvSpPr/>
          <p:nvPr/>
        </p:nvSpPr>
        <p:spPr>
          <a:xfrm>
            <a:off x="609600" y="1219200"/>
            <a:ext cx="7900416" cy="254000"/>
          </a:xfrm>
          <a:prstGeom prst="rect">
            <a:avLst/>
          </a:prstGeom>
          <a:solidFill>
            <a:srgbClr val="2E4272"/>
          </a:solidFill>
          <a:ln>
            <a:noFill/>
          </a:ln>
        </p:spPr>
        <p:txBody>
          <a:bodyPr/>
          <a:lstStyle/>
          <a:p>
            <a:endParaRPr lang="en-US" sz="2400"/>
          </a:p>
        </p:txBody>
      </p:sp>
      <p:sp>
        <p:nvSpPr>
          <p:cNvPr id="22" name="TestWin"/>
          <p:cNvSpPr/>
          <p:nvPr/>
        </p:nvSpPr>
        <p:spPr>
          <a:xfrm>
            <a:off x="2255520" y="1193800"/>
            <a:ext cx="5705856" cy="304800"/>
          </a:xfrm>
          <a:prstGeom prst="rect">
            <a:avLst/>
          </a:prstGeom>
          <a:solidFill>
            <a:srgbClr val="B03020"/>
          </a:solidFill>
          <a:ln>
            <a:noFill/>
          </a:ln>
        </p:spPr>
        <p:txBody>
          <a:bodyPr/>
          <a:lstStyle/>
          <a:p>
            <a:endParaRPr lang="en-US" sz="2400"/>
          </a:p>
        </p:txBody>
      </p:sp>
      <p:sp>
        <p:nvSpPr>
          <p:cNvPr id="23" name="TL1"/>
          <p:cNvSpPr/>
          <p:nvPr/>
        </p:nvSpPr>
        <p:spPr>
          <a:xfrm>
            <a:off x="609600" y="1447800"/>
            <a:ext cx="1738184" cy="381000"/>
          </a:xfrm>
          <a:prstGeom prst="rect">
            <a:avLst/>
          </a:prstGeom>
          <a:noFill/>
          <a:ln>
            <a:noFill/>
          </a:ln>
        </p:spPr>
        <p:txBody>
          <a:bodyPr lIns="0" anchor="t"/>
          <a:lstStyle/>
          <a:p>
            <a:pPr algn="l">
              <a:buNone/>
            </a:pPr>
            <a:r>
              <a:rPr lang="en-US" sz="1600">
                <a:solidFill>
                  <a:srgbClr val="2E4272"/>
                </a:solidFill>
              </a:rPr>
              <a:t>GPT-4 training data</a:t>
            </a:r>
          </a:p>
        </p:txBody>
      </p:sp>
      <p:sp>
        <p:nvSpPr>
          <p:cNvPr id="24" name="TL2"/>
          <p:cNvSpPr/>
          <p:nvPr/>
        </p:nvSpPr>
        <p:spPr>
          <a:xfrm>
            <a:off x="2255520" y="1447800"/>
            <a:ext cx="2286000" cy="381000"/>
          </a:xfrm>
          <a:prstGeom prst="rect">
            <a:avLst/>
          </a:prstGeom>
          <a:noFill/>
          <a:ln>
            <a:noFill/>
          </a:ln>
        </p:spPr>
        <p:txBody>
          <a:bodyPr lIns="0" anchor="t"/>
          <a:lstStyle/>
          <a:p>
            <a:pPr algn="l">
              <a:buNone/>
            </a:pPr>
            <a:r>
              <a:rPr lang="en-US" sz="1600" b="1">
                <a:solidFill>
                  <a:srgbClr val="B03020"/>
                </a:solidFill>
              </a:rPr>
              <a:t>Test window</a:t>
            </a:r>
          </a:p>
        </p:txBody>
      </p:sp>
      <p:sp>
        <p:nvSpPr>
          <p:cNvPr id="25" name="TL3"/>
          <p:cNvSpPr/>
          <p:nvPr/>
        </p:nvSpPr>
        <p:spPr>
          <a:xfrm>
            <a:off x="7961376" y="1447800"/>
            <a:ext cx="2540000" cy="381000"/>
          </a:xfrm>
          <a:prstGeom prst="rect">
            <a:avLst/>
          </a:prstGeom>
          <a:noFill/>
          <a:ln>
            <a:noFill/>
          </a:ln>
        </p:spPr>
        <p:txBody>
          <a:bodyPr lIns="0" anchor="t"/>
          <a:lstStyle/>
          <a:p>
            <a:pPr algn="l">
              <a:buNone/>
            </a:pPr>
            <a:r>
              <a:rPr lang="en-US" sz="1600" b="1">
                <a:solidFill>
                  <a:srgbClr val="1A2744"/>
                </a:solidFill>
              </a:rPr>
              <a:t>Apr 2023 cutoff</a:t>
            </a:r>
          </a:p>
        </p:txBody>
      </p:sp>
      <p:sp>
        <p:nvSpPr>
          <p:cNvPr id="30" name="Bullets"/>
          <p:cNvSpPr/>
          <p:nvPr/>
        </p:nvSpPr>
        <p:spPr>
          <a:xfrm>
            <a:off x="609600" y="1929028"/>
            <a:ext cx="10972800" cy="3556000"/>
          </a:xfrm>
          <a:prstGeom prst="rect">
            <a:avLst/>
          </a:prstGeom>
          <a:solidFill>
            <a:srgbClr val="F0F2F7"/>
          </a:solidFill>
          <a:ln>
            <a:noFill/>
          </a:ln>
        </p:spPr>
        <p:txBody>
          <a:bodyPr lIns="220000" tIns="180000" anchor="t"/>
          <a:lstStyle/>
          <a:p>
            <a:pPr marL="228600" indent="-228600" algn="l">
              <a:lnSpc>
                <a:spcPct val="200000"/>
              </a:lnSpc>
              <a:buFont typeface="Arial"/>
              <a:buChar char="•"/>
            </a:pPr>
            <a:r>
              <a:rPr lang="en-US" sz="2000" dirty="0">
                <a:solidFill>
                  <a:srgbClr val="2C3E50"/>
                </a:solidFill>
              </a:rPr>
              <a:t>Test period: Jun 2022 - Apr 2023</a:t>
            </a:r>
          </a:p>
          <a:p>
            <a:pPr marL="228600" indent="-228600" algn="l">
              <a:lnSpc>
                <a:spcPct val="200000"/>
              </a:lnSpc>
              <a:buFont typeface="Arial"/>
              <a:buChar char="•"/>
            </a:pPr>
            <a:r>
              <a:rPr lang="en-US" sz="2000" dirty="0">
                <a:solidFill>
                  <a:srgbClr val="2C3E50"/>
                </a:solidFill>
              </a:rPr>
              <a:t>GPT-4-Turbo training cutoff: late 2023</a:t>
            </a:r>
          </a:p>
          <a:p>
            <a:pPr marL="228600" indent="-228600" algn="l">
              <a:lnSpc>
                <a:spcPct val="200000"/>
              </a:lnSpc>
              <a:buFont typeface="Arial"/>
              <a:buChar char="•"/>
            </a:pPr>
            <a:r>
              <a:rPr lang="en-US" sz="2000" b="1" dirty="0">
                <a:solidFill>
                  <a:srgbClr val="B03020"/>
                </a:solidFill>
              </a:rPr>
              <a:t>Entire test window sits inside the model's training data</a:t>
            </a:r>
          </a:p>
          <a:p>
            <a:pPr marL="228600" indent="-228600" algn="l">
              <a:lnSpc>
                <a:spcPct val="200000"/>
              </a:lnSpc>
              <a:buFont typeface="Arial"/>
              <a:buChar char="•"/>
            </a:pPr>
            <a:r>
              <a:rPr lang="en-US" sz="2000" dirty="0">
                <a:solidFill>
                  <a:srgbClr val="2C3E50"/>
                </a:solidFill>
              </a:rPr>
              <a:t>GPT-4 has read about Tesla's 2022 crash. It already knows the answer.</a:t>
            </a:r>
          </a:p>
          <a:p>
            <a:pPr marL="228600" indent="-228600" algn="l">
              <a:lnSpc>
                <a:spcPct val="200000"/>
              </a:lnSpc>
              <a:buFont typeface="Arial"/>
              <a:buChar char="•"/>
            </a:pPr>
            <a:r>
              <a:rPr lang="en-US" sz="2000" dirty="0">
                <a:solidFill>
                  <a:srgbClr val="2C3E50"/>
                </a:solidFill>
              </a:rPr>
              <a:t>No out-of-sample test after model knowledge cutoff exists in the paper.</a:t>
            </a:r>
          </a:p>
        </p:txBody>
      </p:sp>
      <p:sp>
        <p:nvSpPr>
          <p:cNvPr id="50" name="Verdict"/>
          <p:cNvSpPr/>
          <p:nvPr/>
        </p:nvSpPr>
        <p:spPr>
          <a:xfrm>
            <a:off x="609600" y="5686856"/>
            <a:ext cx="10972800" cy="787400"/>
          </a:xfrm>
          <a:prstGeom prst="rect">
            <a:avLst/>
          </a:prstGeom>
          <a:solidFill>
            <a:srgbClr val="B03020"/>
          </a:solidFill>
          <a:ln>
            <a:noFill/>
          </a:ln>
        </p:spPr>
        <p:txBody>
          <a:bodyPr lIns="280000" anchor="ctr"/>
          <a:lstStyle/>
          <a:p>
            <a:pPr algn="ctr">
              <a:buNone/>
            </a:pPr>
            <a:r>
              <a:rPr lang="en-US" sz="2400" b="1">
                <a:solidFill>
                  <a:srgbClr val="FFFFFF"/>
                </a:solidFill>
              </a:rPr>
              <a:t>The model isn't predicting Tesla's 2022 crash - it’s probably remembering it.</a:t>
            </a:r>
          </a:p>
        </p:txBody>
      </p:sp>
    </p:spTree>
    <p:extLst>
      <p:ext uri="{BB962C8B-B14F-4D97-AF65-F5344CB8AC3E}">
        <p14:creationId xmlns:p14="http://schemas.microsoft.com/office/powerpoint/2010/main" val="4202649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4 - Critical Assessment</a:t>
            </a:r>
          </a:p>
        </p:txBody>
      </p:sp>
      <p:sp>
        <p:nvSpPr>
          <p:cNvPr id="11" name="Title"/>
          <p:cNvSpPr/>
          <p:nvPr/>
        </p:nvSpPr>
        <p:spPr>
          <a:xfrm>
            <a:off x="609600" y="381000"/>
            <a:ext cx="10972800" cy="698500"/>
          </a:xfrm>
          <a:prstGeom prst="rect">
            <a:avLst/>
          </a:prstGeom>
          <a:noFill/>
          <a:ln>
            <a:noFill/>
          </a:ln>
        </p:spPr>
        <p:txBody>
          <a:bodyPr lIns="0" anchor="ctr"/>
          <a:lstStyle/>
          <a:p>
            <a:pPr algn="l">
              <a:buNone/>
            </a:pPr>
            <a:r>
              <a:rPr lang="en-US" sz="4000" b="1">
                <a:solidFill>
                  <a:srgbClr val="B03020"/>
                </a:solidFill>
              </a:rPr>
              <a:t>Crime #2: The Zero-Friction Illusion</a:t>
            </a:r>
          </a:p>
        </p:txBody>
      </p:sp>
      <p:sp>
        <p:nvSpPr>
          <p:cNvPr id="20" name="Code"/>
          <p:cNvSpPr/>
          <p:nvPr/>
        </p:nvSpPr>
        <p:spPr>
          <a:xfrm>
            <a:off x="609600" y="1168400"/>
            <a:ext cx="6731000" cy="2743200"/>
          </a:xfrm>
          <a:prstGeom prst="rect">
            <a:avLst/>
          </a:prstGeom>
          <a:solidFill>
            <a:srgbClr val="1A2744"/>
          </a:solidFill>
          <a:ln>
            <a:noFill/>
          </a:ln>
        </p:spPr>
        <p:txBody>
          <a:bodyPr lIns="200000" tIns="140000" anchor="t"/>
          <a:lstStyle/>
          <a:p>
            <a:pPr algn="l">
              <a:buNone/>
            </a:pPr>
            <a:r>
              <a:rPr lang="en-US" sz="1600">
                <a:solidFill>
                  <a:srgbClr val="A0B4D6"/>
                </a:solidFill>
              </a:rPr>
              <a:t># data-pipeline/07-metrics.py</a:t>
            </a:r>
          </a:p>
          <a:p>
            <a:pPr algn="l">
              <a:buNone/>
            </a:pPr>
            <a:r>
              <a:rPr lang="en-US" sz="1600">
                <a:solidFill>
                  <a:srgbClr val="A0B4D6"/>
                </a:solidFill>
              </a:rPr>
              <a:t>def daily_reward(price, actions):</a:t>
            </a:r>
          </a:p>
          <a:p>
            <a:pPr algn="l">
              <a:buNone/>
            </a:pPr>
            <a:r>
              <a:rPr lang="en-US" sz="1600">
                <a:solidFill>
                  <a:srgbClr val="A0B4D6"/>
                </a:solidFill>
              </a:rPr>
              <a:t>    reward = []</a:t>
            </a:r>
          </a:p>
          <a:p>
            <a:pPr algn="l">
              <a:buNone/>
            </a:pPr>
            <a:r>
              <a:rPr lang="en-US" sz="1600">
                <a:solidFill>
                  <a:srgbClr val="A0B4D6"/>
                </a:solidFill>
              </a:rPr>
              <a:t>    for i in range(len(price)-1):</a:t>
            </a:r>
          </a:p>
          <a:p>
            <a:pPr algn="l">
              <a:buNone/>
            </a:pPr>
            <a:r>
              <a:rPr lang="en-US" sz="1600" b="1">
                <a:solidFill>
                  <a:srgbClr val="C9A84C"/>
                </a:solidFill>
              </a:rPr>
              <a:t>        r = actions[i] * np.log(price[i+1]/price[i])</a:t>
            </a:r>
          </a:p>
          <a:p>
            <a:pPr algn="l">
              <a:buNone/>
            </a:pPr>
            <a:r>
              <a:rPr lang="en-US" sz="1600">
                <a:solidFill>
                  <a:srgbClr val="A0B4D6"/>
                </a:solidFill>
              </a:rPr>
              <a:t>        reward.append(r)</a:t>
            </a:r>
          </a:p>
          <a:p>
            <a:pPr algn="l">
              <a:buNone/>
            </a:pPr>
            <a:r>
              <a:rPr lang="en-US" sz="1600">
                <a:solidFill>
                  <a:srgbClr val="A0B4D6"/>
                </a:solidFill>
              </a:rPr>
              <a:t>    return reward</a:t>
            </a:r>
          </a:p>
        </p:txBody>
      </p:sp>
      <p:sp>
        <p:nvSpPr>
          <p:cNvPr id="21" name="CodeCaption"/>
          <p:cNvSpPr/>
          <p:nvPr/>
        </p:nvSpPr>
        <p:spPr>
          <a:xfrm>
            <a:off x="609600" y="3987800"/>
            <a:ext cx="6731000" cy="355600"/>
          </a:xfrm>
          <a:prstGeom prst="rect">
            <a:avLst/>
          </a:prstGeom>
          <a:noFill/>
          <a:ln>
            <a:noFill/>
          </a:ln>
        </p:spPr>
        <p:txBody>
          <a:bodyPr lIns="0" anchor="ctr"/>
          <a:lstStyle/>
          <a:p>
            <a:pPr algn="l">
              <a:buNone/>
            </a:pPr>
            <a:r>
              <a:rPr lang="en-US" i="1">
                <a:solidFill>
                  <a:srgbClr val="8090A8"/>
                </a:solidFill>
              </a:rPr>
              <a:t>Actual reward function — from authors' GitHub</a:t>
            </a:r>
          </a:p>
        </p:txBody>
      </p:sp>
      <p:sp>
        <p:nvSpPr>
          <p:cNvPr id="30" name="Missing"/>
          <p:cNvSpPr/>
          <p:nvPr/>
        </p:nvSpPr>
        <p:spPr>
          <a:xfrm>
            <a:off x="7543800" y="1168400"/>
            <a:ext cx="4038600" cy="2743200"/>
          </a:xfrm>
          <a:prstGeom prst="rect">
            <a:avLst/>
          </a:prstGeom>
          <a:solidFill>
            <a:srgbClr val="FFF0EE"/>
          </a:solidFill>
          <a:ln>
            <a:noFill/>
          </a:ln>
        </p:spPr>
        <p:txBody>
          <a:bodyPr lIns="180000" tIns="140000" anchor="t"/>
          <a:lstStyle/>
          <a:p>
            <a:pPr algn="l">
              <a:buNone/>
            </a:pPr>
            <a:r>
              <a:rPr lang="en-US" sz="2000" b="1">
                <a:solidFill>
                  <a:srgbClr val="B03020"/>
                </a:solidFill>
              </a:rPr>
              <a:t>What is missing?</a:t>
            </a:r>
          </a:p>
          <a:p>
            <a:pPr marL="228600" indent="-228600" algn="l">
              <a:buChar char="✗"/>
            </a:pPr>
            <a:r>
              <a:rPr lang="en-US" sz="2000">
                <a:solidFill>
                  <a:srgbClr val="2C3E50"/>
                </a:solidFill>
              </a:rPr>
              <a:t>Commission</a:t>
            </a:r>
          </a:p>
          <a:p>
            <a:pPr marL="228600" indent="-228600" algn="l">
              <a:buChar char="✗"/>
            </a:pPr>
            <a:r>
              <a:rPr lang="en-US" sz="2000">
                <a:solidFill>
                  <a:srgbClr val="2C3E50"/>
                </a:solidFill>
              </a:rPr>
              <a:t>Bid-ask spread</a:t>
            </a:r>
          </a:p>
          <a:p>
            <a:pPr marL="228600" indent="-228600" algn="l">
              <a:buChar char="✗"/>
            </a:pPr>
            <a:r>
              <a:rPr lang="en-US" sz="2000">
                <a:solidFill>
                  <a:srgbClr val="2C3E50"/>
                </a:solidFill>
              </a:rPr>
              <a:t>Slippage</a:t>
            </a:r>
          </a:p>
          <a:p>
            <a:pPr marL="228600" indent="-228600" algn="l">
              <a:buChar char="✗"/>
            </a:pPr>
            <a:r>
              <a:rPr lang="en-US" sz="2000">
                <a:solidFill>
                  <a:srgbClr val="2C3E50"/>
                </a:solidFill>
              </a:rPr>
              <a:t>Short borrow cost</a:t>
            </a:r>
          </a:p>
        </p:txBody>
      </p:sp>
      <p:sp>
        <p:nvSpPr>
          <p:cNvPr id="40" name="Impact"/>
          <p:cNvSpPr/>
          <p:nvPr/>
        </p:nvSpPr>
        <p:spPr>
          <a:xfrm>
            <a:off x="609600" y="4495800"/>
            <a:ext cx="10972800" cy="1143000"/>
          </a:xfrm>
          <a:prstGeom prst="rect">
            <a:avLst/>
          </a:prstGeom>
          <a:solidFill>
            <a:srgbClr val="F0F2F7"/>
          </a:solidFill>
          <a:ln>
            <a:noFill/>
          </a:ln>
        </p:spPr>
        <p:txBody>
          <a:bodyPr lIns="240000" anchor="ctr"/>
          <a:lstStyle/>
          <a:p>
            <a:pPr algn="l">
              <a:buNone/>
            </a:pPr>
            <a:r>
              <a:rPr lang="en-US" sz="2000" b="1">
                <a:solidFill>
                  <a:srgbClr val="1A2744"/>
                </a:solidFill>
              </a:rPr>
              <a:t>Impact: </a:t>
            </a:r>
            <a:r>
              <a:rPr lang="en-US" sz="2000">
                <a:solidFill>
                  <a:srgbClr val="2C3E50"/>
                </a:solidFill>
              </a:rPr>
              <a:t>High daily turnover exponentially compounds transaction costs. Factoring in realistic execution friction (especially for volatile assets like TSLA) heavily erodes cumulative returns, dragging the Sharpe ratio down to standard market levels, or in high-turnover cases, into net-negative territory.</a:t>
            </a:r>
          </a:p>
        </p:txBody>
      </p:sp>
      <p:sp>
        <p:nvSpPr>
          <p:cNvPr id="50" name="Verdict"/>
          <p:cNvSpPr/>
          <p:nvPr/>
        </p:nvSpPr>
        <p:spPr>
          <a:xfrm>
            <a:off x="609600" y="5840628"/>
            <a:ext cx="10972800" cy="762000"/>
          </a:xfrm>
          <a:prstGeom prst="rect">
            <a:avLst/>
          </a:prstGeom>
          <a:solidFill>
            <a:srgbClr val="B03020"/>
          </a:solidFill>
          <a:ln>
            <a:noFill/>
          </a:ln>
        </p:spPr>
        <p:txBody>
          <a:bodyPr lIns="280000" anchor="ctr"/>
          <a:lstStyle/>
          <a:p>
            <a:pPr algn="ctr">
              <a:buNone/>
            </a:pPr>
            <a:r>
              <a:rPr lang="en-US" sz="2400" b="1">
                <a:solidFill>
                  <a:srgbClr val="FFFFFF"/>
                </a:solidFill>
              </a:rPr>
              <a:t>Profitable on paper. Would likely bleed money in a live account.</a:t>
            </a:r>
          </a:p>
        </p:txBody>
      </p:sp>
    </p:spTree>
    <p:extLst>
      <p:ext uri="{BB962C8B-B14F-4D97-AF65-F5344CB8AC3E}">
        <p14:creationId xmlns:p14="http://schemas.microsoft.com/office/powerpoint/2010/main" val="2109753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4 - Critical Assessment</a:t>
            </a:r>
          </a:p>
        </p:txBody>
      </p:sp>
      <p:sp>
        <p:nvSpPr>
          <p:cNvPr id="11" name="Title"/>
          <p:cNvSpPr/>
          <p:nvPr/>
        </p:nvSpPr>
        <p:spPr>
          <a:xfrm>
            <a:off x="609600" y="381000"/>
            <a:ext cx="10972800" cy="698500"/>
          </a:xfrm>
          <a:prstGeom prst="rect">
            <a:avLst/>
          </a:prstGeom>
          <a:noFill/>
          <a:ln>
            <a:noFill/>
          </a:ln>
        </p:spPr>
        <p:txBody>
          <a:bodyPr lIns="0" anchor="ctr"/>
          <a:lstStyle/>
          <a:p>
            <a:pPr algn="l">
              <a:buNone/>
            </a:pPr>
            <a:r>
              <a:rPr lang="en-US" sz="4000" b="1" dirty="0">
                <a:solidFill>
                  <a:srgbClr val="B03020"/>
                </a:solidFill>
              </a:rPr>
              <a:t>Crime #3: Test-Set Cherry-Picking</a:t>
            </a:r>
          </a:p>
        </p:txBody>
      </p:sp>
      <p:sp>
        <p:nvSpPr>
          <p:cNvPr id="20" name="Quote"/>
          <p:cNvSpPr/>
          <p:nvPr/>
        </p:nvSpPr>
        <p:spPr>
          <a:xfrm>
            <a:off x="609600" y="1193800"/>
            <a:ext cx="10972800" cy="1270000"/>
          </a:xfrm>
          <a:prstGeom prst="rect">
            <a:avLst/>
          </a:prstGeom>
          <a:solidFill>
            <a:srgbClr val="FFF8E8"/>
          </a:solidFill>
          <a:ln>
            <a:noFill/>
          </a:ln>
        </p:spPr>
        <p:txBody>
          <a:bodyPr lIns="250000" anchor="ctr"/>
          <a:lstStyle/>
          <a:p>
            <a:pPr algn="l">
              <a:buNone/>
            </a:pPr>
            <a:r>
              <a:rPr lang="en-US" sz="2000" i="1">
                <a:solidFill>
                  <a:srgbClr val="2C3E50"/>
                </a:solidFill>
              </a:rPr>
              <a:t>"The reported performance outcomes are based on the setting that achieved the highest cumulative return during the </a:t>
            </a:r>
            <a:r>
              <a:rPr lang="en-US" sz="2000" b="1" i="1">
                <a:solidFill>
                  <a:srgbClr val="B03020"/>
                </a:solidFill>
              </a:rPr>
              <a:t>testing phase</a:t>
            </a:r>
            <a:r>
              <a:rPr lang="en-US" sz="2000" i="1">
                <a:solidFill>
                  <a:srgbClr val="2C3E50"/>
                </a:solidFill>
              </a:rPr>
              <a:t>."</a:t>
            </a:r>
          </a:p>
          <a:p>
            <a:pPr algn="r">
              <a:buNone/>
            </a:pPr>
            <a:r>
              <a:rPr lang="en-US" err="1">
                <a:solidFill>
                  <a:srgbClr val="8090A8"/>
                </a:solidFill>
              </a:rPr>
              <a:t>FinMem</a:t>
            </a:r>
            <a:r>
              <a:rPr lang="en-US">
                <a:solidFill>
                  <a:srgbClr val="8090A8"/>
                </a:solidFill>
              </a:rPr>
              <a:t> Paper, Section 5.1 (direct quote)</a:t>
            </a:r>
          </a:p>
        </p:txBody>
      </p:sp>
      <p:sp>
        <p:nvSpPr>
          <p:cNvPr id="30" name="Card0"/>
          <p:cNvSpPr/>
          <p:nvPr/>
        </p:nvSpPr>
        <p:spPr>
          <a:xfrm>
            <a:off x="609600" y="2641600"/>
            <a:ext cx="3517900" cy="1651000"/>
          </a:xfrm>
          <a:prstGeom prst="rect">
            <a:avLst/>
          </a:prstGeom>
          <a:solidFill>
            <a:srgbClr val="1A2744"/>
          </a:solidFill>
          <a:ln>
            <a:noFill/>
          </a:ln>
        </p:spPr>
        <p:txBody>
          <a:bodyPr lIns="150000" tIns="120000" anchor="t"/>
          <a:lstStyle/>
          <a:p>
            <a:pPr algn="l">
              <a:buNone/>
            </a:pPr>
            <a:r>
              <a:rPr lang="en-US" sz="2000" b="1">
                <a:solidFill>
                  <a:srgbClr val="C9A84C"/>
                </a:solidFill>
              </a:rPr>
              <a:t>Self-Adaptive Persona</a:t>
            </a:r>
          </a:p>
          <a:p>
            <a:pPr algn="l">
              <a:buNone/>
            </a:pPr>
            <a:r>
              <a:rPr lang="en-US">
                <a:solidFill>
                  <a:srgbClr val="D4DCF0"/>
                </a:solidFill>
              </a:rPr>
              <a:t>Winner chosen by looking at test results</a:t>
            </a:r>
          </a:p>
        </p:txBody>
      </p:sp>
      <p:sp>
        <p:nvSpPr>
          <p:cNvPr id="31" name="Card1"/>
          <p:cNvSpPr/>
          <p:nvPr/>
        </p:nvSpPr>
        <p:spPr>
          <a:xfrm>
            <a:off x="4330700" y="2641600"/>
            <a:ext cx="3517900" cy="1651000"/>
          </a:xfrm>
          <a:prstGeom prst="rect">
            <a:avLst/>
          </a:prstGeom>
          <a:solidFill>
            <a:srgbClr val="1A2744"/>
          </a:solidFill>
          <a:ln>
            <a:noFill/>
          </a:ln>
        </p:spPr>
        <p:txBody>
          <a:bodyPr lIns="150000" tIns="120000" anchor="t"/>
          <a:lstStyle/>
          <a:p>
            <a:pPr algn="l">
              <a:buNone/>
            </a:pPr>
            <a:r>
              <a:rPr lang="en-US" sz="2000" b="1">
                <a:solidFill>
                  <a:srgbClr val="C9A84C"/>
                </a:solidFill>
              </a:rPr>
              <a:t>K = 5 (Top-K retrieval)</a:t>
            </a:r>
          </a:p>
          <a:p>
            <a:pPr algn="l">
              <a:buNone/>
            </a:pPr>
            <a:r>
              <a:rPr lang="en-US">
                <a:solidFill>
                  <a:srgbClr val="D4DCF0"/>
                </a:solidFill>
              </a:rPr>
              <a:t>Optimal K chosen on test set</a:t>
            </a:r>
          </a:p>
        </p:txBody>
      </p:sp>
      <p:sp>
        <p:nvSpPr>
          <p:cNvPr id="32" name="Card2"/>
          <p:cNvSpPr/>
          <p:nvPr/>
        </p:nvSpPr>
        <p:spPr>
          <a:xfrm>
            <a:off x="8051800" y="2641600"/>
            <a:ext cx="3517900" cy="1651000"/>
          </a:xfrm>
          <a:prstGeom prst="rect">
            <a:avLst/>
          </a:prstGeom>
          <a:solidFill>
            <a:srgbClr val="1A2744"/>
          </a:solidFill>
          <a:ln>
            <a:noFill/>
          </a:ln>
        </p:spPr>
        <p:txBody>
          <a:bodyPr lIns="150000" tIns="120000" anchor="t"/>
          <a:lstStyle/>
          <a:p>
            <a:pPr algn="l">
              <a:buNone/>
            </a:pPr>
            <a:r>
              <a:rPr lang="en-US" sz="2000" b="1">
                <a:solidFill>
                  <a:srgbClr val="C9A84C"/>
                </a:solidFill>
              </a:rPr>
              <a:t>Decay parameters Q</a:t>
            </a:r>
          </a:p>
          <a:p>
            <a:pPr algn="l">
              <a:buNone/>
            </a:pPr>
            <a:r>
              <a:rPr lang="en-US">
                <a:solidFill>
                  <a:srgbClr val="D4DCF0"/>
                </a:solidFill>
              </a:rPr>
              <a:t>Per-layer decay rates tuned on test set</a:t>
            </a:r>
          </a:p>
        </p:txBody>
      </p:sp>
      <p:sp>
        <p:nvSpPr>
          <p:cNvPr id="50" name="Implication"/>
          <p:cNvSpPr/>
          <p:nvPr/>
        </p:nvSpPr>
        <p:spPr>
          <a:xfrm>
            <a:off x="609600" y="4470400"/>
            <a:ext cx="10972800" cy="1143000"/>
          </a:xfrm>
          <a:prstGeom prst="rect">
            <a:avLst/>
          </a:prstGeom>
          <a:solidFill>
            <a:srgbClr val="F0F2F7"/>
          </a:solidFill>
          <a:ln>
            <a:noFill/>
          </a:ln>
        </p:spPr>
        <p:txBody>
          <a:bodyPr lIns="240000" anchor="ctr"/>
          <a:lstStyle/>
          <a:p>
            <a:pPr algn="l">
              <a:buNone/>
            </a:pPr>
            <a:r>
              <a:rPr lang="en-US" sz="2000" b="1">
                <a:solidFill>
                  <a:srgbClr val="1A2744"/>
                </a:solidFill>
              </a:rPr>
              <a:t>What this means: </a:t>
            </a:r>
            <a:r>
              <a:rPr lang="en-US" sz="2000">
                <a:solidFill>
                  <a:srgbClr val="2C3E50"/>
                </a:solidFill>
              </a:rPr>
              <a:t>All three hyperparameters were selected after seeing test results. That's measuring your own ability to dial a number until the test goes up - not generalization.</a:t>
            </a:r>
          </a:p>
        </p:txBody>
      </p:sp>
      <p:sp>
        <p:nvSpPr>
          <p:cNvPr id="60" name="Verdict"/>
          <p:cNvSpPr/>
          <p:nvPr/>
        </p:nvSpPr>
        <p:spPr>
          <a:xfrm>
            <a:off x="609600" y="5802871"/>
            <a:ext cx="10972800" cy="787400"/>
          </a:xfrm>
          <a:prstGeom prst="rect">
            <a:avLst/>
          </a:prstGeom>
          <a:solidFill>
            <a:srgbClr val="B03020"/>
          </a:solidFill>
          <a:ln>
            <a:noFill/>
          </a:ln>
        </p:spPr>
        <p:txBody>
          <a:bodyPr lIns="280000" anchor="ctr"/>
          <a:lstStyle/>
          <a:p>
            <a:pPr algn="ctr">
              <a:buNone/>
            </a:pPr>
            <a:r>
              <a:rPr lang="en-US" sz="2000" b="1">
                <a:solidFill>
                  <a:srgbClr val="FFFFFF"/>
                </a:solidFill>
              </a:rPr>
              <a:t>Three crimes stacked: model knows the answer + zero friction + hyperparameters cherry-picked. </a:t>
            </a:r>
          </a:p>
        </p:txBody>
      </p:sp>
    </p:spTree>
    <p:extLst>
      <p:ext uri="{BB962C8B-B14F-4D97-AF65-F5344CB8AC3E}">
        <p14:creationId xmlns:p14="http://schemas.microsoft.com/office/powerpoint/2010/main" val="194931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4 - Finance Relevance</a:t>
            </a:r>
          </a:p>
        </p:txBody>
      </p:sp>
      <p:sp>
        <p:nvSpPr>
          <p:cNvPr id="11" name="Title"/>
          <p:cNvSpPr/>
          <p:nvPr/>
        </p:nvSpPr>
        <p:spPr>
          <a:xfrm>
            <a:off x="609600" y="381000"/>
            <a:ext cx="10972800" cy="698500"/>
          </a:xfrm>
          <a:prstGeom prst="rect">
            <a:avLst/>
          </a:prstGeom>
          <a:noFill/>
          <a:ln>
            <a:noFill/>
          </a:ln>
        </p:spPr>
        <p:txBody>
          <a:bodyPr lIns="0" anchor="ctr"/>
          <a:lstStyle/>
          <a:p>
            <a:pPr algn="l">
              <a:buNone/>
            </a:pPr>
            <a:r>
              <a:rPr lang="en-US" sz="4000" b="1">
                <a:solidFill>
                  <a:srgbClr val="1A2744"/>
                </a:solidFill>
              </a:rPr>
              <a:t>What Still Matters for Finance</a:t>
            </a:r>
          </a:p>
        </p:txBody>
      </p:sp>
      <p:sp>
        <p:nvSpPr>
          <p:cNvPr id="20" name="LH"/>
          <p:cNvSpPr/>
          <p:nvPr/>
        </p:nvSpPr>
        <p:spPr>
          <a:xfrm>
            <a:off x="609600" y="1193800"/>
            <a:ext cx="5283200" cy="533400"/>
          </a:xfrm>
          <a:prstGeom prst="rect">
            <a:avLst/>
          </a:prstGeom>
          <a:solidFill>
            <a:srgbClr val="B03020"/>
          </a:solidFill>
          <a:ln>
            <a:noFill/>
          </a:ln>
        </p:spPr>
        <p:txBody>
          <a:bodyPr lIns="160000" anchor="ctr"/>
          <a:lstStyle/>
          <a:p>
            <a:pPr algn="ctr">
              <a:buNone/>
            </a:pPr>
            <a:r>
              <a:rPr lang="en-US" sz="2400" b="1">
                <a:solidFill>
                  <a:srgbClr val="FFFFFF"/>
                </a:solidFill>
              </a:rPr>
              <a:t>Numbers are dubious</a:t>
            </a:r>
          </a:p>
        </p:txBody>
      </p:sp>
      <p:sp>
        <p:nvSpPr>
          <p:cNvPr id="21" name="RH"/>
          <p:cNvSpPr/>
          <p:nvPr/>
        </p:nvSpPr>
        <p:spPr>
          <a:xfrm>
            <a:off x="6299199" y="1193800"/>
            <a:ext cx="5464431" cy="533400"/>
          </a:xfrm>
          <a:prstGeom prst="rect">
            <a:avLst/>
          </a:prstGeom>
          <a:solidFill>
            <a:srgbClr val="1A7A4A"/>
          </a:solidFill>
          <a:ln>
            <a:noFill/>
          </a:ln>
        </p:spPr>
        <p:txBody>
          <a:bodyPr lIns="160000" anchor="ctr"/>
          <a:lstStyle/>
          <a:p>
            <a:pPr algn="ctr">
              <a:buNone/>
            </a:pPr>
            <a:r>
              <a:rPr lang="en-US" sz="2400" b="1">
                <a:solidFill>
                  <a:srgbClr val="FFFFFF"/>
                </a:solidFill>
              </a:rPr>
              <a:t>Architecture has potential</a:t>
            </a:r>
          </a:p>
        </p:txBody>
      </p:sp>
      <p:sp>
        <p:nvSpPr>
          <p:cNvPr id="22" name="LBody"/>
          <p:cNvSpPr/>
          <p:nvPr/>
        </p:nvSpPr>
        <p:spPr>
          <a:xfrm>
            <a:off x="609600" y="1828800"/>
            <a:ext cx="5283200" cy="3683000"/>
          </a:xfrm>
          <a:prstGeom prst="rect">
            <a:avLst/>
          </a:prstGeom>
          <a:solidFill>
            <a:srgbClr val="F0F2F7"/>
          </a:solidFill>
          <a:ln>
            <a:noFill/>
          </a:ln>
        </p:spPr>
        <p:txBody>
          <a:bodyPr lIns="200000" tIns="180000" anchor="t"/>
          <a:lstStyle/>
          <a:p>
            <a:pPr marL="228600" indent="-228600" algn="l">
              <a:lnSpc>
                <a:spcPct val="150000"/>
              </a:lnSpc>
              <a:buFont typeface="Arial"/>
              <a:buChar char="•"/>
            </a:pPr>
            <a:r>
              <a:rPr lang="en-US" sz="2000">
                <a:solidFill>
                  <a:srgbClr val="2C3E50"/>
                </a:solidFill>
              </a:rPr>
              <a:t>Sharpe 2.67 won't replicate</a:t>
            </a:r>
          </a:p>
          <a:p>
            <a:pPr marL="228600" indent="-228600" algn="l">
              <a:lnSpc>
                <a:spcPct val="150000"/>
              </a:lnSpc>
              <a:buFont typeface="Arial"/>
              <a:buChar char="•"/>
            </a:pPr>
            <a:r>
              <a:rPr lang="en-US" sz="2000">
                <a:solidFill>
                  <a:srgbClr val="2C3E50"/>
                </a:solidFill>
              </a:rPr>
              <a:t>Cherry-picked hyperparameters</a:t>
            </a:r>
          </a:p>
          <a:p>
            <a:pPr marL="228600" indent="-228600" algn="l">
              <a:lnSpc>
                <a:spcPct val="150000"/>
              </a:lnSpc>
              <a:buFont typeface="Arial"/>
              <a:buChar char="•"/>
            </a:pPr>
            <a:r>
              <a:rPr lang="en-US" sz="2000">
                <a:solidFill>
                  <a:srgbClr val="2C3E50"/>
                </a:solidFill>
              </a:rPr>
              <a:t>Zero-friction </a:t>
            </a:r>
            <a:r>
              <a:rPr lang="en-US" sz="2000" err="1">
                <a:solidFill>
                  <a:srgbClr val="2C3E50"/>
                </a:solidFill>
              </a:rPr>
              <a:t>backtest</a:t>
            </a:r>
            <a:endParaRPr lang="en-US" sz="2000">
              <a:solidFill>
                <a:srgbClr val="2C3E50"/>
              </a:solidFill>
            </a:endParaRPr>
          </a:p>
          <a:p>
            <a:pPr marL="228600" indent="-228600" algn="l">
              <a:lnSpc>
                <a:spcPct val="150000"/>
              </a:lnSpc>
              <a:buFont typeface="Arial"/>
              <a:buChar char="•"/>
            </a:pPr>
            <a:r>
              <a:rPr lang="en-US" sz="2000">
                <a:solidFill>
                  <a:srgbClr val="2C3E50"/>
                </a:solidFill>
              </a:rPr>
              <a:t>Pre-training leakage</a:t>
            </a:r>
          </a:p>
          <a:p>
            <a:pPr marL="228600" indent="-228600" algn="l">
              <a:lnSpc>
                <a:spcPct val="150000"/>
              </a:lnSpc>
              <a:buFont typeface="Arial"/>
              <a:buChar char="•"/>
            </a:pPr>
            <a:r>
              <a:rPr lang="en-US" sz="2000">
                <a:solidFill>
                  <a:srgbClr val="2C3E50"/>
                </a:solidFill>
              </a:rPr>
              <a:t>Only POC</a:t>
            </a:r>
          </a:p>
        </p:txBody>
      </p:sp>
      <p:sp>
        <p:nvSpPr>
          <p:cNvPr id="23" name="RBody"/>
          <p:cNvSpPr/>
          <p:nvPr/>
        </p:nvSpPr>
        <p:spPr>
          <a:xfrm>
            <a:off x="6299200" y="1828800"/>
            <a:ext cx="5464432" cy="3683000"/>
          </a:xfrm>
          <a:prstGeom prst="rect">
            <a:avLst/>
          </a:prstGeom>
          <a:solidFill>
            <a:srgbClr val="F0F8F5"/>
          </a:solidFill>
          <a:ln>
            <a:noFill/>
          </a:ln>
        </p:spPr>
        <p:txBody>
          <a:bodyPr lIns="200000" tIns="180000" anchor="t"/>
          <a:lstStyle/>
          <a:p>
            <a:pPr marL="228600" indent="-228600" algn="l">
              <a:lnSpc>
                <a:spcPct val="150000"/>
              </a:lnSpc>
              <a:buFont typeface="Arial"/>
              <a:buChar char="•"/>
            </a:pPr>
            <a:r>
              <a:rPr lang="en-US" sz="2000">
                <a:solidFill>
                  <a:srgbClr val="2C3E50"/>
                </a:solidFill>
              </a:rPr>
              <a:t>RAG beats fine-tuning for fast-moving domains</a:t>
            </a:r>
          </a:p>
          <a:p>
            <a:pPr marL="228600" indent="-228600" algn="l">
              <a:lnSpc>
                <a:spcPct val="150000"/>
              </a:lnSpc>
              <a:buFont typeface="Arial"/>
              <a:buChar char="•"/>
            </a:pPr>
            <a:r>
              <a:rPr lang="en-US" sz="2000">
                <a:solidFill>
                  <a:srgbClr val="2C3E50"/>
                </a:solidFill>
              </a:rPr>
              <a:t>Frozen base model + custom memory = actual deployment pattern</a:t>
            </a:r>
          </a:p>
          <a:p>
            <a:pPr marL="228600" indent="-228600" algn="l">
              <a:lnSpc>
                <a:spcPct val="150000"/>
              </a:lnSpc>
              <a:buFont typeface="Arial"/>
              <a:buChar char="•"/>
            </a:pPr>
            <a:r>
              <a:rPr lang="en-US" sz="2000">
                <a:solidFill>
                  <a:srgbClr val="2C3E50"/>
                </a:solidFill>
              </a:rPr>
              <a:t>Reasoning chains for compliance / audit / regulator review</a:t>
            </a:r>
          </a:p>
          <a:p>
            <a:pPr marL="228600" indent="-228600" algn="l">
              <a:lnSpc>
                <a:spcPct val="150000"/>
              </a:lnSpc>
              <a:buFont typeface="Arial"/>
              <a:buChar char="•"/>
            </a:pPr>
            <a:r>
              <a:rPr lang="en-US" sz="2000">
                <a:solidFill>
                  <a:srgbClr val="2C3E50"/>
                </a:solidFill>
              </a:rPr>
              <a:t>Scaffolding is the competitive advantage, not necessarily the model size</a:t>
            </a:r>
          </a:p>
        </p:txBody>
      </p:sp>
      <p:sp>
        <p:nvSpPr>
          <p:cNvPr id="30" name="Bottom"/>
          <p:cNvSpPr/>
          <p:nvPr/>
        </p:nvSpPr>
        <p:spPr>
          <a:xfrm>
            <a:off x="609600" y="5664200"/>
            <a:ext cx="11154030" cy="889000"/>
          </a:xfrm>
          <a:prstGeom prst="rect">
            <a:avLst/>
          </a:prstGeom>
          <a:solidFill>
            <a:srgbClr val="1A2744"/>
          </a:solidFill>
          <a:ln>
            <a:noFill/>
          </a:ln>
        </p:spPr>
        <p:txBody>
          <a:bodyPr lIns="280000" anchor="ctr"/>
          <a:lstStyle/>
          <a:p>
            <a:pPr algn="ctr">
              <a:buNone/>
            </a:pPr>
            <a:r>
              <a:rPr lang="en-US" sz="2000">
                <a:solidFill>
                  <a:srgbClr val="D4DCF0"/>
                </a:solidFill>
              </a:rPr>
              <a:t>The workspace around the model is where finance value gets created.</a:t>
            </a:r>
          </a:p>
        </p:txBody>
      </p:sp>
    </p:spTree>
    <p:extLst>
      <p:ext uri="{BB962C8B-B14F-4D97-AF65-F5344CB8AC3E}">
        <p14:creationId xmlns:p14="http://schemas.microsoft.com/office/powerpoint/2010/main" val="3703514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abel"/>
          <p:cNvSpPr/>
          <p:nvPr/>
        </p:nvSpPr>
        <p:spPr>
          <a:xfrm>
            <a:off x="609600" y="101600"/>
            <a:ext cx="10972800" cy="279400"/>
          </a:xfrm>
          <a:prstGeom prst="rect">
            <a:avLst/>
          </a:prstGeom>
          <a:noFill/>
          <a:ln>
            <a:noFill/>
          </a:ln>
        </p:spPr>
        <p:txBody>
          <a:bodyPr lIns="0" anchor="ctr"/>
          <a:lstStyle/>
          <a:p>
            <a:pPr algn="l">
              <a:buNone/>
            </a:pPr>
            <a:r>
              <a:rPr lang="en-US" sz="1600">
                <a:solidFill>
                  <a:srgbClr val="C9A84C"/>
                </a:solidFill>
              </a:rPr>
              <a:t>PART 4 - Finance Relevance</a:t>
            </a:r>
          </a:p>
        </p:txBody>
      </p:sp>
      <p:sp>
        <p:nvSpPr>
          <p:cNvPr id="11" name="Title"/>
          <p:cNvSpPr/>
          <p:nvPr/>
        </p:nvSpPr>
        <p:spPr>
          <a:xfrm>
            <a:off x="609600" y="381000"/>
            <a:ext cx="10972800" cy="698500"/>
          </a:xfrm>
          <a:prstGeom prst="rect">
            <a:avLst/>
          </a:prstGeom>
          <a:noFill/>
          <a:ln>
            <a:noFill/>
          </a:ln>
        </p:spPr>
        <p:txBody>
          <a:bodyPr lIns="0" anchor="ctr"/>
          <a:lstStyle/>
          <a:p>
            <a:pPr algn="l">
              <a:buNone/>
            </a:pPr>
            <a:r>
              <a:rPr lang="en-US" sz="4000" b="1">
                <a:solidFill>
                  <a:srgbClr val="1A2744"/>
                </a:solidFill>
              </a:rPr>
              <a:t>Where This Goes Next: Multi-Agent Systems</a:t>
            </a:r>
          </a:p>
        </p:txBody>
      </p:sp>
      <p:sp>
        <p:nvSpPr>
          <p:cNvPr id="20" name="Agent0"/>
          <p:cNvSpPr/>
          <p:nvPr/>
        </p:nvSpPr>
        <p:spPr>
          <a:xfrm>
            <a:off x="499075" y="1488990"/>
            <a:ext cx="2159000" cy="1651000"/>
          </a:xfrm>
          <a:prstGeom prst="rect">
            <a:avLst/>
          </a:prstGeom>
          <a:solidFill>
            <a:srgbClr val="3B82C4"/>
          </a:solidFill>
          <a:ln>
            <a:noFill/>
          </a:ln>
        </p:spPr>
        <p:txBody>
          <a:bodyPr lIns="120000" tIns="100000" anchor="t"/>
          <a:lstStyle/>
          <a:p>
            <a:pPr algn="ctr">
              <a:buNone/>
            </a:pPr>
            <a:r>
              <a:rPr lang="en-US" sz="2000" b="1">
                <a:solidFill>
                  <a:srgbClr val="FFFFFF"/>
                </a:solidFill>
              </a:rPr>
              <a:t>News Reader</a:t>
            </a:r>
          </a:p>
          <a:p>
            <a:pPr algn="ctr">
              <a:buNone/>
            </a:pPr>
            <a:r>
              <a:rPr lang="en-US" sz="1600" i="1">
                <a:solidFill>
                  <a:srgbClr val="A0B4D6"/>
                </a:solidFill>
              </a:rPr>
              <a:t>Shallow memory</a:t>
            </a:r>
          </a:p>
        </p:txBody>
      </p:sp>
      <p:sp>
        <p:nvSpPr>
          <p:cNvPr id="40" name="Arrow0"/>
          <p:cNvSpPr/>
          <p:nvPr/>
        </p:nvSpPr>
        <p:spPr>
          <a:xfrm>
            <a:off x="2683475" y="2225590"/>
            <a:ext cx="101600" cy="203200"/>
          </a:xfrm>
          <a:prstGeom prst="rect">
            <a:avLst/>
          </a:prstGeom>
          <a:noFill/>
          <a:ln>
            <a:noFill/>
          </a:ln>
        </p:spPr>
        <p:txBody>
          <a:bodyPr lIns="0" anchor="ctr"/>
          <a:lstStyle/>
          <a:p>
            <a:pPr algn="ctr">
              <a:buNone/>
            </a:pPr>
            <a:r>
              <a:rPr lang="en-US" sz="2000">
                <a:solidFill>
                  <a:srgbClr val="C9A84C"/>
                </a:solidFill>
              </a:rPr>
              <a:t>→</a:t>
            </a:r>
          </a:p>
        </p:txBody>
      </p:sp>
      <p:sp>
        <p:nvSpPr>
          <p:cNvPr id="21" name="Agent1"/>
          <p:cNvSpPr/>
          <p:nvPr/>
        </p:nvSpPr>
        <p:spPr>
          <a:xfrm>
            <a:off x="2810475" y="1488990"/>
            <a:ext cx="2159000" cy="1651000"/>
          </a:xfrm>
          <a:prstGeom prst="rect">
            <a:avLst/>
          </a:prstGeom>
          <a:solidFill>
            <a:srgbClr val="2E4272"/>
          </a:solidFill>
          <a:ln>
            <a:noFill/>
          </a:ln>
        </p:spPr>
        <p:txBody>
          <a:bodyPr lIns="120000" tIns="100000" anchor="t"/>
          <a:lstStyle/>
          <a:p>
            <a:pPr algn="ctr">
              <a:buNone/>
            </a:pPr>
            <a:r>
              <a:rPr lang="en-US" sz="2000" b="1">
                <a:solidFill>
                  <a:srgbClr val="FFFFFF"/>
                </a:solidFill>
              </a:rPr>
              <a:t>Fundamental
Analyst</a:t>
            </a:r>
          </a:p>
          <a:p>
            <a:pPr algn="ctr">
              <a:buNone/>
            </a:pPr>
            <a:r>
              <a:rPr lang="en-US" sz="1600" i="1">
                <a:solidFill>
                  <a:srgbClr val="A0B4D6"/>
                </a:solidFill>
              </a:rPr>
              <a:t>Deep memory
(reads 10-Ks </a:t>
            </a:r>
            <a:r>
              <a:rPr lang="en-US" sz="1600" i="1" err="1">
                <a:solidFill>
                  <a:srgbClr val="A0B4D6"/>
                </a:solidFill>
              </a:rPr>
              <a:t>etc</a:t>
            </a:r>
            <a:r>
              <a:rPr lang="en-US" sz="1600" i="1">
                <a:solidFill>
                  <a:srgbClr val="A0B4D6"/>
                </a:solidFill>
              </a:rPr>
              <a:t>)</a:t>
            </a:r>
          </a:p>
        </p:txBody>
      </p:sp>
      <p:sp>
        <p:nvSpPr>
          <p:cNvPr id="41" name="Arrow1"/>
          <p:cNvSpPr/>
          <p:nvPr/>
        </p:nvSpPr>
        <p:spPr>
          <a:xfrm>
            <a:off x="4994875" y="2225590"/>
            <a:ext cx="101600" cy="203200"/>
          </a:xfrm>
          <a:prstGeom prst="rect">
            <a:avLst/>
          </a:prstGeom>
          <a:noFill/>
          <a:ln>
            <a:noFill/>
          </a:ln>
        </p:spPr>
        <p:txBody>
          <a:bodyPr lIns="0" anchor="ctr"/>
          <a:lstStyle/>
          <a:p>
            <a:pPr algn="ctr">
              <a:buNone/>
            </a:pPr>
            <a:r>
              <a:rPr lang="en-US" sz="2000">
                <a:solidFill>
                  <a:srgbClr val="C9A84C"/>
                </a:solidFill>
              </a:rPr>
              <a:t>→</a:t>
            </a:r>
          </a:p>
        </p:txBody>
      </p:sp>
      <p:sp>
        <p:nvSpPr>
          <p:cNvPr id="22" name="Agent2"/>
          <p:cNvSpPr/>
          <p:nvPr/>
        </p:nvSpPr>
        <p:spPr>
          <a:xfrm>
            <a:off x="5121875" y="1488990"/>
            <a:ext cx="2159000" cy="1651000"/>
          </a:xfrm>
          <a:prstGeom prst="rect">
            <a:avLst/>
          </a:prstGeom>
          <a:solidFill>
            <a:srgbClr val="1A2744"/>
          </a:solidFill>
          <a:ln>
            <a:noFill/>
          </a:ln>
        </p:spPr>
        <p:txBody>
          <a:bodyPr lIns="120000" tIns="100000" anchor="t"/>
          <a:lstStyle/>
          <a:p>
            <a:pPr algn="ctr">
              <a:buNone/>
            </a:pPr>
            <a:r>
              <a:rPr lang="en-US" sz="2000" b="1">
                <a:solidFill>
                  <a:srgbClr val="FFFFFF"/>
                </a:solidFill>
              </a:rPr>
              <a:t>Quant Signals</a:t>
            </a:r>
          </a:p>
          <a:p>
            <a:pPr algn="ctr">
              <a:buNone/>
            </a:pPr>
            <a:r>
              <a:rPr lang="en-US" sz="1600" i="1">
                <a:solidFill>
                  <a:srgbClr val="A0B4D6"/>
                </a:solidFill>
              </a:rPr>
              <a:t>Numerical pipeline</a:t>
            </a:r>
          </a:p>
        </p:txBody>
      </p:sp>
      <p:sp>
        <p:nvSpPr>
          <p:cNvPr id="42" name="Arrow2"/>
          <p:cNvSpPr/>
          <p:nvPr/>
        </p:nvSpPr>
        <p:spPr>
          <a:xfrm>
            <a:off x="7306275" y="2225590"/>
            <a:ext cx="101600" cy="203200"/>
          </a:xfrm>
          <a:prstGeom prst="rect">
            <a:avLst/>
          </a:prstGeom>
          <a:noFill/>
          <a:ln>
            <a:noFill/>
          </a:ln>
        </p:spPr>
        <p:txBody>
          <a:bodyPr lIns="0" anchor="ctr"/>
          <a:lstStyle/>
          <a:p>
            <a:pPr algn="ctr">
              <a:buNone/>
            </a:pPr>
            <a:r>
              <a:rPr lang="en-US" sz="2000">
                <a:solidFill>
                  <a:srgbClr val="C9A84C"/>
                </a:solidFill>
              </a:rPr>
              <a:t>→</a:t>
            </a:r>
          </a:p>
        </p:txBody>
      </p:sp>
      <p:sp>
        <p:nvSpPr>
          <p:cNvPr id="23" name="Agent3"/>
          <p:cNvSpPr/>
          <p:nvPr/>
        </p:nvSpPr>
        <p:spPr>
          <a:xfrm>
            <a:off x="7433275" y="1488990"/>
            <a:ext cx="2159000" cy="1651000"/>
          </a:xfrm>
          <a:prstGeom prst="rect">
            <a:avLst/>
          </a:prstGeom>
          <a:solidFill>
            <a:srgbClr val="A08030"/>
          </a:solidFill>
          <a:ln>
            <a:noFill/>
          </a:ln>
        </p:spPr>
        <p:txBody>
          <a:bodyPr lIns="120000" tIns="100000" anchor="t"/>
          <a:lstStyle/>
          <a:p>
            <a:pPr algn="ctr">
              <a:buNone/>
            </a:pPr>
            <a:r>
              <a:rPr lang="en-US" sz="2000" b="1">
                <a:solidFill>
                  <a:srgbClr val="FFFFFF"/>
                </a:solidFill>
              </a:rPr>
              <a:t>Risk Officer</a:t>
            </a:r>
          </a:p>
          <a:p>
            <a:pPr algn="ctr">
              <a:buNone/>
            </a:pPr>
            <a:r>
              <a:rPr lang="en-US" sz="1600" i="1">
                <a:solidFill>
                  <a:srgbClr val="A0B4D6"/>
                </a:solidFill>
              </a:rPr>
              <a:t>Portfolio constraints</a:t>
            </a:r>
          </a:p>
        </p:txBody>
      </p:sp>
      <p:sp>
        <p:nvSpPr>
          <p:cNvPr id="30" name="SharedMem"/>
          <p:cNvSpPr/>
          <p:nvPr/>
        </p:nvSpPr>
        <p:spPr>
          <a:xfrm>
            <a:off x="499075" y="3317790"/>
            <a:ext cx="11440984" cy="508000"/>
          </a:xfrm>
          <a:prstGeom prst="rect">
            <a:avLst/>
          </a:prstGeom>
          <a:solidFill>
            <a:srgbClr val="C9A84C"/>
          </a:solidFill>
          <a:ln>
            <a:noFill/>
          </a:ln>
        </p:spPr>
        <p:txBody>
          <a:bodyPr lIns="0" anchor="ctr"/>
          <a:lstStyle/>
          <a:p>
            <a:pPr algn="ctr">
              <a:buNone/>
            </a:pPr>
            <a:r>
              <a:rPr lang="en-US" sz="2000" b="1">
                <a:solidFill>
                  <a:srgbClr val="1A2744"/>
                </a:solidFill>
              </a:rPr>
              <a:t>Shared Memory Layer</a:t>
            </a:r>
          </a:p>
        </p:txBody>
      </p:sp>
      <p:sp>
        <p:nvSpPr>
          <p:cNvPr id="50" name="Line0"/>
          <p:cNvSpPr/>
          <p:nvPr/>
        </p:nvSpPr>
        <p:spPr>
          <a:xfrm>
            <a:off x="1578575" y="3114590"/>
            <a:ext cx="50800" cy="203200"/>
          </a:xfrm>
          <a:prstGeom prst="rect">
            <a:avLst/>
          </a:prstGeom>
          <a:solidFill>
            <a:srgbClr val="C9A84C"/>
          </a:solidFill>
          <a:ln>
            <a:noFill/>
          </a:ln>
        </p:spPr>
        <p:txBody>
          <a:bodyPr/>
          <a:lstStyle/>
          <a:p>
            <a:endParaRPr sz="2400"/>
          </a:p>
        </p:txBody>
      </p:sp>
      <p:sp>
        <p:nvSpPr>
          <p:cNvPr id="51" name="Line1"/>
          <p:cNvSpPr/>
          <p:nvPr/>
        </p:nvSpPr>
        <p:spPr>
          <a:xfrm>
            <a:off x="3889975" y="3114590"/>
            <a:ext cx="50800" cy="203200"/>
          </a:xfrm>
          <a:prstGeom prst="rect">
            <a:avLst/>
          </a:prstGeom>
          <a:solidFill>
            <a:srgbClr val="C9A84C"/>
          </a:solidFill>
          <a:ln>
            <a:noFill/>
          </a:ln>
        </p:spPr>
        <p:txBody>
          <a:bodyPr/>
          <a:lstStyle/>
          <a:p>
            <a:endParaRPr sz="2400"/>
          </a:p>
        </p:txBody>
      </p:sp>
      <p:sp>
        <p:nvSpPr>
          <p:cNvPr id="52" name="Line2"/>
          <p:cNvSpPr/>
          <p:nvPr/>
        </p:nvSpPr>
        <p:spPr>
          <a:xfrm>
            <a:off x="6201375" y="3114590"/>
            <a:ext cx="50800" cy="203200"/>
          </a:xfrm>
          <a:prstGeom prst="rect">
            <a:avLst/>
          </a:prstGeom>
          <a:solidFill>
            <a:srgbClr val="C9A84C"/>
          </a:solidFill>
          <a:ln>
            <a:noFill/>
          </a:ln>
        </p:spPr>
        <p:txBody>
          <a:bodyPr/>
          <a:lstStyle/>
          <a:p>
            <a:endParaRPr sz="2400"/>
          </a:p>
        </p:txBody>
      </p:sp>
      <p:sp>
        <p:nvSpPr>
          <p:cNvPr id="53" name="Line3"/>
          <p:cNvSpPr/>
          <p:nvPr/>
        </p:nvSpPr>
        <p:spPr>
          <a:xfrm>
            <a:off x="8512775" y="3114590"/>
            <a:ext cx="50800" cy="203200"/>
          </a:xfrm>
          <a:prstGeom prst="rect">
            <a:avLst/>
          </a:prstGeom>
          <a:solidFill>
            <a:srgbClr val="C9A84C"/>
          </a:solidFill>
          <a:ln>
            <a:noFill/>
          </a:ln>
        </p:spPr>
        <p:txBody>
          <a:bodyPr/>
          <a:lstStyle/>
          <a:p>
            <a:endParaRPr sz="2400"/>
          </a:p>
        </p:txBody>
      </p:sp>
      <p:sp>
        <p:nvSpPr>
          <p:cNvPr id="60" name="Result"/>
          <p:cNvSpPr/>
          <p:nvPr/>
        </p:nvSpPr>
        <p:spPr>
          <a:xfrm>
            <a:off x="3712175" y="4054390"/>
            <a:ext cx="5080000" cy="635000"/>
          </a:xfrm>
          <a:prstGeom prst="rect">
            <a:avLst/>
          </a:prstGeom>
          <a:solidFill>
            <a:srgbClr val="1A2744"/>
          </a:solidFill>
          <a:ln>
            <a:noFill/>
          </a:ln>
        </p:spPr>
        <p:txBody>
          <a:bodyPr lIns="120000" anchor="ctr"/>
          <a:lstStyle/>
          <a:p>
            <a:pPr algn="ctr">
              <a:buNone/>
            </a:pPr>
            <a:r>
              <a:rPr lang="en-US" sz="2000" b="1">
                <a:solidFill>
                  <a:srgbClr val="C9A84C"/>
                </a:solidFill>
              </a:rPr>
              <a:t>Portfolio Decision</a:t>
            </a:r>
          </a:p>
        </p:txBody>
      </p:sp>
      <p:sp>
        <p:nvSpPr>
          <p:cNvPr id="70" name="Note"/>
          <p:cNvSpPr/>
          <p:nvPr/>
        </p:nvSpPr>
        <p:spPr>
          <a:xfrm>
            <a:off x="499075" y="4973595"/>
            <a:ext cx="10972800" cy="838200"/>
          </a:xfrm>
          <a:prstGeom prst="rect">
            <a:avLst/>
          </a:prstGeom>
          <a:noFill/>
          <a:ln>
            <a:noFill/>
          </a:ln>
        </p:spPr>
        <p:txBody>
          <a:bodyPr lIns="0" anchor="t"/>
          <a:lstStyle/>
          <a:p>
            <a:pPr marL="228600" indent="-228600" algn="l">
              <a:buFont typeface="Arial"/>
              <a:buChar char="•"/>
            </a:pPr>
            <a:r>
              <a:rPr lang="en-US" sz="2000" err="1">
                <a:solidFill>
                  <a:srgbClr val="2C3E50"/>
                </a:solidFill>
              </a:rPr>
              <a:t>FinMem</a:t>
            </a:r>
            <a:r>
              <a:rPr lang="en-US" sz="2000">
                <a:solidFill>
                  <a:srgbClr val="2C3E50"/>
                </a:solidFill>
              </a:rPr>
              <a:t> trades one stock in isolation - real funds don't.</a:t>
            </a:r>
          </a:p>
          <a:p>
            <a:pPr marL="228600" indent="-228600" algn="l">
              <a:buFont typeface="Arial"/>
              <a:buChar char="•"/>
            </a:pPr>
            <a:r>
              <a:rPr lang="en-US" sz="2000" err="1">
                <a:solidFill>
                  <a:srgbClr val="2C3E50"/>
                </a:solidFill>
              </a:rPr>
              <a:t>FinMem</a:t>
            </a:r>
            <a:r>
              <a:rPr lang="en-US" sz="2000">
                <a:solidFill>
                  <a:srgbClr val="2C3E50"/>
                </a:solidFill>
              </a:rPr>
              <a:t> is the cognitive blueprint for the single agent inside each role-specialist.</a:t>
            </a:r>
          </a:p>
        </p:txBody>
      </p:sp>
      <p:sp>
        <p:nvSpPr>
          <p:cNvPr id="2" name="Arrow2">
            <a:extLst>
              <a:ext uri="{FF2B5EF4-FFF2-40B4-BE49-F238E27FC236}">
                <a16:creationId xmlns:a16="http://schemas.microsoft.com/office/drawing/2014/main" id="{F6BFB28E-27C2-F61A-586D-4A2170A1595B}"/>
              </a:ext>
            </a:extLst>
          </p:cNvPr>
          <p:cNvSpPr/>
          <p:nvPr/>
        </p:nvSpPr>
        <p:spPr>
          <a:xfrm>
            <a:off x="9654059" y="2240005"/>
            <a:ext cx="101600" cy="203200"/>
          </a:xfrm>
          <a:prstGeom prst="rect">
            <a:avLst/>
          </a:prstGeom>
          <a:noFill/>
          <a:ln>
            <a:noFill/>
          </a:ln>
        </p:spPr>
        <p:txBody>
          <a:bodyPr lIns="0" anchor="ctr"/>
          <a:lstStyle/>
          <a:p>
            <a:pPr algn="ctr">
              <a:buNone/>
            </a:pPr>
            <a:r>
              <a:rPr lang="en-US" sz="2000">
                <a:solidFill>
                  <a:srgbClr val="C9A84C"/>
                </a:solidFill>
              </a:rPr>
              <a:t>→</a:t>
            </a:r>
          </a:p>
        </p:txBody>
      </p:sp>
      <p:sp>
        <p:nvSpPr>
          <p:cNvPr id="3" name="Agent3">
            <a:extLst>
              <a:ext uri="{FF2B5EF4-FFF2-40B4-BE49-F238E27FC236}">
                <a16:creationId xmlns:a16="http://schemas.microsoft.com/office/drawing/2014/main" id="{4904A833-A4CE-0DA5-35A9-FF4B0425F60B}"/>
              </a:ext>
            </a:extLst>
          </p:cNvPr>
          <p:cNvSpPr/>
          <p:nvPr/>
        </p:nvSpPr>
        <p:spPr>
          <a:xfrm>
            <a:off x="9781059" y="1503405"/>
            <a:ext cx="2159000" cy="1651000"/>
          </a:xfrm>
          <a:prstGeom prst="rect">
            <a:avLst/>
          </a:prstGeom>
          <a:solidFill>
            <a:schemeClr val="bg1">
              <a:lumMod val="50000"/>
            </a:schemeClr>
          </a:solidFill>
          <a:ln>
            <a:noFill/>
          </a:ln>
        </p:spPr>
        <p:txBody>
          <a:bodyPr lIns="120000" tIns="100000" anchor="t"/>
          <a:lstStyle/>
          <a:p>
            <a:pPr algn="ctr">
              <a:buNone/>
            </a:pPr>
            <a:r>
              <a:rPr lang="en-US" sz="2000" b="1">
                <a:solidFill>
                  <a:srgbClr val="FFFFFF"/>
                </a:solidFill>
              </a:rPr>
              <a:t>Devils advocate</a:t>
            </a:r>
            <a:br>
              <a:rPr lang="en-US" sz="2000" b="1">
                <a:solidFill>
                  <a:srgbClr val="FFFFFF"/>
                </a:solidFill>
              </a:rPr>
            </a:br>
            <a:r>
              <a:rPr lang="en-US" sz="1600" i="1">
                <a:solidFill>
                  <a:srgbClr val="A0B4D6"/>
                </a:solidFill>
              </a:rPr>
              <a:t>Criticism regarding all actions and decisions</a:t>
            </a:r>
          </a:p>
        </p:txBody>
      </p:sp>
      <p:sp>
        <p:nvSpPr>
          <p:cNvPr id="4" name="Line3">
            <a:extLst>
              <a:ext uri="{FF2B5EF4-FFF2-40B4-BE49-F238E27FC236}">
                <a16:creationId xmlns:a16="http://schemas.microsoft.com/office/drawing/2014/main" id="{E140BAEC-ACE8-97E8-4654-C8ACC527203F}"/>
              </a:ext>
            </a:extLst>
          </p:cNvPr>
          <p:cNvSpPr/>
          <p:nvPr/>
        </p:nvSpPr>
        <p:spPr>
          <a:xfrm>
            <a:off x="10860559" y="3129005"/>
            <a:ext cx="50800" cy="203200"/>
          </a:xfrm>
          <a:prstGeom prst="rect">
            <a:avLst/>
          </a:prstGeom>
          <a:solidFill>
            <a:srgbClr val="C9A84C"/>
          </a:solidFill>
          <a:ln>
            <a:noFill/>
          </a:ln>
        </p:spPr>
        <p:txBody>
          <a:bodyPr/>
          <a:lstStyle/>
          <a:p>
            <a:endParaRPr sz="2400"/>
          </a:p>
        </p:txBody>
      </p:sp>
    </p:spTree>
    <p:extLst>
      <p:ext uri="{BB962C8B-B14F-4D97-AF65-F5344CB8AC3E}">
        <p14:creationId xmlns:p14="http://schemas.microsoft.com/office/powerpoint/2010/main" val="3837974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Header"/>
          <p:cNvSpPr/>
          <p:nvPr/>
        </p:nvSpPr>
        <p:spPr>
          <a:xfrm>
            <a:off x="0" y="0"/>
            <a:ext cx="12192000" cy="1117600"/>
          </a:xfrm>
          <a:prstGeom prst="rect">
            <a:avLst/>
          </a:prstGeom>
          <a:solidFill>
            <a:srgbClr val="1A2744"/>
          </a:solidFill>
          <a:ln>
            <a:noFill/>
          </a:ln>
        </p:spPr>
        <p:txBody>
          <a:bodyPr lIns="560000" anchor="ctr"/>
          <a:lstStyle/>
          <a:p>
            <a:pPr algn="l">
              <a:buNone/>
            </a:pPr>
            <a:r>
              <a:rPr lang="en-US" sz="2800" b="1">
                <a:solidFill>
                  <a:srgbClr val="FFFFFF"/>
                </a:solidFill>
              </a:rPr>
              <a:t>Conclusion - Three Takeaways</a:t>
            </a:r>
          </a:p>
          <a:p>
            <a:pPr algn="l">
              <a:buNone/>
            </a:pPr>
            <a:r>
              <a:rPr lang="en-US">
                <a:solidFill>
                  <a:srgbClr val="C9A84C"/>
                </a:solidFill>
              </a:rPr>
              <a:t>FinMem: A Performance-Enhanced LLM Trading Agent With Layered Memory and Character Design</a:t>
            </a:r>
          </a:p>
        </p:txBody>
      </p:sp>
      <p:sp>
        <p:nvSpPr>
          <p:cNvPr id="20" name="Num0"/>
          <p:cNvSpPr/>
          <p:nvPr/>
        </p:nvSpPr>
        <p:spPr>
          <a:xfrm>
            <a:off x="609600" y="1470456"/>
            <a:ext cx="863600" cy="863600"/>
          </a:xfrm>
          <a:prstGeom prst="rect">
            <a:avLst/>
          </a:prstGeom>
          <a:solidFill>
            <a:srgbClr val="C9A84C"/>
          </a:solidFill>
          <a:ln>
            <a:noFill/>
          </a:ln>
        </p:spPr>
        <p:txBody>
          <a:bodyPr lIns="0" anchor="ctr"/>
          <a:lstStyle/>
          <a:p>
            <a:pPr algn="ctr">
              <a:buNone/>
            </a:pPr>
            <a:r>
              <a:rPr lang="en-US" sz="4000" b="1">
                <a:solidFill>
                  <a:srgbClr val="1A2744"/>
                </a:solidFill>
              </a:rPr>
              <a:t>1</a:t>
            </a:r>
          </a:p>
        </p:txBody>
      </p:sp>
      <p:sp>
        <p:nvSpPr>
          <p:cNvPr id="21" name="Text0"/>
          <p:cNvSpPr/>
          <p:nvPr/>
        </p:nvSpPr>
        <p:spPr>
          <a:xfrm>
            <a:off x="1676400" y="1219200"/>
            <a:ext cx="9906000" cy="1397000"/>
          </a:xfrm>
          <a:prstGeom prst="rect">
            <a:avLst/>
          </a:prstGeom>
          <a:noFill/>
          <a:ln>
            <a:noFill/>
          </a:ln>
        </p:spPr>
        <p:txBody>
          <a:bodyPr lIns="0" anchor="ctr"/>
          <a:lstStyle/>
          <a:p>
            <a:pPr algn="l">
              <a:buNone/>
            </a:pPr>
            <a:r>
              <a:rPr lang="en-US" sz="2400" b="1">
                <a:solidFill>
                  <a:srgbClr val="1A2744"/>
                </a:solidFill>
              </a:rPr>
              <a:t>Cognitive architectures work. </a:t>
            </a:r>
            <a:r>
              <a:rPr lang="en-US" sz="2000">
                <a:solidFill>
                  <a:srgbClr val="2C3E50"/>
                </a:solidFill>
              </a:rPr>
              <a:t>Layered memory + retrieval + LLM reasoning is a serious paradigm for financial NLP - even if </a:t>
            </a:r>
            <a:r>
              <a:rPr lang="en-US" sz="2000" err="1">
                <a:solidFill>
                  <a:srgbClr val="2C3E50"/>
                </a:solidFill>
              </a:rPr>
              <a:t>FinMem's</a:t>
            </a:r>
            <a:r>
              <a:rPr lang="en-US" sz="2000">
                <a:solidFill>
                  <a:srgbClr val="2C3E50"/>
                </a:solidFill>
              </a:rPr>
              <a:t> specific numbers don't replicate. The AMZN result (only positive Sharpe in a bear market) is genuinely interesting.</a:t>
            </a:r>
          </a:p>
        </p:txBody>
      </p:sp>
      <p:sp>
        <p:nvSpPr>
          <p:cNvPr id="30" name="Num1"/>
          <p:cNvSpPr/>
          <p:nvPr/>
        </p:nvSpPr>
        <p:spPr>
          <a:xfrm>
            <a:off x="609600" y="3069284"/>
            <a:ext cx="863600" cy="863600"/>
          </a:xfrm>
          <a:prstGeom prst="rect">
            <a:avLst/>
          </a:prstGeom>
          <a:solidFill>
            <a:srgbClr val="C9A84C"/>
          </a:solidFill>
          <a:ln>
            <a:noFill/>
          </a:ln>
        </p:spPr>
        <p:txBody>
          <a:bodyPr lIns="0" anchor="ctr"/>
          <a:lstStyle/>
          <a:p>
            <a:pPr algn="ctr">
              <a:buNone/>
            </a:pPr>
            <a:r>
              <a:rPr lang="en-US" sz="4000" b="1">
                <a:solidFill>
                  <a:srgbClr val="1A2744"/>
                </a:solidFill>
              </a:rPr>
              <a:t>2</a:t>
            </a:r>
          </a:p>
        </p:txBody>
      </p:sp>
      <p:sp>
        <p:nvSpPr>
          <p:cNvPr id="31" name="Text1"/>
          <p:cNvSpPr/>
          <p:nvPr/>
        </p:nvSpPr>
        <p:spPr>
          <a:xfrm>
            <a:off x="1676400" y="2805671"/>
            <a:ext cx="9906000" cy="1397000"/>
          </a:xfrm>
          <a:prstGeom prst="rect">
            <a:avLst/>
          </a:prstGeom>
          <a:noFill/>
          <a:ln>
            <a:noFill/>
          </a:ln>
        </p:spPr>
        <p:txBody>
          <a:bodyPr lIns="0" anchor="ctr"/>
          <a:lstStyle/>
          <a:p>
            <a:pPr algn="l">
              <a:buNone/>
            </a:pPr>
            <a:r>
              <a:rPr lang="en-US" sz="2400" b="1">
                <a:solidFill>
                  <a:srgbClr val="1A2744"/>
                </a:solidFill>
              </a:rPr>
              <a:t>Scaffolding beats model size. </a:t>
            </a:r>
            <a:r>
              <a:rPr lang="en-US" sz="2000">
                <a:solidFill>
                  <a:srgbClr val="2C3E50"/>
                </a:solidFill>
              </a:rPr>
              <a:t>The engineering layer around the LLM is where competitive advantage lives. The model is becoming commodity. The workspace - memory, retrieval, prompts, feedback - is not. </a:t>
            </a:r>
            <a:r>
              <a:rPr lang="en-US" sz="2000" err="1">
                <a:solidFill>
                  <a:srgbClr val="2C3E50"/>
                </a:solidFill>
              </a:rPr>
              <a:t>FinMem</a:t>
            </a:r>
            <a:r>
              <a:rPr lang="en-US" sz="2000">
                <a:solidFill>
                  <a:srgbClr val="2C3E50"/>
                </a:solidFill>
              </a:rPr>
              <a:t> is a scaffolding paper at heart.</a:t>
            </a:r>
          </a:p>
        </p:txBody>
      </p:sp>
      <p:sp>
        <p:nvSpPr>
          <p:cNvPr id="40" name="Num2"/>
          <p:cNvSpPr/>
          <p:nvPr/>
        </p:nvSpPr>
        <p:spPr>
          <a:xfrm>
            <a:off x="609600" y="4655755"/>
            <a:ext cx="863600" cy="863600"/>
          </a:xfrm>
          <a:prstGeom prst="rect">
            <a:avLst/>
          </a:prstGeom>
          <a:solidFill>
            <a:srgbClr val="C9A84C"/>
          </a:solidFill>
          <a:ln>
            <a:noFill/>
          </a:ln>
        </p:spPr>
        <p:txBody>
          <a:bodyPr lIns="0" anchor="ctr"/>
          <a:lstStyle/>
          <a:p>
            <a:pPr algn="ctr">
              <a:buNone/>
            </a:pPr>
            <a:r>
              <a:rPr lang="en-US" sz="4000" b="1">
                <a:solidFill>
                  <a:srgbClr val="1A2744"/>
                </a:solidFill>
              </a:rPr>
              <a:t>3</a:t>
            </a:r>
          </a:p>
        </p:txBody>
      </p:sp>
      <p:sp>
        <p:nvSpPr>
          <p:cNvPr id="41" name="Text2"/>
          <p:cNvSpPr/>
          <p:nvPr/>
        </p:nvSpPr>
        <p:spPr>
          <a:xfrm>
            <a:off x="1676400" y="4404499"/>
            <a:ext cx="9906000" cy="1397000"/>
          </a:xfrm>
          <a:prstGeom prst="rect">
            <a:avLst/>
          </a:prstGeom>
          <a:noFill/>
          <a:ln>
            <a:noFill/>
          </a:ln>
        </p:spPr>
        <p:txBody>
          <a:bodyPr lIns="0" anchor="ctr"/>
          <a:lstStyle/>
          <a:p>
            <a:pPr algn="l">
              <a:buNone/>
            </a:pPr>
            <a:r>
              <a:rPr lang="en-US" sz="2400" b="1">
                <a:solidFill>
                  <a:srgbClr val="1A2744"/>
                </a:solidFill>
              </a:rPr>
              <a:t>Trust nothing in a </a:t>
            </a:r>
            <a:r>
              <a:rPr lang="en-US" sz="2400" b="1" err="1">
                <a:solidFill>
                  <a:srgbClr val="1A2744"/>
                </a:solidFill>
              </a:rPr>
              <a:t>backtest</a:t>
            </a:r>
            <a:r>
              <a:rPr lang="en-US" sz="2400" b="1">
                <a:solidFill>
                  <a:srgbClr val="1A2744"/>
                </a:solidFill>
              </a:rPr>
              <a:t> you haven’t audited. </a:t>
            </a:r>
            <a:r>
              <a:rPr lang="en-US" sz="2000">
                <a:solidFill>
                  <a:srgbClr val="2C3E50"/>
                </a:solidFill>
              </a:rPr>
              <a:t>Look for lookahead bias. Look for zero friction. Look for cherry-picked hyperparameters. Anything claiming a Sharpe above 2.0 deserves microscope-level scrutiny.</a:t>
            </a:r>
          </a:p>
        </p:txBody>
      </p:sp>
    </p:spTree>
    <p:extLst>
      <p:ext uri="{BB962C8B-B14F-4D97-AF65-F5344CB8AC3E}">
        <p14:creationId xmlns:p14="http://schemas.microsoft.com/office/powerpoint/2010/main" val="3426294767"/>
      </p:ext>
    </p:extLst>
  </p:cSld>
  <p:clrMapOvr>
    <a:masterClrMapping/>
  </p:clrMapOvr>
</p:sld>
</file>

<file path=ppt/theme/theme1.xml><?xml version="1.0" encoding="utf-8"?>
<a:theme xmlns:a="http://schemas.openxmlformats.org/drawingml/2006/main" name="Office Theme [1779367445792]">
  <a:themeElements>
    <a:clrScheme name="Office">
      <a:dk1>
        <a:srgbClr val="1A2744"/>
      </a:dk1>
      <a:lt1>
        <a:srgbClr val="FFFFFF"/>
      </a:lt1>
      <a:dk2>
        <a:srgbClr val="2E4272"/>
      </a:dk2>
      <a:lt2>
        <a:srgbClr val="F0F2F7"/>
      </a:lt2>
      <a:accent1>
        <a:srgbClr val="C9A84C"/>
      </a:accent1>
      <a:accent2>
        <a:srgbClr val="2E4272"/>
      </a:accent2>
      <a:accent3>
        <a:srgbClr val="3B82C4"/>
      </a:accent3>
      <a:accent4>
        <a:srgbClr val="B03020"/>
      </a:accent4>
      <a:accent5>
        <a:srgbClr val="1A7A4A"/>
      </a:accent5>
      <a:accent6>
        <a:srgbClr val="8B4FC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2B187F9-2803-4B8C-B75B-226EDE7414D7}">
  <we:reference id="f5f369e5-aa35-49d7-ad7b-638152ddb008" version="1.0.0.1" store="EXCatalog" storeType="EXCatalog"/>
  <we:alternateReferences>
    <we:reference id="WA200010001" version="1.0.0.1" store="en-US" storeType="OMEX"/>
  </we:alternateReferences>
  <we:properties>
    <we:property name="claude.fileId" value="&quot;f20c6c73-ea00-4043-90c0-f222ca413ff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54a0316-7f3a-4e4f-85ee-6e14cb48eb3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מסמך" ma:contentTypeID="0x0101006C4EE4BA5AFDAB4CB6280F72F3B0316E" ma:contentTypeVersion="9" ma:contentTypeDescription="צור מסמך חדש." ma:contentTypeScope="" ma:versionID="20f0805ca43b95fbc49e349b8104ed51">
  <xsd:schema xmlns:xsd="http://www.w3.org/2001/XMLSchema" xmlns:xs="http://www.w3.org/2001/XMLSchema" xmlns:p="http://schemas.microsoft.com/office/2006/metadata/properties" xmlns:ns3="454a0316-7f3a-4e4f-85ee-6e14cb48eb32" xmlns:ns4="199d76fd-57cc-4644-9122-139a6e347572" targetNamespace="http://schemas.microsoft.com/office/2006/metadata/properties" ma:root="true" ma:fieldsID="c4a051c52ff22eaf9be32df02b46d390" ns3:_="" ns4:_="">
    <xsd:import namespace="454a0316-7f3a-4e4f-85ee-6e14cb48eb32"/>
    <xsd:import namespace="199d76fd-57cc-4644-9122-139a6e347572"/>
    <xsd:element name="properties">
      <xsd:complexType>
        <xsd:sequence>
          <xsd:element name="documentManagement">
            <xsd:complexType>
              <xsd:all>
                <xsd:element ref="ns3:_activity" minOccurs="0"/>
                <xsd:element ref="ns3:MediaServiceMetadata" minOccurs="0"/>
                <xsd:element ref="ns3:MediaServiceFastMetadata" minOccurs="0"/>
                <xsd:element ref="ns4:SharedWithUsers" minOccurs="0"/>
                <xsd:element ref="ns4:SharedWithDetails" minOccurs="0"/>
                <xsd:element ref="ns4:SharingHintHash"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4a0316-7f3a-4e4f-85ee-6e14cb48eb3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9d76fd-57cc-4644-9122-139a6e347572" elementFormDefault="qualified">
    <xsd:import namespace="http://schemas.microsoft.com/office/2006/documentManagement/types"/>
    <xsd:import namespace="http://schemas.microsoft.com/office/infopath/2007/PartnerControls"/>
    <xsd:element name="SharedWithUsers" ma:index="11" nillable="true" ma:displayName="משותף עם"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משותף עם פרטים" ma:internalName="SharedWithDetails" ma:readOnly="true">
      <xsd:simpleType>
        <xsd:restriction base="dms:Note">
          <xsd:maxLength value="255"/>
        </xsd:restriction>
      </xsd:simpleType>
    </xsd:element>
    <xsd:element name="SharingHintHash" ma:index="13" nillable="true" ma:displayName="Hash של רמז לשיתוף"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9A23E4-B5FC-4151-93E0-252FF4CD4428}">
  <ds:schemaRefs>
    <ds:schemaRef ds:uri="199d76fd-57cc-4644-9122-139a6e347572"/>
    <ds:schemaRef ds:uri="http://schemas.microsoft.com/office/infopath/2007/PartnerControls"/>
    <ds:schemaRef ds:uri="http://purl.org/dc/terms/"/>
    <ds:schemaRef ds:uri="http://purl.org/dc/elements/1.1/"/>
    <ds:schemaRef ds:uri="http://schemas.microsoft.com/office/2006/documentManagement/types"/>
    <ds:schemaRef ds:uri="http://www.w3.org/XML/1998/namespace"/>
    <ds:schemaRef ds:uri="http://schemas.openxmlformats.org/package/2006/metadata/core-properties"/>
    <ds:schemaRef ds:uri="454a0316-7f3a-4e4f-85ee-6e14cb48eb32"/>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788E5308-4D29-433A-960D-D114B83FFB98}">
  <ds:schemaRefs>
    <ds:schemaRef ds:uri="199d76fd-57cc-4644-9122-139a6e347572"/>
    <ds:schemaRef ds:uri="454a0316-7f3a-4e4f-85ee-6e14cb48eb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3626271-7027-448D-82C0-AADD4E8199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80</TotalTime>
  <Words>2856</Words>
  <Application>Microsoft Office PowerPoint</Application>
  <PresentationFormat>Widescreen</PresentationFormat>
  <Paragraphs>505</Paragraphs>
  <Slides>35</Slides>
  <Notes>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Calibri</vt:lpstr>
      <vt:lpstr>Calibri Light</vt:lpstr>
      <vt:lpstr>Cambria Math</vt:lpstr>
      <vt:lpstr>Office Theme [1779367445792]</vt:lpstr>
      <vt:lpstr>PowerPoint Presentation</vt:lpstr>
      <vt:lpstr>The Algorithm in the Windowless 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Nimrod Sagi</dc:creator>
  <cp:lastModifiedBy>Dan Shoshan</cp:lastModifiedBy>
  <cp:revision>4</cp:revision>
  <cp:lastPrinted>2026-05-23T14:55:09Z</cp:lastPrinted>
  <dcterms:created xsi:type="dcterms:W3CDTF">2026-05-21T11:49:48Z</dcterms:created>
  <dcterms:modified xsi:type="dcterms:W3CDTF">2026-06-28T10:46:35Z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0x0101006C4EE4BA5AFDAB4CB6280F72F3B0316E</vt:lpwstr>
  </property>
</Properties>
</file>